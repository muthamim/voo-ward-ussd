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23"/>
        </a:solidFill>
        <a:effectLst/>
      </p:bgPr>
    </p:bg>
    <p:spTree>
      <p:nvGrpSpPr>
        <p:cNvPr id="1" name=""/>
        <p:cNvGrpSpPr/>
        <p:nvPr/>
      </p:nvGrpSpPr>
      <p:grpSpPr/>
      <p:sp>
        <p:nvSpPr>
          <p:cNvPr id="2" name="Rounded Rectangle 1"/>
          <p:cNvSpPr/>
          <p:nvPr/>
        </p:nvSpPr>
        <p:spPr>
          <a:xfrm>
            <a:off x="0" y="0"/>
            <a:ext cx="5029200" cy="6858000"/>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365760" cy="685800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371600"/>
            <a:ext cx="3657600" cy="548640"/>
          </a:xfrm>
          <a:prstGeom prst="rect">
            <a:avLst/>
          </a:prstGeom>
          <a:noFill/>
        </p:spPr>
        <p:txBody>
          <a:bodyPr wrap="square">
            <a:spAutoFit/>
          </a:bodyPr>
          <a:lstStyle/>
          <a:p>
            <a:pPr algn="l">
              <a:lnSpc>
                <a:spcPts val="2400"/>
              </a:lnSpc>
              <a:spcBef>
                <a:spcPts val="0"/>
              </a:spcBef>
              <a:spcAft>
                <a:spcPts val="0"/>
              </a:spcAft>
              <a:defRPr sz="2000" b="1">
                <a:solidFill>
                  <a:srgbClr val="06B6D4"/>
                </a:solidFill>
                <a:latin typeface="Calibri"/>
              </a:defRPr>
            </a:pPr>
            <a:r>
              <a:t>VOO WARD</a:t>
            </a:r>
          </a:p>
        </p:txBody>
      </p:sp>
      <p:sp>
        <p:nvSpPr>
          <p:cNvPr id="5" name="TextBox 4"/>
          <p:cNvSpPr txBox="1"/>
          <p:nvPr/>
        </p:nvSpPr>
        <p:spPr>
          <a:xfrm>
            <a:off x="914400" y="1920240"/>
            <a:ext cx="3657600" cy="1097280"/>
          </a:xfrm>
          <a:prstGeom prst="rect">
            <a:avLst/>
          </a:prstGeom>
          <a:noFill/>
        </p:spPr>
        <p:txBody>
          <a:bodyPr wrap="square">
            <a:spAutoFit/>
          </a:bodyPr>
          <a:lstStyle/>
          <a:p>
            <a:pPr algn="l">
              <a:lnSpc>
                <a:spcPts val="5759"/>
              </a:lnSpc>
              <a:spcBef>
                <a:spcPts val="0"/>
              </a:spcBef>
              <a:spcAft>
                <a:spcPts val="0"/>
              </a:spcAft>
              <a:defRPr sz="4800" b="1">
                <a:solidFill>
                  <a:srgbClr val="FFFFFF"/>
                </a:solidFill>
                <a:latin typeface="Calibri"/>
              </a:defRPr>
            </a:pPr>
            <a:r>
              <a:t>Admin Dashboard</a:t>
            </a:r>
          </a:p>
        </p:txBody>
      </p:sp>
      <p:sp>
        <p:nvSpPr>
          <p:cNvPr id="6" name="Rectangle 5"/>
          <p:cNvSpPr/>
          <p:nvPr/>
        </p:nvSpPr>
        <p:spPr>
          <a:xfrm>
            <a:off x="914400" y="3108960"/>
            <a:ext cx="2743200" cy="508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383280"/>
            <a:ext cx="3657600" cy="914400"/>
          </a:xfrm>
          <a:prstGeom prst="rect">
            <a:avLst/>
          </a:prstGeom>
          <a:noFill/>
        </p:spPr>
        <p:txBody>
          <a:bodyPr wrap="square">
            <a:spAutoFit/>
          </a:bodyPr>
          <a:lstStyle/>
          <a:p>
            <a:pPr algn="l">
              <a:lnSpc>
                <a:spcPts val="2160"/>
              </a:lnSpc>
              <a:spcBef>
                <a:spcPts val="0"/>
              </a:spcBef>
              <a:spcAft>
                <a:spcPts val="0"/>
              </a:spcAft>
              <a:defRPr sz="1800" b="0">
                <a:solidFill>
                  <a:srgbClr val="CCCCCC"/>
                </a:solidFill>
                <a:latin typeface="Calibri"/>
              </a:defRPr>
            </a:pPr>
            <a:r>
              <a:t>Comprehensive Ward Management</a:t>
            </a:r>
            <a:br/>
            <a:r>
              <a:t>&amp; Citizen Engagement Platform</a:t>
            </a:r>
          </a:p>
        </p:txBody>
      </p:sp>
      <p:sp>
        <p:nvSpPr>
          <p:cNvPr id="8" name="TextBox 7"/>
          <p:cNvSpPr txBox="1"/>
          <p:nvPr/>
        </p:nvSpPr>
        <p:spPr>
          <a:xfrm>
            <a:off x="5943600" y="1645920"/>
            <a:ext cx="5029200" cy="457200"/>
          </a:xfrm>
          <a:prstGeom prst="rect">
            <a:avLst/>
          </a:prstGeom>
          <a:noFill/>
        </p:spPr>
        <p:txBody>
          <a:bodyPr wrap="square">
            <a:spAutoFit/>
          </a:bodyPr>
          <a:lstStyle/>
          <a:p>
            <a:pPr algn="l">
              <a:lnSpc>
                <a:spcPts val="2640"/>
              </a:lnSpc>
              <a:spcBef>
                <a:spcPts val="0"/>
              </a:spcBef>
              <a:spcAft>
                <a:spcPts val="0"/>
              </a:spcAft>
              <a:defRPr sz="2200" b="1">
                <a:solidFill>
                  <a:srgbClr val="FFFFFF"/>
                </a:solidFill>
                <a:latin typeface="Calibri"/>
              </a:defRPr>
            </a:pPr>
            <a:r>
              <a:t>Kyamatu Ward — Modern Governance</a:t>
            </a:r>
          </a:p>
        </p:txBody>
      </p:sp>
      <p:sp>
        <p:nvSpPr>
          <p:cNvPr id="9" name="Rounded Rectangle 8"/>
          <p:cNvSpPr/>
          <p:nvPr/>
        </p:nvSpPr>
        <p:spPr>
          <a:xfrm>
            <a:off x="5943600" y="2377440"/>
            <a:ext cx="101600" cy="10160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2339340"/>
            <a:ext cx="4572000" cy="320040"/>
          </a:xfrm>
          <a:prstGeom prst="rect">
            <a:avLst/>
          </a:prstGeom>
          <a:noFill/>
        </p:spPr>
        <p:txBody>
          <a:bodyPr wrap="square">
            <a:spAutoFit/>
          </a:bodyPr>
          <a:lstStyle/>
          <a:p>
            <a:pPr algn="l">
              <a:lnSpc>
                <a:spcPts val="1800"/>
              </a:lnSpc>
              <a:spcBef>
                <a:spcPts val="0"/>
              </a:spcBef>
              <a:spcAft>
                <a:spcPts val="0"/>
              </a:spcAft>
              <a:defRPr sz="1500" b="0">
                <a:solidFill>
                  <a:srgbClr val="CCCCCC"/>
                </a:solidFill>
                <a:latin typeface="Calibri"/>
              </a:defRPr>
            </a:pPr>
            <a:r>
              <a:t>Issue Tracking &amp; Resolution</a:t>
            </a:r>
          </a:p>
        </p:txBody>
      </p:sp>
      <p:sp>
        <p:nvSpPr>
          <p:cNvPr id="11" name="Rounded Rectangle 10"/>
          <p:cNvSpPr/>
          <p:nvPr/>
        </p:nvSpPr>
        <p:spPr>
          <a:xfrm>
            <a:off x="5943600" y="2761488"/>
            <a:ext cx="101600" cy="1016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2723388"/>
            <a:ext cx="4572000" cy="320040"/>
          </a:xfrm>
          <a:prstGeom prst="rect">
            <a:avLst/>
          </a:prstGeom>
          <a:noFill/>
        </p:spPr>
        <p:txBody>
          <a:bodyPr wrap="square">
            <a:spAutoFit/>
          </a:bodyPr>
          <a:lstStyle/>
          <a:p>
            <a:pPr algn="l">
              <a:lnSpc>
                <a:spcPts val="1800"/>
              </a:lnSpc>
              <a:spcBef>
                <a:spcPts val="0"/>
              </a:spcBef>
              <a:spcAft>
                <a:spcPts val="0"/>
              </a:spcAft>
              <a:defRPr sz="1500" b="0">
                <a:solidFill>
                  <a:srgbClr val="CCCCCC"/>
                </a:solidFill>
                <a:latin typeface="Calibri"/>
              </a:defRPr>
            </a:pPr>
            <a:r>
              <a:t>Bursary Application Management</a:t>
            </a:r>
          </a:p>
        </p:txBody>
      </p:sp>
      <p:sp>
        <p:nvSpPr>
          <p:cNvPr id="13" name="Rounded Rectangle 12"/>
          <p:cNvSpPr/>
          <p:nvPr/>
        </p:nvSpPr>
        <p:spPr>
          <a:xfrm>
            <a:off x="5943600" y="3145536"/>
            <a:ext cx="101600" cy="10160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0" y="3107436"/>
            <a:ext cx="4572000" cy="320040"/>
          </a:xfrm>
          <a:prstGeom prst="rect">
            <a:avLst/>
          </a:prstGeom>
          <a:noFill/>
        </p:spPr>
        <p:txBody>
          <a:bodyPr wrap="square">
            <a:spAutoFit/>
          </a:bodyPr>
          <a:lstStyle/>
          <a:p>
            <a:pPr algn="l">
              <a:lnSpc>
                <a:spcPts val="1800"/>
              </a:lnSpc>
              <a:spcBef>
                <a:spcPts val="0"/>
              </a:spcBef>
              <a:spcAft>
                <a:spcPts val="0"/>
              </a:spcAft>
              <a:defRPr sz="1500" b="0">
                <a:solidFill>
                  <a:srgbClr val="CCCCCC"/>
                </a:solidFill>
                <a:latin typeface="Calibri"/>
              </a:defRPr>
            </a:pPr>
            <a:r>
              <a:t>Constituent Registry</a:t>
            </a:r>
          </a:p>
        </p:txBody>
      </p:sp>
      <p:sp>
        <p:nvSpPr>
          <p:cNvPr id="15" name="Rounded Rectangle 14"/>
          <p:cNvSpPr/>
          <p:nvPr/>
        </p:nvSpPr>
        <p:spPr>
          <a:xfrm>
            <a:off x="5943600" y="3529584"/>
            <a:ext cx="101600" cy="1016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3491484"/>
            <a:ext cx="4572000" cy="320040"/>
          </a:xfrm>
          <a:prstGeom prst="rect">
            <a:avLst/>
          </a:prstGeom>
          <a:noFill/>
        </p:spPr>
        <p:txBody>
          <a:bodyPr wrap="square">
            <a:spAutoFit/>
          </a:bodyPr>
          <a:lstStyle/>
          <a:p>
            <a:pPr algn="l">
              <a:lnSpc>
                <a:spcPts val="1800"/>
              </a:lnSpc>
              <a:spcBef>
                <a:spcPts val="0"/>
              </a:spcBef>
              <a:spcAft>
                <a:spcPts val="0"/>
              </a:spcAft>
              <a:defRPr sz="1500" b="0">
                <a:solidFill>
                  <a:srgbClr val="CCCCCC"/>
                </a:solidFill>
                <a:latin typeface="Calibri"/>
              </a:defRPr>
            </a:pPr>
            <a:r>
              <a:t>USSD Integration</a:t>
            </a:r>
          </a:p>
        </p:txBody>
      </p:sp>
      <p:sp>
        <p:nvSpPr>
          <p:cNvPr id="17" name="Rounded Rectangle 16"/>
          <p:cNvSpPr/>
          <p:nvPr/>
        </p:nvSpPr>
        <p:spPr>
          <a:xfrm>
            <a:off x="5943600" y="3913632"/>
            <a:ext cx="101600" cy="10160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0" y="3875532"/>
            <a:ext cx="4572000" cy="320040"/>
          </a:xfrm>
          <a:prstGeom prst="rect">
            <a:avLst/>
          </a:prstGeom>
          <a:noFill/>
        </p:spPr>
        <p:txBody>
          <a:bodyPr wrap="square">
            <a:spAutoFit/>
          </a:bodyPr>
          <a:lstStyle/>
          <a:p>
            <a:pPr algn="l">
              <a:lnSpc>
                <a:spcPts val="1800"/>
              </a:lnSpc>
              <a:spcBef>
                <a:spcPts val="0"/>
              </a:spcBef>
              <a:spcAft>
                <a:spcPts val="0"/>
              </a:spcAft>
              <a:defRPr sz="1500" b="0">
                <a:solidFill>
                  <a:srgbClr val="CCCCCC"/>
                </a:solidFill>
                <a:latin typeface="Calibri"/>
              </a:defRPr>
            </a:pPr>
            <a:r>
              <a:t>Real-Time Analytics &amp; Maps</a:t>
            </a:r>
          </a:p>
        </p:txBody>
      </p:sp>
      <p:sp>
        <p:nvSpPr>
          <p:cNvPr id="19" name="Rounded Rectangle 18"/>
          <p:cNvSpPr/>
          <p:nvPr/>
        </p:nvSpPr>
        <p:spPr>
          <a:xfrm>
            <a:off x="5943600" y="4297680"/>
            <a:ext cx="101600" cy="101600"/>
          </a:xfrm>
          <a:prstGeom prst="roundRect">
            <a:avLst/>
          </a:prstGeom>
          <a:solidFill>
            <a:srgbClr val="4C1D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4259580"/>
            <a:ext cx="4572000" cy="320040"/>
          </a:xfrm>
          <a:prstGeom prst="rect">
            <a:avLst/>
          </a:prstGeom>
          <a:noFill/>
        </p:spPr>
        <p:txBody>
          <a:bodyPr wrap="square">
            <a:spAutoFit/>
          </a:bodyPr>
          <a:lstStyle/>
          <a:p>
            <a:pPr algn="l">
              <a:lnSpc>
                <a:spcPts val="1800"/>
              </a:lnSpc>
              <a:spcBef>
                <a:spcPts val="0"/>
              </a:spcBef>
              <a:spcAft>
                <a:spcPts val="0"/>
              </a:spcAft>
              <a:defRPr sz="1500" b="0">
                <a:solidFill>
                  <a:srgbClr val="CCCCCC"/>
                </a:solidFill>
                <a:latin typeface="Calibri"/>
              </a:defRPr>
            </a:pPr>
            <a:r>
              <a:t>AI Chat Assistant (Mai)</a:t>
            </a:r>
          </a:p>
        </p:txBody>
      </p:sp>
      <p:sp>
        <p:nvSpPr>
          <p:cNvPr id="21" name="TextBox 20"/>
          <p:cNvSpPr txBox="1"/>
          <p:nvPr/>
        </p:nvSpPr>
        <p:spPr>
          <a:xfrm>
            <a:off x="5943600" y="5486400"/>
            <a:ext cx="4572000" cy="457200"/>
          </a:xfrm>
          <a:prstGeom prst="rect">
            <a:avLst/>
          </a:prstGeom>
          <a:noFill/>
        </p:spPr>
        <p:txBody>
          <a:bodyPr wrap="square">
            <a:spAutoFit/>
          </a:bodyPr>
          <a:lstStyle/>
          <a:p>
            <a:pPr algn="l">
              <a:lnSpc>
                <a:spcPts val="1560"/>
              </a:lnSpc>
              <a:spcBef>
                <a:spcPts val="0"/>
              </a:spcBef>
              <a:spcAft>
                <a:spcPts val="0"/>
              </a:spcAft>
              <a:defRPr sz="1300" b="0">
                <a:solidFill>
                  <a:srgbClr val="9999BB"/>
                </a:solidFill>
                <a:latin typeface="Calibri"/>
              </a:defRPr>
            </a:pPr>
            <a:r>
              <a:t>Presented by: VOO Ward Development Team</a:t>
            </a:r>
          </a:p>
        </p:txBody>
      </p:sp>
      <p:sp>
        <p:nvSpPr>
          <p:cNvPr id="22" name="TextBox 21"/>
          <p:cNvSpPr txBox="1"/>
          <p:nvPr/>
        </p:nvSpPr>
        <p:spPr>
          <a:xfrm>
            <a:off x="5943600" y="5852160"/>
            <a:ext cx="4572000" cy="365760"/>
          </a:xfrm>
          <a:prstGeom prst="rect">
            <a:avLst/>
          </a:prstGeom>
          <a:noFill/>
        </p:spPr>
        <p:txBody>
          <a:bodyPr wrap="square">
            <a:spAutoFit/>
          </a:bodyPr>
          <a:lstStyle/>
          <a:p>
            <a:pPr algn="l">
              <a:lnSpc>
                <a:spcPts val="1439"/>
              </a:lnSpc>
              <a:spcBef>
                <a:spcPts val="0"/>
              </a:spcBef>
              <a:spcAft>
                <a:spcPts val="0"/>
              </a:spcAft>
              <a:defRPr sz="1200" b="0">
                <a:solidFill>
                  <a:srgbClr val="9999BB"/>
                </a:solidFill>
                <a:latin typeface="Calibri"/>
              </a:defRPr>
            </a:pPr>
            <a:r>
              <a:t>February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23"/>
        </a:solidFill>
        <a:effectLst/>
      </p:bgPr>
    </p:bg>
    <p:spTree>
      <p:nvGrpSpPr>
        <p:cNvPr id="1" name=""/>
        <p:cNvGrpSpPr/>
        <p:nvPr/>
      </p:nvGrpSpPr>
      <p:grpSpPr/>
      <p:sp>
        <p:nvSpPr>
          <p:cNvPr id="2" name="Rectangle 1"/>
          <p:cNvSpPr/>
          <p:nvPr/>
        </p:nvSpPr>
        <p:spPr>
          <a:xfrm>
            <a:off x="731520" y="548640"/>
            <a:ext cx="2286000" cy="508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85800"/>
            <a:ext cx="10058400" cy="640080"/>
          </a:xfrm>
          <a:prstGeom prst="rect">
            <a:avLst/>
          </a:prstGeom>
          <a:noFill/>
        </p:spPr>
        <p:txBody>
          <a:bodyPr wrap="square">
            <a:spAutoFit/>
          </a:bodyPr>
          <a:lstStyle/>
          <a:p>
            <a:pPr algn="l">
              <a:lnSpc>
                <a:spcPts val="4320"/>
              </a:lnSpc>
              <a:spcBef>
                <a:spcPts val="0"/>
              </a:spcBef>
              <a:spcAft>
                <a:spcPts val="0"/>
              </a:spcAft>
              <a:defRPr sz="3600" b="1">
                <a:solidFill>
                  <a:srgbClr val="FFFFFF"/>
                </a:solidFill>
                <a:latin typeface="Calibri"/>
              </a:defRPr>
            </a:pPr>
            <a:r>
              <a:t>Agenda</a:t>
            </a:r>
          </a:p>
        </p:txBody>
      </p:sp>
      <p:sp>
        <p:nvSpPr>
          <p:cNvPr id="4" name="TextBox 3"/>
          <p:cNvSpPr txBox="1"/>
          <p:nvPr/>
        </p:nvSpPr>
        <p:spPr>
          <a:xfrm>
            <a:off x="731520" y="1280160"/>
            <a:ext cx="10058400" cy="365760"/>
          </a:xfrm>
          <a:prstGeom prst="rect">
            <a:avLst/>
          </a:prstGeom>
          <a:noFill/>
        </p:spPr>
        <p:txBody>
          <a:bodyPr wrap="square">
            <a:spAutoFit/>
          </a:bodyPr>
          <a:lstStyle/>
          <a:p>
            <a:pPr algn="l">
              <a:lnSpc>
                <a:spcPts val="1920"/>
              </a:lnSpc>
              <a:spcBef>
                <a:spcPts val="0"/>
              </a:spcBef>
              <a:spcAft>
                <a:spcPts val="0"/>
              </a:spcAft>
              <a:defRPr sz="1600" b="0">
                <a:solidFill>
                  <a:srgbClr val="9999BB"/>
                </a:solidFill>
                <a:latin typeface="Calibri"/>
              </a:defRPr>
            </a:pPr>
            <a:r>
              <a:t>Presentation Overview</a:t>
            </a:r>
          </a:p>
        </p:txBody>
      </p:sp>
      <p:sp>
        <p:nvSpPr>
          <p:cNvPr id="5" name="Rounded Rectangle 4"/>
          <p:cNvSpPr/>
          <p:nvPr/>
        </p:nvSpPr>
        <p:spPr>
          <a:xfrm>
            <a:off x="11430000" y="0"/>
            <a:ext cx="761695" cy="6858000"/>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411480" cy="41148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866900"/>
            <a:ext cx="411480" cy="365760"/>
          </a:xfrm>
          <a:prstGeom prst="rect">
            <a:avLst/>
          </a:prstGeom>
          <a:noFill/>
        </p:spPr>
        <p:txBody>
          <a:bodyPr wrap="square">
            <a:spAutoFit/>
          </a:bodyPr>
          <a:lstStyle/>
          <a:p>
            <a:pPr algn="ctr">
              <a:lnSpc>
                <a:spcPts val="1680"/>
              </a:lnSpc>
              <a:spcBef>
                <a:spcPts val="0"/>
              </a:spcBef>
              <a:spcAft>
                <a:spcPts val="0"/>
              </a:spcAft>
              <a:defRPr sz="1400" b="1">
                <a:solidFill>
                  <a:srgbClr val="FFFFFF"/>
                </a:solidFill>
                <a:latin typeface="Calibri"/>
              </a:defRPr>
            </a:pPr>
            <a:r>
              <a:t>01</a:t>
            </a:r>
          </a:p>
        </p:txBody>
      </p:sp>
      <p:sp>
        <p:nvSpPr>
          <p:cNvPr id="8" name="TextBox 7"/>
          <p:cNvSpPr txBox="1"/>
          <p:nvPr/>
        </p:nvSpPr>
        <p:spPr>
          <a:xfrm>
            <a:off x="1280160" y="1828800"/>
            <a:ext cx="4114800" cy="274320"/>
          </a:xfrm>
          <a:prstGeom prst="rect">
            <a:avLst/>
          </a:prstGeom>
          <a:noFill/>
        </p:spPr>
        <p:txBody>
          <a:bodyPr wrap="square">
            <a:spAutoFit/>
          </a:bodyPr>
          <a:lstStyle/>
          <a:p>
            <a:pPr algn="l">
              <a:lnSpc>
                <a:spcPts val="1800"/>
              </a:lnSpc>
              <a:spcBef>
                <a:spcPts val="0"/>
              </a:spcBef>
              <a:spcAft>
                <a:spcPts val="0"/>
              </a:spcAft>
              <a:defRPr sz="1500" b="1">
                <a:solidFill>
                  <a:srgbClr val="FFFFFF"/>
                </a:solidFill>
                <a:latin typeface="Calibri"/>
              </a:defRPr>
            </a:pPr>
            <a:r>
              <a:t>Project Overview</a:t>
            </a:r>
          </a:p>
        </p:txBody>
      </p:sp>
      <p:sp>
        <p:nvSpPr>
          <p:cNvPr id="9" name="TextBox 8"/>
          <p:cNvSpPr txBox="1"/>
          <p:nvPr/>
        </p:nvSpPr>
        <p:spPr>
          <a:xfrm>
            <a:off x="1280160" y="2103120"/>
            <a:ext cx="4114800" cy="274320"/>
          </a:xfrm>
          <a:prstGeom prst="rect">
            <a:avLst/>
          </a:prstGeom>
          <a:noFill/>
        </p:spPr>
        <p:txBody>
          <a:bodyPr wrap="square">
            <a:spAutoFit/>
          </a:bodyPr>
          <a:lstStyle/>
          <a:p>
            <a:pPr algn="l">
              <a:lnSpc>
                <a:spcPts val="1320"/>
              </a:lnSpc>
              <a:spcBef>
                <a:spcPts val="0"/>
              </a:spcBef>
              <a:spcAft>
                <a:spcPts val="0"/>
              </a:spcAft>
              <a:defRPr sz="1100" b="0">
                <a:solidFill>
                  <a:srgbClr val="9999BB"/>
                </a:solidFill>
                <a:latin typeface="Calibri"/>
              </a:defRPr>
            </a:pPr>
            <a:r>
              <a:t>Platform purpose, scope &amp; architecture</a:t>
            </a:r>
          </a:p>
        </p:txBody>
      </p:sp>
      <p:sp>
        <p:nvSpPr>
          <p:cNvPr id="10" name="Rounded Rectangle 9"/>
          <p:cNvSpPr/>
          <p:nvPr/>
        </p:nvSpPr>
        <p:spPr>
          <a:xfrm>
            <a:off x="731520" y="2542032"/>
            <a:ext cx="411480" cy="41148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80132"/>
            <a:ext cx="411480" cy="365760"/>
          </a:xfrm>
          <a:prstGeom prst="rect">
            <a:avLst/>
          </a:prstGeom>
          <a:noFill/>
        </p:spPr>
        <p:txBody>
          <a:bodyPr wrap="square">
            <a:spAutoFit/>
          </a:bodyPr>
          <a:lstStyle/>
          <a:p>
            <a:pPr algn="ctr">
              <a:lnSpc>
                <a:spcPts val="1680"/>
              </a:lnSpc>
              <a:spcBef>
                <a:spcPts val="0"/>
              </a:spcBef>
              <a:spcAft>
                <a:spcPts val="0"/>
              </a:spcAft>
              <a:defRPr sz="1400" b="1">
                <a:solidFill>
                  <a:srgbClr val="FFFFFF"/>
                </a:solidFill>
                <a:latin typeface="Calibri"/>
              </a:defRPr>
            </a:pPr>
            <a:r>
              <a:t>02</a:t>
            </a:r>
          </a:p>
        </p:txBody>
      </p:sp>
      <p:sp>
        <p:nvSpPr>
          <p:cNvPr id="12" name="TextBox 11"/>
          <p:cNvSpPr txBox="1"/>
          <p:nvPr/>
        </p:nvSpPr>
        <p:spPr>
          <a:xfrm>
            <a:off x="1280160" y="2542032"/>
            <a:ext cx="4114800" cy="274320"/>
          </a:xfrm>
          <a:prstGeom prst="rect">
            <a:avLst/>
          </a:prstGeom>
          <a:noFill/>
        </p:spPr>
        <p:txBody>
          <a:bodyPr wrap="square">
            <a:spAutoFit/>
          </a:bodyPr>
          <a:lstStyle/>
          <a:p>
            <a:pPr algn="l">
              <a:lnSpc>
                <a:spcPts val="1800"/>
              </a:lnSpc>
              <a:spcBef>
                <a:spcPts val="0"/>
              </a:spcBef>
              <a:spcAft>
                <a:spcPts val="0"/>
              </a:spcAft>
              <a:defRPr sz="1500" b="1">
                <a:solidFill>
                  <a:srgbClr val="FFFFFF"/>
                </a:solidFill>
                <a:latin typeface="Calibri"/>
              </a:defRPr>
            </a:pPr>
            <a:r>
              <a:t>Dashboard Overview</a:t>
            </a:r>
          </a:p>
        </p:txBody>
      </p:sp>
      <p:sp>
        <p:nvSpPr>
          <p:cNvPr id="13" name="TextBox 12"/>
          <p:cNvSpPr txBox="1"/>
          <p:nvPr/>
        </p:nvSpPr>
        <p:spPr>
          <a:xfrm>
            <a:off x="1280160" y="2816352"/>
            <a:ext cx="4114800" cy="274320"/>
          </a:xfrm>
          <a:prstGeom prst="rect">
            <a:avLst/>
          </a:prstGeom>
          <a:noFill/>
        </p:spPr>
        <p:txBody>
          <a:bodyPr wrap="square">
            <a:spAutoFit/>
          </a:bodyPr>
          <a:lstStyle/>
          <a:p>
            <a:pPr algn="l">
              <a:lnSpc>
                <a:spcPts val="1320"/>
              </a:lnSpc>
              <a:spcBef>
                <a:spcPts val="0"/>
              </a:spcBef>
              <a:spcAft>
                <a:spcPts val="0"/>
              </a:spcAft>
              <a:defRPr sz="1100" b="0">
                <a:solidFill>
                  <a:srgbClr val="9999BB"/>
                </a:solidFill>
                <a:latin typeface="Calibri"/>
              </a:defRPr>
            </a:pPr>
            <a:r>
              <a:t>Layout, navigation &amp; KPI statistics</a:t>
            </a:r>
          </a:p>
        </p:txBody>
      </p:sp>
      <p:sp>
        <p:nvSpPr>
          <p:cNvPr id="14" name="Rounded Rectangle 13"/>
          <p:cNvSpPr/>
          <p:nvPr/>
        </p:nvSpPr>
        <p:spPr>
          <a:xfrm>
            <a:off x="731520" y="3255264"/>
            <a:ext cx="411480" cy="41148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293364"/>
            <a:ext cx="411480" cy="365760"/>
          </a:xfrm>
          <a:prstGeom prst="rect">
            <a:avLst/>
          </a:prstGeom>
          <a:noFill/>
        </p:spPr>
        <p:txBody>
          <a:bodyPr wrap="square">
            <a:spAutoFit/>
          </a:bodyPr>
          <a:lstStyle/>
          <a:p>
            <a:pPr algn="ctr">
              <a:lnSpc>
                <a:spcPts val="1680"/>
              </a:lnSpc>
              <a:spcBef>
                <a:spcPts val="0"/>
              </a:spcBef>
              <a:spcAft>
                <a:spcPts val="0"/>
              </a:spcAft>
              <a:defRPr sz="1400" b="1">
                <a:solidFill>
                  <a:srgbClr val="FFFFFF"/>
                </a:solidFill>
                <a:latin typeface="Calibri"/>
              </a:defRPr>
            </a:pPr>
            <a:r>
              <a:t>03</a:t>
            </a:r>
          </a:p>
        </p:txBody>
      </p:sp>
      <p:sp>
        <p:nvSpPr>
          <p:cNvPr id="16" name="TextBox 15"/>
          <p:cNvSpPr txBox="1"/>
          <p:nvPr/>
        </p:nvSpPr>
        <p:spPr>
          <a:xfrm>
            <a:off x="1280160" y="3255264"/>
            <a:ext cx="4114800" cy="274320"/>
          </a:xfrm>
          <a:prstGeom prst="rect">
            <a:avLst/>
          </a:prstGeom>
          <a:noFill/>
        </p:spPr>
        <p:txBody>
          <a:bodyPr wrap="square">
            <a:spAutoFit/>
          </a:bodyPr>
          <a:lstStyle/>
          <a:p>
            <a:pPr algn="l">
              <a:lnSpc>
                <a:spcPts val="1800"/>
              </a:lnSpc>
              <a:spcBef>
                <a:spcPts val="0"/>
              </a:spcBef>
              <a:spcAft>
                <a:spcPts val="0"/>
              </a:spcAft>
              <a:defRPr sz="1500" b="1">
                <a:solidFill>
                  <a:srgbClr val="FFFFFF"/>
                </a:solidFill>
                <a:latin typeface="Calibri"/>
              </a:defRPr>
            </a:pPr>
            <a:r>
              <a:t>Issue Management</a:t>
            </a:r>
          </a:p>
        </p:txBody>
      </p:sp>
      <p:sp>
        <p:nvSpPr>
          <p:cNvPr id="17" name="TextBox 16"/>
          <p:cNvSpPr txBox="1"/>
          <p:nvPr/>
        </p:nvSpPr>
        <p:spPr>
          <a:xfrm>
            <a:off x="1280160" y="3529584"/>
            <a:ext cx="4114800" cy="274320"/>
          </a:xfrm>
          <a:prstGeom prst="rect">
            <a:avLst/>
          </a:prstGeom>
          <a:noFill/>
        </p:spPr>
        <p:txBody>
          <a:bodyPr wrap="square">
            <a:spAutoFit/>
          </a:bodyPr>
          <a:lstStyle/>
          <a:p>
            <a:pPr algn="l">
              <a:lnSpc>
                <a:spcPts val="1320"/>
              </a:lnSpc>
              <a:spcBef>
                <a:spcPts val="0"/>
              </a:spcBef>
              <a:spcAft>
                <a:spcPts val="0"/>
              </a:spcAft>
              <a:defRPr sz="1100" b="0">
                <a:solidFill>
                  <a:srgbClr val="9999BB"/>
                </a:solidFill>
                <a:latin typeface="Calibri"/>
              </a:defRPr>
            </a:pPr>
            <a:r>
              <a:t>Tracking, resolution &amp; bulk operations</a:t>
            </a:r>
          </a:p>
        </p:txBody>
      </p:sp>
      <p:sp>
        <p:nvSpPr>
          <p:cNvPr id="18" name="Rounded Rectangle 17"/>
          <p:cNvSpPr/>
          <p:nvPr/>
        </p:nvSpPr>
        <p:spPr>
          <a:xfrm>
            <a:off x="731520" y="3968496"/>
            <a:ext cx="411480" cy="41148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006596"/>
            <a:ext cx="411480" cy="365760"/>
          </a:xfrm>
          <a:prstGeom prst="rect">
            <a:avLst/>
          </a:prstGeom>
          <a:noFill/>
        </p:spPr>
        <p:txBody>
          <a:bodyPr wrap="square">
            <a:spAutoFit/>
          </a:bodyPr>
          <a:lstStyle/>
          <a:p>
            <a:pPr algn="ctr">
              <a:lnSpc>
                <a:spcPts val="1680"/>
              </a:lnSpc>
              <a:spcBef>
                <a:spcPts val="0"/>
              </a:spcBef>
              <a:spcAft>
                <a:spcPts val="0"/>
              </a:spcAft>
              <a:defRPr sz="1400" b="1">
                <a:solidFill>
                  <a:srgbClr val="FFFFFF"/>
                </a:solidFill>
                <a:latin typeface="Calibri"/>
              </a:defRPr>
            </a:pPr>
            <a:r>
              <a:t>04</a:t>
            </a:r>
          </a:p>
        </p:txBody>
      </p:sp>
      <p:sp>
        <p:nvSpPr>
          <p:cNvPr id="20" name="TextBox 19"/>
          <p:cNvSpPr txBox="1"/>
          <p:nvPr/>
        </p:nvSpPr>
        <p:spPr>
          <a:xfrm>
            <a:off x="1280160" y="3968496"/>
            <a:ext cx="4114800" cy="274320"/>
          </a:xfrm>
          <a:prstGeom prst="rect">
            <a:avLst/>
          </a:prstGeom>
          <a:noFill/>
        </p:spPr>
        <p:txBody>
          <a:bodyPr wrap="square">
            <a:spAutoFit/>
          </a:bodyPr>
          <a:lstStyle/>
          <a:p>
            <a:pPr algn="l">
              <a:lnSpc>
                <a:spcPts val="1800"/>
              </a:lnSpc>
              <a:spcBef>
                <a:spcPts val="0"/>
              </a:spcBef>
              <a:spcAft>
                <a:spcPts val="0"/>
              </a:spcAft>
              <a:defRPr sz="1500" b="1">
                <a:solidFill>
                  <a:srgbClr val="FFFFFF"/>
                </a:solidFill>
                <a:latin typeface="Calibri"/>
              </a:defRPr>
            </a:pPr>
            <a:r>
              <a:t>Bursary Management</a:t>
            </a:r>
          </a:p>
        </p:txBody>
      </p:sp>
      <p:sp>
        <p:nvSpPr>
          <p:cNvPr id="21" name="TextBox 20"/>
          <p:cNvSpPr txBox="1"/>
          <p:nvPr/>
        </p:nvSpPr>
        <p:spPr>
          <a:xfrm>
            <a:off x="1280160" y="4242816"/>
            <a:ext cx="4114800" cy="274320"/>
          </a:xfrm>
          <a:prstGeom prst="rect">
            <a:avLst/>
          </a:prstGeom>
          <a:noFill/>
        </p:spPr>
        <p:txBody>
          <a:bodyPr wrap="square">
            <a:spAutoFit/>
          </a:bodyPr>
          <a:lstStyle/>
          <a:p>
            <a:pPr algn="l">
              <a:lnSpc>
                <a:spcPts val="1320"/>
              </a:lnSpc>
              <a:spcBef>
                <a:spcPts val="0"/>
              </a:spcBef>
              <a:spcAft>
                <a:spcPts val="0"/>
              </a:spcAft>
              <a:defRPr sz="1100" b="0">
                <a:solidFill>
                  <a:srgbClr val="9999BB"/>
                </a:solidFill>
                <a:latin typeface="Calibri"/>
              </a:defRPr>
            </a:pPr>
            <a:r>
              <a:t>Application processing &amp; disbursement</a:t>
            </a:r>
          </a:p>
        </p:txBody>
      </p:sp>
      <p:sp>
        <p:nvSpPr>
          <p:cNvPr id="22" name="Rounded Rectangle 21"/>
          <p:cNvSpPr/>
          <p:nvPr/>
        </p:nvSpPr>
        <p:spPr>
          <a:xfrm>
            <a:off x="731520" y="4681728"/>
            <a:ext cx="411480" cy="41148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719828"/>
            <a:ext cx="411480" cy="365760"/>
          </a:xfrm>
          <a:prstGeom prst="rect">
            <a:avLst/>
          </a:prstGeom>
          <a:noFill/>
        </p:spPr>
        <p:txBody>
          <a:bodyPr wrap="square">
            <a:spAutoFit/>
          </a:bodyPr>
          <a:lstStyle/>
          <a:p>
            <a:pPr algn="ctr">
              <a:lnSpc>
                <a:spcPts val="1680"/>
              </a:lnSpc>
              <a:spcBef>
                <a:spcPts val="0"/>
              </a:spcBef>
              <a:spcAft>
                <a:spcPts val="0"/>
              </a:spcAft>
              <a:defRPr sz="1400" b="1">
                <a:solidFill>
                  <a:srgbClr val="FFFFFF"/>
                </a:solidFill>
                <a:latin typeface="Calibri"/>
              </a:defRPr>
            </a:pPr>
            <a:r>
              <a:t>05</a:t>
            </a:r>
          </a:p>
        </p:txBody>
      </p:sp>
      <p:sp>
        <p:nvSpPr>
          <p:cNvPr id="24" name="TextBox 23"/>
          <p:cNvSpPr txBox="1"/>
          <p:nvPr/>
        </p:nvSpPr>
        <p:spPr>
          <a:xfrm>
            <a:off x="1280160" y="4681728"/>
            <a:ext cx="4114800" cy="274320"/>
          </a:xfrm>
          <a:prstGeom prst="rect">
            <a:avLst/>
          </a:prstGeom>
          <a:noFill/>
        </p:spPr>
        <p:txBody>
          <a:bodyPr wrap="square">
            <a:spAutoFit/>
          </a:bodyPr>
          <a:lstStyle/>
          <a:p>
            <a:pPr algn="l">
              <a:lnSpc>
                <a:spcPts val="1800"/>
              </a:lnSpc>
              <a:spcBef>
                <a:spcPts val="0"/>
              </a:spcBef>
              <a:spcAft>
                <a:spcPts val="0"/>
              </a:spcAft>
              <a:defRPr sz="1500" b="1">
                <a:solidFill>
                  <a:srgbClr val="FFFFFF"/>
                </a:solidFill>
                <a:latin typeface="Calibri"/>
              </a:defRPr>
            </a:pPr>
            <a:r>
              <a:t>Announcements &amp; USSD</a:t>
            </a:r>
          </a:p>
        </p:txBody>
      </p:sp>
      <p:sp>
        <p:nvSpPr>
          <p:cNvPr id="25" name="TextBox 24"/>
          <p:cNvSpPr txBox="1"/>
          <p:nvPr/>
        </p:nvSpPr>
        <p:spPr>
          <a:xfrm>
            <a:off x="1280160" y="4956048"/>
            <a:ext cx="4114800" cy="274320"/>
          </a:xfrm>
          <a:prstGeom prst="rect">
            <a:avLst/>
          </a:prstGeom>
          <a:noFill/>
        </p:spPr>
        <p:txBody>
          <a:bodyPr wrap="square">
            <a:spAutoFit/>
          </a:bodyPr>
          <a:lstStyle/>
          <a:p>
            <a:pPr algn="l">
              <a:lnSpc>
                <a:spcPts val="1320"/>
              </a:lnSpc>
              <a:spcBef>
                <a:spcPts val="0"/>
              </a:spcBef>
              <a:spcAft>
                <a:spcPts val="0"/>
              </a:spcAft>
              <a:defRPr sz="1100" b="0">
                <a:solidFill>
                  <a:srgbClr val="9999BB"/>
                </a:solidFill>
                <a:latin typeface="Calibri"/>
              </a:defRPr>
            </a:pPr>
            <a:r>
              <a:t>Ward communication channels</a:t>
            </a:r>
          </a:p>
        </p:txBody>
      </p:sp>
      <p:sp>
        <p:nvSpPr>
          <p:cNvPr id="26" name="Rounded Rectangle 25"/>
          <p:cNvSpPr/>
          <p:nvPr/>
        </p:nvSpPr>
        <p:spPr>
          <a:xfrm>
            <a:off x="731520" y="5394960"/>
            <a:ext cx="411480" cy="41148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5433060"/>
            <a:ext cx="411480" cy="365760"/>
          </a:xfrm>
          <a:prstGeom prst="rect">
            <a:avLst/>
          </a:prstGeom>
          <a:noFill/>
        </p:spPr>
        <p:txBody>
          <a:bodyPr wrap="square">
            <a:spAutoFit/>
          </a:bodyPr>
          <a:lstStyle/>
          <a:p>
            <a:pPr algn="ctr">
              <a:lnSpc>
                <a:spcPts val="1680"/>
              </a:lnSpc>
              <a:spcBef>
                <a:spcPts val="0"/>
              </a:spcBef>
              <a:spcAft>
                <a:spcPts val="0"/>
              </a:spcAft>
              <a:defRPr sz="1400" b="1">
                <a:solidFill>
                  <a:srgbClr val="FFFFFF"/>
                </a:solidFill>
                <a:latin typeface="Calibri"/>
              </a:defRPr>
            </a:pPr>
            <a:r>
              <a:t>06</a:t>
            </a:r>
          </a:p>
        </p:txBody>
      </p:sp>
      <p:sp>
        <p:nvSpPr>
          <p:cNvPr id="28" name="TextBox 27"/>
          <p:cNvSpPr txBox="1"/>
          <p:nvPr/>
        </p:nvSpPr>
        <p:spPr>
          <a:xfrm>
            <a:off x="1280160" y="5394960"/>
            <a:ext cx="4114800" cy="274320"/>
          </a:xfrm>
          <a:prstGeom prst="rect">
            <a:avLst/>
          </a:prstGeom>
          <a:noFill/>
        </p:spPr>
        <p:txBody>
          <a:bodyPr wrap="square">
            <a:spAutoFit/>
          </a:bodyPr>
          <a:lstStyle/>
          <a:p>
            <a:pPr algn="l">
              <a:lnSpc>
                <a:spcPts val="1800"/>
              </a:lnSpc>
              <a:spcBef>
                <a:spcPts val="0"/>
              </a:spcBef>
              <a:spcAft>
                <a:spcPts val="0"/>
              </a:spcAft>
              <a:defRPr sz="1500" b="1">
                <a:solidFill>
                  <a:srgbClr val="FFFFFF"/>
                </a:solidFill>
                <a:latin typeface="Calibri"/>
              </a:defRPr>
            </a:pPr>
            <a:r>
              <a:t>Constituent Registry</a:t>
            </a:r>
          </a:p>
        </p:txBody>
      </p:sp>
      <p:sp>
        <p:nvSpPr>
          <p:cNvPr id="29" name="TextBox 28"/>
          <p:cNvSpPr txBox="1"/>
          <p:nvPr/>
        </p:nvSpPr>
        <p:spPr>
          <a:xfrm>
            <a:off x="1280160" y="5669280"/>
            <a:ext cx="4114800" cy="274320"/>
          </a:xfrm>
          <a:prstGeom prst="rect">
            <a:avLst/>
          </a:prstGeom>
          <a:noFill/>
        </p:spPr>
        <p:txBody>
          <a:bodyPr wrap="square">
            <a:spAutoFit/>
          </a:bodyPr>
          <a:lstStyle/>
          <a:p>
            <a:pPr algn="l">
              <a:lnSpc>
                <a:spcPts val="1320"/>
              </a:lnSpc>
              <a:spcBef>
                <a:spcPts val="0"/>
              </a:spcBef>
              <a:spcAft>
                <a:spcPts val="0"/>
              </a:spcAft>
              <a:defRPr sz="1100" b="0">
                <a:solidFill>
                  <a:srgbClr val="9999BB"/>
                </a:solidFill>
                <a:latin typeface="Calibri"/>
              </a:defRPr>
            </a:pPr>
            <a:r>
              <a:t>Voter &amp; citizen data management</a:t>
            </a:r>
          </a:p>
        </p:txBody>
      </p:sp>
      <p:sp>
        <p:nvSpPr>
          <p:cNvPr id="30" name="Rounded Rectangle 29"/>
          <p:cNvSpPr/>
          <p:nvPr/>
        </p:nvSpPr>
        <p:spPr>
          <a:xfrm>
            <a:off x="5943600" y="1828800"/>
            <a:ext cx="411480" cy="41148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43600" y="1866900"/>
            <a:ext cx="411480" cy="365760"/>
          </a:xfrm>
          <a:prstGeom prst="rect">
            <a:avLst/>
          </a:prstGeom>
          <a:noFill/>
        </p:spPr>
        <p:txBody>
          <a:bodyPr wrap="square">
            <a:spAutoFit/>
          </a:bodyPr>
          <a:lstStyle/>
          <a:p>
            <a:pPr algn="ctr">
              <a:lnSpc>
                <a:spcPts val="1680"/>
              </a:lnSpc>
              <a:spcBef>
                <a:spcPts val="0"/>
              </a:spcBef>
              <a:spcAft>
                <a:spcPts val="0"/>
              </a:spcAft>
              <a:defRPr sz="1400" b="1">
                <a:solidFill>
                  <a:srgbClr val="FFFFFF"/>
                </a:solidFill>
                <a:latin typeface="Calibri"/>
              </a:defRPr>
            </a:pPr>
            <a:r>
              <a:t>07</a:t>
            </a:r>
          </a:p>
        </p:txBody>
      </p:sp>
      <p:sp>
        <p:nvSpPr>
          <p:cNvPr id="32" name="TextBox 31"/>
          <p:cNvSpPr txBox="1"/>
          <p:nvPr/>
        </p:nvSpPr>
        <p:spPr>
          <a:xfrm>
            <a:off x="6492240" y="1828800"/>
            <a:ext cx="4114800" cy="274320"/>
          </a:xfrm>
          <a:prstGeom prst="rect">
            <a:avLst/>
          </a:prstGeom>
          <a:noFill/>
        </p:spPr>
        <p:txBody>
          <a:bodyPr wrap="square">
            <a:spAutoFit/>
          </a:bodyPr>
          <a:lstStyle/>
          <a:p>
            <a:pPr algn="l">
              <a:lnSpc>
                <a:spcPts val="1800"/>
              </a:lnSpc>
              <a:spcBef>
                <a:spcPts val="0"/>
              </a:spcBef>
              <a:spcAft>
                <a:spcPts val="0"/>
              </a:spcAft>
              <a:defRPr sz="1500" b="1">
                <a:solidFill>
                  <a:srgbClr val="FFFFFF"/>
                </a:solidFill>
                <a:latin typeface="Calibri"/>
              </a:defRPr>
            </a:pPr>
            <a:r>
              <a:t>User Management &amp; Roles</a:t>
            </a:r>
          </a:p>
        </p:txBody>
      </p:sp>
      <p:sp>
        <p:nvSpPr>
          <p:cNvPr id="33" name="TextBox 32"/>
          <p:cNvSpPr txBox="1"/>
          <p:nvPr/>
        </p:nvSpPr>
        <p:spPr>
          <a:xfrm>
            <a:off x="6492240" y="2103120"/>
            <a:ext cx="4114800" cy="274320"/>
          </a:xfrm>
          <a:prstGeom prst="rect">
            <a:avLst/>
          </a:prstGeom>
          <a:noFill/>
        </p:spPr>
        <p:txBody>
          <a:bodyPr wrap="square">
            <a:spAutoFit/>
          </a:bodyPr>
          <a:lstStyle/>
          <a:p>
            <a:pPr algn="l">
              <a:lnSpc>
                <a:spcPts val="1320"/>
              </a:lnSpc>
              <a:spcBef>
                <a:spcPts val="0"/>
              </a:spcBef>
              <a:spcAft>
                <a:spcPts val="0"/>
              </a:spcAft>
              <a:defRPr sz="1100" b="0">
                <a:solidFill>
                  <a:srgbClr val="9999BB"/>
                </a:solidFill>
                <a:latin typeface="Calibri"/>
              </a:defRPr>
            </a:pPr>
            <a:r>
              <a:t>Admin accounts &amp; access control</a:t>
            </a:r>
          </a:p>
        </p:txBody>
      </p:sp>
      <p:sp>
        <p:nvSpPr>
          <p:cNvPr id="34" name="Rounded Rectangle 33"/>
          <p:cNvSpPr/>
          <p:nvPr/>
        </p:nvSpPr>
        <p:spPr>
          <a:xfrm>
            <a:off x="5943600" y="2542032"/>
            <a:ext cx="411480" cy="41148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43600" y="2580132"/>
            <a:ext cx="411480" cy="365760"/>
          </a:xfrm>
          <a:prstGeom prst="rect">
            <a:avLst/>
          </a:prstGeom>
          <a:noFill/>
        </p:spPr>
        <p:txBody>
          <a:bodyPr wrap="square">
            <a:spAutoFit/>
          </a:bodyPr>
          <a:lstStyle/>
          <a:p>
            <a:pPr algn="ctr">
              <a:lnSpc>
                <a:spcPts val="1680"/>
              </a:lnSpc>
              <a:spcBef>
                <a:spcPts val="0"/>
              </a:spcBef>
              <a:spcAft>
                <a:spcPts val="0"/>
              </a:spcAft>
              <a:defRPr sz="1400" b="1">
                <a:solidFill>
                  <a:srgbClr val="FFFFFF"/>
                </a:solidFill>
                <a:latin typeface="Calibri"/>
              </a:defRPr>
            </a:pPr>
            <a:r>
              <a:t>08</a:t>
            </a:r>
          </a:p>
        </p:txBody>
      </p:sp>
      <p:sp>
        <p:nvSpPr>
          <p:cNvPr id="36" name="TextBox 35"/>
          <p:cNvSpPr txBox="1"/>
          <p:nvPr/>
        </p:nvSpPr>
        <p:spPr>
          <a:xfrm>
            <a:off x="6492240" y="2542032"/>
            <a:ext cx="4114800" cy="274320"/>
          </a:xfrm>
          <a:prstGeom prst="rect">
            <a:avLst/>
          </a:prstGeom>
          <a:noFill/>
        </p:spPr>
        <p:txBody>
          <a:bodyPr wrap="square">
            <a:spAutoFit/>
          </a:bodyPr>
          <a:lstStyle/>
          <a:p>
            <a:pPr algn="l">
              <a:lnSpc>
                <a:spcPts val="1800"/>
              </a:lnSpc>
              <a:spcBef>
                <a:spcPts val="0"/>
              </a:spcBef>
              <a:spcAft>
                <a:spcPts val="0"/>
              </a:spcAft>
              <a:defRPr sz="1500" b="1">
                <a:solidFill>
                  <a:srgbClr val="FFFFFF"/>
                </a:solidFill>
                <a:latin typeface="Calibri"/>
              </a:defRPr>
            </a:pPr>
            <a:r>
              <a:t>Analytics &amp; Visualization</a:t>
            </a:r>
          </a:p>
        </p:txBody>
      </p:sp>
      <p:sp>
        <p:nvSpPr>
          <p:cNvPr id="37" name="TextBox 36"/>
          <p:cNvSpPr txBox="1"/>
          <p:nvPr/>
        </p:nvSpPr>
        <p:spPr>
          <a:xfrm>
            <a:off x="6492240" y="2816352"/>
            <a:ext cx="4114800" cy="274320"/>
          </a:xfrm>
          <a:prstGeom prst="rect">
            <a:avLst/>
          </a:prstGeom>
          <a:noFill/>
        </p:spPr>
        <p:txBody>
          <a:bodyPr wrap="square">
            <a:spAutoFit/>
          </a:bodyPr>
          <a:lstStyle/>
          <a:p>
            <a:pPr algn="l">
              <a:lnSpc>
                <a:spcPts val="1320"/>
              </a:lnSpc>
              <a:spcBef>
                <a:spcPts val="0"/>
              </a:spcBef>
              <a:spcAft>
                <a:spcPts val="0"/>
              </a:spcAft>
              <a:defRPr sz="1100" b="0">
                <a:solidFill>
                  <a:srgbClr val="9999BB"/>
                </a:solidFill>
                <a:latin typeface="Calibri"/>
              </a:defRPr>
            </a:pPr>
            <a:r>
              <a:t>Charts, maps &amp; data insights</a:t>
            </a:r>
          </a:p>
        </p:txBody>
      </p:sp>
      <p:sp>
        <p:nvSpPr>
          <p:cNvPr id="38" name="Rounded Rectangle 37"/>
          <p:cNvSpPr/>
          <p:nvPr/>
        </p:nvSpPr>
        <p:spPr>
          <a:xfrm>
            <a:off x="5943600" y="3255264"/>
            <a:ext cx="411480" cy="41148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943600" y="3293364"/>
            <a:ext cx="411480" cy="365760"/>
          </a:xfrm>
          <a:prstGeom prst="rect">
            <a:avLst/>
          </a:prstGeom>
          <a:noFill/>
        </p:spPr>
        <p:txBody>
          <a:bodyPr wrap="square">
            <a:spAutoFit/>
          </a:bodyPr>
          <a:lstStyle/>
          <a:p>
            <a:pPr algn="ctr">
              <a:lnSpc>
                <a:spcPts val="1680"/>
              </a:lnSpc>
              <a:spcBef>
                <a:spcPts val="0"/>
              </a:spcBef>
              <a:spcAft>
                <a:spcPts val="0"/>
              </a:spcAft>
              <a:defRPr sz="1400" b="1">
                <a:solidFill>
                  <a:srgbClr val="FFFFFF"/>
                </a:solidFill>
                <a:latin typeface="Calibri"/>
              </a:defRPr>
            </a:pPr>
            <a:r>
              <a:t>09</a:t>
            </a:r>
          </a:p>
        </p:txBody>
      </p:sp>
      <p:sp>
        <p:nvSpPr>
          <p:cNvPr id="40" name="TextBox 39"/>
          <p:cNvSpPr txBox="1"/>
          <p:nvPr/>
        </p:nvSpPr>
        <p:spPr>
          <a:xfrm>
            <a:off x="6492240" y="3255264"/>
            <a:ext cx="4114800" cy="274320"/>
          </a:xfrm>
          <a:prstGeom prst="rect">
            <a:avLst/>
          </a:prstGeom>
          <a:noFill/>
        </p:spPr>
        <p:txBody>
          <a:bodyPr wrap="square">
            <a:spAutoFit/>
          </a:bodyPr>
          <a:lstStyle/>
          <a:p>
            <a:pPr algn="l">
              <a:lnSpc>
                <a:spcPts val="1800"/>
              </a:lnSpc>
              <a:spcBef>
                <a:spcPts val="0"/>
              </a:spcBef>
              <a:spcAft>
                <a:spcPts val="0"/>
              </a:spcAft>
              <a:defRPr sz="1500" b="1">
                <a:solidFill>
                  <a:srgbClr val="FFFFFF"/>
                </a:solidFill>
                <a:latin typeface="Calibri"/>
              </a:defRPr>
            </a:pPr>
            <a:r>
              <a:t>Security &amp; Authentication</a:t>
            </a:r>
          </a:p>
        </p:txBody>
      </p:sp>
      <p:sp>
        <p:nvSpPr>
          <p:cNvPr id="41" name="TextBox 40"/>
          <p:cNvSpPr txBox="1"/>
          <p:nvPr/>
        </p:nvSpPr>
        <p:spPr>
          <a:xfrm>
            <a:off x="6492240" y="3529584"/>
            <a:ext cx="4114800" cy="274320"/>
          </a:xfrm>
          <a:prstGeom prst="rect">
            <a:avLst/>
          </a:prstGeom>
          <a:noFill/>
        </p:spPr>
        <p:txBody>
          <a:bodyPr wrap="square">
            <a:spAutoFit/>
          </a:bodyPr>
          <a:lstStyle/>
          <a:p>
            <a:pPr algn="l">
              <a:lnSpc>
                <a:spcPts val="1320"/>
              </a:lnSpc>
              <a:spcBef>
                <a:spcPts val="0"/>
              </a:spcBef>
              <a:spcAft>
                <a:spcPts val="0"/>
              </a:spcAft>
              <a:defRPr sz="1100" b="0">
                <a:solidFill>
                  <a:srgbClr val="9999BB"/>
                </a:solidFill>
                <a:latin typeface="Calibri"/>
              </a:defRPr>
            </a:pPr>
            <a:r>
              <a:t>Login, sessions &amp; protection</a:t>
            </a:r>
          </a:p>
        </p:txBody>
      </p:sp>
      <p:sp>
        <p:nvSpPr>
          <p:cNvPr id="42" name="Rounded Rectangle 41"/>
          <p:cNvSpPr/>
          <p:nvPr/>
        </p:nvSpPr>
        <p:spPr>
          <a:xfrm>
            <a:off x="5943600" y="3968496"/>
            <a:ext cx="411480" cy="41148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943600" y="4006596"/>
            <a:ext cx="411480" cy="365760"/>
          </a:xfrm>
          <a:prstGeom prst="rect">
            <a:avLst/>
          </a:prstGeom>
          <a:noFill/>
        </p:spPr>
        <p:txBody>
          <a:bodyPr wrap="square">
            <a:spAutoFit/>
          </a:bodyPr>
          <a:lstStyle/>
          <a:p>
            <a:pPr algn="ctr">
              <a:lnSpc>
                <a:spcPts val="1680"/>
              </a:lnSpc>
              <a:spcBef>
                <a:spcPts val="0"/>
              </a:spcBef>
              <a:spcAft>
                <a:spcPts val="0"/>
              </a:spcAft>
              <a:defRPr sz="1400" b="1">
                <a:solidFill>
                  <a:srgbClr val="FFFFFF"/>
                </a:solidFill>
                <a:latin typeface="Calibri"/>
              </a:defRPr>
            </a:pPr>
            <a:r>
              <a:t>10</a:t>
            </a:r>
          </a:p>
        </p:txBody>
      </p:sp>
      <p:sp>
        <p:nvSpPr>
          <p:cNvPr id="44" name="TextBox 43"/>
          <p:cNvSpPr txBox="1"/>
          <p:nvPr/>
        </p:nvSpPr>
        <p:spPr>
          <a:xfrm>
            <a:off x="6492240" y="3968496"/>
            <a:ext cx="4114800" cy="274320"/>
          </a:xfrm>
          <a:prstGeom prst="rect">
            <a:avLst/>
          </a:prstGeom>
          <a:noFill/>
        </p:spPr>
        <p:txBody>
          <a:bodyPr wrap="square">
            <a:spAutoFit/>
          </a:bodyPr>
          <a:lstStyle/>
          <a:p>
            <a:pPr algn="l">
              <a:lnSpc>
                <a:spcPts val="1800"/>
              </a:lnSpc>
              <a:spcBef>
                <a:spcPts val="0"/>
              </a:spcBef>
              <a:spcAft>
                <a:spcPts val="0"/>
              </a:spcAft>
              <a:defRPr sz="1500" b="1">
                <a:solidFill>
                  <a:srgbClr val="FFFFFF"/>
                </a:solidFill>
                <a:latin typeface="Calibri"/>
              </a:defRPr>
            </a:pPr>
            <a:r>
              <a:t>AI Assistant &amp; Notifications</a:t>
            </a:r>
          </a:p>
        </p:txBody>
      </p:sp>
      <p:sp>
        <p:nvSpPr>
          <p:cNvPr id="45" name="TextBox 44"/>
          <p:cNvSpPr txBox="1"/>
          <p:nvPr/>
        </p:nvSpPr>
        <p:spPr>
          <a:xfrm>
            <a:off x="6492240" y="4242816"/>
            <a:ext cx="4114800" cy="274320"/>
          </a:xfrm>
          <a:prstGeom prst="rect">
            <a:avLst/>
          </a:prstGeom>
          <a:noFill/>
        </p:spPr>
        <p:txBody>
          <a:bodyPr wrap="square">
            <a:spAutoFit/>
          </a:bodyPr>
          <a:lstStyle/>
          <a:p>
            <a:pPr algn="l">
              <a:lnSpc>
                <a:spcPts val="1320"/>
              </a:lnSpc>
              <a:spcBef>
                <a:spcPts val="0"/>
              </a:spcBef>
              <a:spcAft>
                <a:spcPts val="0"/>
              </a:spcAft>
              <a:defRPr sz="1100" b="0">
                <a:solidFill>
                  <a:srgbClr val="9999BB"/>
                </a:solidFill>
                <a:latin typeface="Calibri"/>
              </a:defRPr>
            </a:pPr>
            <a:r>
              <a:t>Smart features &amp; real-time updates</a:t>
            </a:r>
          </a:p>
        </p:txBody>
      </p:sp>
      <p:sp>
        <p:nvSpPr>
          <p:cNvPr id="46" name="Rounded Rectangle 45"/>
          <p:cNvSpPr/>
          <p:nvPr/>
        </p:nvSpPr>
        <p:spPr>
          <a:xfrm>
            <a:off x="5943600" y="4681728"/>
            <a:ext cx="411480" cy="41148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943600" y="4719828"/>
            <a:ext cx="411480" cy="365760"/>
          </a:xfrm>
          <a:prstGeom prst="rect">
            <a:avLst/>
          </a:prstGeom>
          <a:noFill/>
        </p:spPr>
        <p:txBody>
          <a:bodyPr wrap="square">
            <a:spAutoFit/>
          </a:bodyPr>
          <a:lstStyle/>
          <a:p>
            <a:pPr algn="ctr">
              <a:lnSpc>
                <a:spcPts val="1680"/>
              </a:lnSpc>
              <a:spcBef>
                <a:spcPts val="0"/>
              </a:spcBef>
              <a:spcAft>
                <a:spcPts val="0"/>
              </a:spcAft>
              <a:defRPr sz="1400" b="1">
                <a:solidFill>
                  <a:srgbClr val="FFFFFF"/>
                </a:solidFill>
                <a:latin typeface="Calibri"/>
              </a:defRPr>
            </a:pPr>
            <a:r>
              <a:t>11</a:t>
            </a:r>
          </a:p>
        </p:txBody>
      </p:sp>
      <p:sp>
        <p:nvSpPr>
          <p:cNvPr id="48" name="TextBox 47"/>
          <p:cNvSpPr txBox="1"/>
          <p:nvPr/>
        </p:nvSpPr>
        <p:spPr>
          <a:xfrm>
            <a:off x="6492240" y="4681728"/>
            <a:ext cx="4114800" cy="274320"/>
          </a:xfrm>
          <a:prstGeom prst="rect">
            <a:avLst/>
          </a:prstGeom>
          <a:noFill/>
        </p:spPr>
        <p:txBody>
          <a:bodyPr wrap="square">
            <a:spAutoFit/>
          </a:bodyPr>
          <a:lstStyle/>
          <a:p>
            <a:pPr algn="l">
              <a:lnSpc>
                <a:spcPts val="1800"/>
              </a:lnSpc>
              <a:spcBef>
                <a:spcPts val="0"/>
              </a:spcBef>
              <a:spcAft>
                <a:spcPts val="0"/>
              </a:spcAft>
              <a:defRPr sz="1500" b="1">
                <a:solidFill>
                  <a:srgbClr val="FFFFFF"/>
                </a:solidFill>
                <a:latin typeface="Calibri"/>
              </a:defRPr>
            </a:pPr>
            <a:r>
              <a:t>Technology Stack</a:t>
            </a:r>
          </a:p>
        </p:txBody>
      </p:sp>
      <p:sp>
        <p:nvSpPr>
          <p:cNvPr id="49" name="TextBox 48"/>
          <p:cNvSpPr txBox="1"/>
          <p:nvPr/>
        </p:nvSpPr>
        <p:spPr>
          <a:xfrm>
            <a:off x="6492240" y="4956048"/>
            <a:ext cx="4114800" cy="274320"/>
          </a:xfrm>
          <a:prstGeom prst="rect">
            <a:avLst/>
          </a:prstGeom>
          <a:noFill/>
        </p:spPr>
        <p:txBody>
          <a:bodyPr wrap="square">
            <a:spAutoFit/>
          </a:bodyPr>
          <a:lstStyle/>
          <a:p>
            <a:pPr algn="l">
              <a:lnSpc>
                <a:spcPts val="1320"/>
              </a:lnSpc>
              <a:spcBef>
                <a:spcPts val="0"/>
              </a:spcBef>
              <a:spcAft>
                <a:spcPts val="0"/>
              </a:spcAft>
              <a:defRPr sz="1100" b="0">
                <a:solidFill>
                  <a:srgbClr val="9999BB"/>
                </a:solidFill>
                <a:latin typeface="Calibri"/>
              </a:defRPr>
            </a:pPr>
            <a:r>
              <a:t>Architecture &amp; deployment</a:t>
            </a:r>
          </a:p>
        </p:txBody>
      </p:sp>
      <p:sp>
        <p:nvSpPr>
          <p:cNvPr id="50" name="Rounded Rectangle 49"/>
          <p:cNvSpPr/>
          <p:nvPr/>
        </p:nvSpPr>
        <p:spPr>
          <a:xfrm>
            <a:off x="5943600" y="5394960"/>
            <a:ext cx="411480" cy="41148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943600" y="5433060"/>
            <a:ext cx="411480" cy="365760"/>
          </a:xfrm>
          <a:prstGeom prst="rect">
            <a:avLst/>
          </a:prstGeom>
          <a:noFill/>
        </p:spPr>
        <p:txBody>
          <a:bodyPr wrap="square">
            <a:spAutoFit/>
          </a:bodyPr>
          <a:lstStyle/>
          <a:p>
            <a:pPr algn="ctr">
              <a:lnSpc>
                <a:spcPts val="1680"/>
              </a:lnSpc>
              <a:spcBef>
                <a:spcPts val="0"/>
              </a:spcBef>
              <a:spcAft>
                <a:spcPts val="0"/>
              </a:spcAft>
              <a:defRPr sz="1400" b="1">
                <a:solidFill>
                  <a:srgbClr val="FFFFFF"/>
                </a:solidFill>
                <a:latin typeface="Calibri"/>
              </a:defRPr>
            </a:pPr>
            <a:r>
              <a:t>12</a:t>
            </a:r>
          </a:p>
        </p:txBody>
      </p:sp>
      <p:sp>
        <p:nvSpPr>
          <p:cNvPr id="52" name="TextBox 51"/>
          <p:cNvSpPr txBox="1"/>
          <p:nvPr/>
        </p:nvSpPr>
        <p:spPr>
          <a:xfrm>
            <a:off x="6492240" y="5394960"/>
            <a:ext cx="4114800" cy="274320"/>
          </a:xfrm>
          <a:prstGeom prst="rect">
            <a:avLst/>
          </a:prstGeom>
          <a:noFill/>
        </p:spPr>
        <p:txBody>
          <a:bodyPr wrap="square">
            <a:spAutoFit/>
          </a:bodyPr>
          <a:lstStyle/>
          <a:p>
            <a:pPr algn="l">
              <a:lnSpc>
                <a:spcPts val="1800"/>
              </a:lnSpc>
              <a:spcBef>
                <a:spcPts val="0"/>
              </a:spcBef>
              <a:spcAft>
                <a:spcPts val="0"/>
              </a:spcAft>
              <a:defRPr sz="1500" b="1">
                <a:solidFill>
                  <a:srgbClr val="FFFFFF"/>
                </a:solidFill>
                <a:latin typeface="Calibri"/>
              </a:defRPr>
            </a:pPr>
            <a:r>
              <a:t>Summary &amp; Roadmap</a:t>
            </a:r>
          </a:p>
        </p:txBody>
      </p:sp>
      <p:sp>
        <p:nvSpPr>
          <p:cNvPr id="53" name="TextBox 52"/>
          <p:cNvSpPr txBox="1"/>
          <p:nvPr/>
        </p:nvSpPr>
        <p:spPr>
          <a:xfrm>
            <a:off x="6492240" y="5669280"/>
            <a:ext cx="4114800" cy="274320"/>
          </a:xfrm>
          <a:prstGeom prst="rect">
            <a:avLst/>
          </a:prstGeom>
          <a:noFill/>
        </p:spPr>
        <p:txBody>
          <a:bodyPr wrap="square">
            <a:spAutoFit/>
          </a:bodyPr>
          <a:lstStyle/>
          <a:p>
            <a:pPr algn="l">
              <a:lnSpc>
                <a:spcPts val="1320"/>
              </a:lnSpc>
              <a:spcBef>
                <a:spcPts val="0"/>
              </a:spcBef>
              <a:spcAft>
                <a:spcPts val="0"/>
              </a:spcAft>
              <a:defRPr sz="1100" b="0">
                <a:solidFill>
                  <a:srgbClr val="9999BB"/>
                </a:solidFill>
                <a:latin typeface="Calibri"/>
              </a:defRPr>
            </a:pPr>
            <a:r>
              <a:t>Key takeaways &amp; future plans</a:t>
            </a:r>
          </a:p>
        </p:txBody>
      </p:sp>
      <p:sp>
        <p:nvSpPr>
          <p:cNvPr id="54" name="TextBox 53"/>
          <p:cNvSpPr txBox="1"/>
          <p:nvPr/>
        </p:nvSpPr>
        <p:spPr>
          <a:xfrm>
            <a:off x="731520" y="6400800"/>
            <a:ext cx="4572000" cy="365760"/>
          </a:xfrm>
          <a:prstGeom prst="rect">
            <a:avLst/>
          </a:prstGeom>
          <a:noFill/>
        </p:spPr>
        <p:txBody>
          <a:bodyPr wrap="square">
            <a:spAutoFit/>
          </a:bodyPr>
          <a:lstStyle/>
          <a:p>
            <a:pPr algn="l">
              <a:lnSpc>
                <a:spcPts val="1200"/>
              </a:lnSpc>
              <a:spcBef>
                <a:spcPts val="0"/>
              </a:spcBef>
              <a:spcAft>
                <a:spcPts val="0"/>
              </a:spcAft>
              <a:defRPr sz="1000" b="0">
                <a:solidFill>
                  <a:srgbClr val="9999BB"/>
                </a:solidFill>
                <a:latin typeface="Calibri"/>
              </a:defRPr>
            </a:pPr>
            <a:r>
              <a:t>VOO Ward Admin Dashboard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23"/>
        </a:solidFill>
        <a:effectLst/>
      </p:bgPr>
    </p:bg>
    <p:spTree>
      <p:nvGrpSpPr>
        <p:cNvPr id="1" name=""/>
        <p:cNvGrpSpPr/>
        <p:nvPr/>
      </p:nvGrpSpPr>
      <p:grpSpPr/>
      <p:sp>
        <p:nvSpPr>
          <p:cNvPr id="2" name="Rectangle 1"/>
          <p:cNvSpPr/>
          <p:nvPr/>
        </p:nvSpPr>
        <p:spPr>
          <a:xfrm>
            <a:off x="731520" y="548640"/>
            <a:ext cx="2286000" cy="508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85800"/>
            <a:ext cx="10058400" cy="640080"/>
          </a:xfrm>
          <a:prstGeom prst="rect">
            <a:avLst/>
          </a:prstGeom>
          <a:noFill/>
        </p:spPr>
        <p:txBody>
          <a:bodyPr wrap="square">
            <a:spAutoFit/>
          </a:bodyPr>
          <a:lstStyle/>
          <a:p>
            <a:pPr algn="l">
              <a:lnSpc>
                <a:spcPts val="4320"/>
              </a:lnSpc>
              <a:spcBef>
                <a:spcPts val="0"/>
              </a:spcBef>
              <a:spcAft>
                <a:spcPts val="0"/>
              </a:spcAft>
              <a:defRPr sz="3600" b="1">
                <a:solidFill>
                  <a:srgbClr val="FFFFFF"/>
                </a:solidFill>
                <a:latin typeface="Calibri"/>
              </a:defRPr>
            </a:pPr>
            <a:r>
              <a:t>Project Overview</a:t>
            </a:r>
          </a:p>
        </p:txBody>
      </p:sp>
      <p:sp>
        <p:nvSpPr>
          <p:cNvPr id="4" name="TextBox 3"/>
          <p:cNvSpPr txBox="1"/>
          <p:nvPr/>
        </p:nvSpPr>
        <p:spPr>
          <a:xfrm>
            <a:off x="731520" y="1280160"/>
            <a:ext cx="10058400" cy="365760"/>
          </a:xfrm>
          <a:prstGeom prst="rect">
            <a:avLst/>
          </a:prstGeom>
          <a:noFill/>
        </p:spPr>
        <p:txBody>
          <a:bodyPr wrap="square">
            <a:spAutoFit/>
          </a:bodyPr>
          <a:lstStyle/>
          <a:p>
            <a:pPr algn="l">
              <a:lnSpc>
                <a:spcPts val="1920"/>
              </a:lnSpc>
              <a:spcBef>
                <a:spcPts val="0"/>
              </a:spcBef>
              <a:spcAft>
                <a:spcPts val="0"/>
              </a:spcAft>
              <a:defRPr sz="1600" b="0">
                <a:solidFill>
                  <a:srgbClr val="9999BB"/>
                </a:solidFill>
                <a:latin typeface="Calibri"/>
              </a:defRPr>
            </a:pPr>
            <a:r>
              <a:t>Kyamatu Ward — Comprehensive Citizen Engagement Platform</a:t>
            </a:r>
          </a:p>
        </p:txBody>
      </p:sp>
      <p:sp>
        <p:nvSpPr>
          <p:cNvPr id="5" name="Rounded Rectangle 4"/>
          <p:cNvSpPr/>
          <p:nvPr/>
        </p:nvSpPr>
        <p:spPr>
          <a:xfrm>
            <a:off x="11430000" y="0"/>
            <a:ext cx="761695" cy="6858000"/>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920240"/>
            <a:ext cx="5029200" cy="1097280"/>
          </a:xfrm>
          <a:prstGeom prst="rect">
            <a:avLst/>
          </a:prstGeom>
          <a:noFill/>
        </p:spPr>
        <p:txBody>
          <a:bodyPr wrap="square">
            <a:spAutoFit/>
          </a:bodyPr>
          <a:lstStyle/>
          <a:p>
            <a:pPr algn="l">
              <a:lnSpc>
                <a:spcPts val="2240"/>
              </a:lnSpc>
              <a:spcBef>
                <a:spcPts val="0"/>
              </a:spcBef>
              <a:spcAft>
                <a:spcPts val="0"/>
              </a:spcAft>
              <a:defRPr sz="1400" b="0">
                <a:solidFill>
                  <a:srgbClr val="CCCCCC"/>
                </a:solidFill>
                <a:latin typeface="Calibri"/>
              </a:defRPr>
            </a:pPr>
            <a:r>
              <a:t>VOO Ward is a full-stack governance platform enabling the Member of County Assembly (MCA) and staff to manage ward operations, track citizen issues, process bursary applications, and communicate with constituents through multiple channels including web dashboard, USSD, and mobile app.</a:t>
            </a:r>
          </a:p>
        </p:txBody>
      </p:sp>
      <p:sp>
        <p:nvSpPr>
          <p:cNvPr id="7" name="Rounded Rectangle 6"/>
          <p:cNvSpPr/>
          <p:nvPr/>
        </p:nvSpPr>
        <p:spPr>
          <a:xfrm>
            <a:off x="731520" y="3474720"/>
            <a:ext cx="2468880" cy="137160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3474720"/>
            <a:ext cx="2468880" cy="3810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703320"/>
            <a:ext cx="2103120" cy="548640"/>
          </a:xfrm>
          <a:prstGeom prst="rect">
            <a:avLst/>
          </a:prstGeom>
          <a:noFill/>
        </p:spPr>
        <p:txBody>
          <a:bodyPr wrap="square">
            <a:spAutoFit/>
          </a:bodyPr>
          <a:lstStyle/>
          <a:p>
            <a:pPr algn="l">
              <a:lnSpc>
                <a:spcPts val="3840"/>
              </a:lnSpc>
              <a:spcBef>
                <a:spcPts val="0"/>
              </a:spcBef>
              <a:spcAft>
                <a:spcPts val="0"/>
              </a:spcAft>
              <a:defRPr sz="3200" b="1">
                <a:solidFill>
                  <a:srgbClr val="FFFFFF"/>
                </a:solidFill>
                <a:latin typeface="Calibri"/>
              </a:defRPr>
            </a:pPr>
            <a:r>
              <a:t>6+</a:t>
            </a:r>
          </a:p>
        </p:txBody>
      </p:sp>
      <p:sp>
        <p:nvSpPr>
          <p:cNvPr id="10" name="TextBox 9"/>
          <p:cNvSpPr txBox="1"/>
          <p:nvPr/>
        </p:nvSpPr>
        <p:spPr>
          <a:xfrm>
            <a:off x="914400" y="4297680"/>
            <a:ext cx="2103120" cy="365760"/>
          </a:xfrm>
          <a:prstGeom prst="rect">
            <a:avLst/>
          </a:prstGeom>
          <a:noFill/>
        </p:spPr>
        <p:txBody>
          <a:bodyPr wrap="square">
            <a:spAutoFit/>
          </a:bodyPr>
          <a:lstStyle/>
          <a:p>
            <a:pPr algn="l">
              <a:lnSpc>
                <a:spcPts val="1439"/>
              </a:lnSpc>
              <a:spcBef>
                <a:spcPts val="0"/>
              </a:spcBef>
              <a:spcAft>
                <a:spcPts val="0"/>
              </a:spcAft>
              <a:defRPr sz="1200" b="0">
                <a:solidFill>
                  <a:srgbClr val="9999BB"/>
                </a:solidFill>
                <a:latin typeface="Calibri"/>
              </a:defRPr>
            </a:pPr>
            <a:r>
              <a:t>Dashboard Modules</a:t>
            </a:r>
          </a:p>
        </p:txBody>
      </p:sp>
      <p:sp>
        <p:nvSpPr>
          <p:cNvPr id="11" name="Rounded Rectangle 10"/>
          <p:cNvSpPr/>
          <p:nvPr/>
        </p:nvSpPr>
        <p:spPr>
          <a:xfrm>
            <a:off x="3383280" y="3474720"/>
            <a:ext cx="2468880" cy="137160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83280" y="3474720"/>
            <a:ext cx="2468880" cy="3810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66160" y="3703320"/>
            <a:ext cx="2103120" cy="548640"/>
          </a:xfrm>
          <a:prstGeom prst="rect">
            <a:avLst/>
          </a:prstGeom>
          <a:noFill/>
        </p:spPr>
        <p:txBody>
          <a:bodyPr wrap="square">
            <a:spAutoFit/>
          </a:bodyPr>
          <a:lstStyle/>
          <a:p>
            <a:pPr algn="l">
              <a:lnSpc>
                <a:spcPts val="3840"/>
              </a:lnSpc>
              <a:spcBef>
                <a:spcPts val="0"/>
              </a:spcBef>
              <a:spcAft>
                <a:spcPts val="0"/>
              </a:spcAft>
              <a:defRPr sz="3200" b="1">
                <a:solidFill>
                  <a:srgbClr val="FFFFFF"/>
                </a:solidFill>
                <a:latin typeface="Calibri"/>
              </a:defRPr>
            </a:pPr>
            <a:r>
              <a:t>3</a:t>
            </a:r>
          </a:p>
        </p:txBody>
      </p:sp>
      <p:sp>
        <p:nvSpPr>
          <p:cNvPr id="14" name="TextBox 13"/>
          <p:cNvSpPr txBox="1"/>
          <p:nvPr/>
        </p:nvSpPr>
        <p:spPr>
          <a:xfrm>
            <a:off x="3566160" y="4297680"/>
            <a:ext cx="2103120" cy="365760"/>
          </a:xfrm>
          <a:prstGeom prst="rect">
            <a:avLst/>
          </a:prstGeom>
          <a:noFill/>
        </p:spPr>
        <p:txBody>
          <a:bodyPr wrap="square">
            <a:spAutoFit/>
          </a:bodyPr>
          <a:lstStyle/>
          <a:p>
            <a:pPr algn="l">
              <a:lnSpc>
                <a:spcPts val="1439"/>
              </a:lnSpc>
              <a:spcBef>
                <a:spcPts val="0"/>
              </a:spcBef>
              <a:spcAft>
                <a:spcPts val="0"/>
              </a:spcAft>
              <a:defRPr sz="1200" b="0">
                <a:solidFill>
                  <a:srgbClr val="9999BB"/>
                </a:solidFill>
                <a:latin typeface="Calibri"/>
              </a:defRPr>
            </a:pPr>
            <a:r>
              <a:t>User Roles</a:t>
            </a:r>
          </a:p>
        </p:txBody>
      </p:sp>
      <p:sp>
        <p:nvSpPr>
          <p:cNvPr id="15" name="Rounded Rectangle 14"/>
          <p:cNvSpPr/>
          <p:nvPr/>
        </p:nvSpPr>
        <p:spPr>
          <a:xfrm>
            <a:off x="731520" y="5029200"/>
            <a:ext cx="2468880" cy="137160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31520" y="5029200"/>
            <a:ext cx="2468880" cy="381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257800"/>
            <a:ext cx="2103120" cy="548640"/>
          </a:xfrm>
          <a:prstGeom prst="rect">
            <a:avLst/>
          </a:prstGeom>
          <a:noFill/>
        </p:spPr>
        <p:txBody>
          <a:bodyPr wrap="square">
            <a:spAutoFit/>
          </a:bodyPr>
          <a:lstStyle/>
          <a:p>
            <a:pPr algn="l">
              <a:lnSpc>
                <a:spcPts val="3840"/>
              </a:lnSpc>
              <a:spcBef>
                <a:spcPts val="0"/>
              </a:spcBef>
              <a:spcAft>
                <a:spcPts val="0"/>
              </a:spcAft>
              <a:defRPr sz="3200" b="1">
                <a:solidFill>
                  <a:srgbClr val="FFFFFF"/>
                </a:solidFill>
                <a:latin typeface="Calibri"/>
              </a:defRPr>
            </a:pPr>
            <a:r>
              <a:t>5</a:t>
            </a:r>
          </a:p>
        </p:txBody>
      </p:sp>
      <p:sp>
        <p:nvSpPr>
          <p:cNvPr id="18" name="TextBox 17"/>
          <p:cNvSpPr txBox="1"/>
          <p:nvPr/>
        </p:nvSpPr>
        <p:spPr>
          <a:xfrm>
            <a:off x="914400" y="5852160"/>
            <a:ext cx="2103120" cy="365760"/>
          </a:xfrm>
          <a:prstGeom prst="rect">
            <a:avLst/>
          </a:prstGeom>
          <a:noFill/>
        </p:spPr>
        <p:txBody>
          <a:bodyPr wrap="square">
            <a:spAutoFit/>
          </a:bodyPr>
          <a:lstStyle/>
          <a:p>
            <a:pPr algn="l">
              <a:lnSpc>
                <a:spcPts val="1439"/>
              </a:lnSpc>
              <a:spcBef>
                <a:spcPts val="0"/>
              </a:spcBef>
              <a:spcAft>
                <a:spcPts val="0"/>
              </a:spcAft>
              <a:defRPr sz="1200" b="0">
                <a:solidFill>
                  <a:srgbClr val="9999BB"/>
                </a:solidFill>
                <a:latin typeface="Calibri"/>
              </a:defRPr>
            </a:pPr>
            <a:r>
              <a:t>Export Types (CSV)</a:t>
            </a:r>
          </a:p>
        </p:txBody>
      </p:sp>
      <p:sp>
        <p:nvSpPr>
          <p:cNvPr id="19" name="Rounded Rectangle 18"/>
          <p:cNvSpPr/>
          <p:nvPr/>
        </p:nvSpPr>
        <p:spPr>
          <a:xfrm>
            <a:off x="3383280" y="5029200"/>
            <a:ext cx="2468880" cy="137160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383280" y="5029200"/>
            <a:ext cx="2468880" cy="381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66160" y="5257800"/>
            <a:ext cx="2103120" cy="548640"/>
          </a:xfrm>
          <a:prstGeom prst="rect">
            <a:avLst/>
          </a:prstGeom>
          <a:noFill/>
        </p:spPr>
        <p:txBody>
          <a:bodyPr wrap="square">
            <a:spAutoFit/>
          </a:bodyPr>
          <a:lstStyle/>
          <a:p>
            <a:pPr algn="l">
              <a:lnSpc>
                <a:spcPts val="3840"/>
              </a:lnSpc>
              <a:spcBef>
                <a:spcPts val="0"/>
              </a:spcBef>
              <a:spcAft>
                <a:spcPts val="0"/>
              </a:spcAft>
              <a:defRPr sz="3200" b="1">
                <a:solidFill>
                  <a:srgbClr val="FFFFFF"/>
                </a:solidFill>
                <a:latin typeface="Calibri"/>
              </a:defRPr>
            </a:pPr>
            <a:r>
              <a:t>24/7</a:t>
            </a:r>
          </a:p>
        </p:txBody>
      </p:sp>
      <p:sp>
        <p:nvSpPr>
          <p:cNvPr id="22" name="TextBox 21"/>
          <p:cNvSpPr txBox="1"/>
          <p:nvPr/>
        </p:nvSpPr>
        <p:spPr>
          <a:xfrm>
            <a:off x="3566160" y="5852160"/>
            <a:ext cx="2103120" cy="365760"/>
          </a:xfrm>
          <a:prstGeom prst="rect">
            <a:avLst/>
          </a:prstGeom>
          <a:noFill/>
        </p:spPr>
        <p:txBody>
          <a:bodyPr wrap="square">
            <a:spAutoFit/>
          </a:bodyPr>
          <a:lstStyle/>
          <a:p>
            <a:pPr algn="l">
              <a:lnSpc>
                <a:spcPts val="1439"/>
              </a:lnSpc>
              <a:spcBef>
                <a:spcPts val="0"/>
              </a:spcBef>
              <a:spcAft>
                <a:spcPts val="0"/>
              </a:spcAft>
              <a:defRPr sz="1200" b="0">
                <a:solidFill>
                  <a:srgbClr val="9999BB"/>
                </a:solidFill>
                <a:latin typeface="Calibri"/>
              </a:defRPr>
            </a:pPr>
            <a:r>
              <a:t>USSD Access</a:t>
            </a:r>
          </a:p>
        </p:txBody>
      </p:sp>
      <p:sp>
        <p:nvSpPr>
          <p:cNvPr id="23" name="Rounded Rectangle 22"/>
          <p:cNvSpPr/>
          <p:nvPr/>
        </p:nvSpPr>
        <p:spPr>
          <a:xfrm>
            <a:off x="6400800" y="1920240"/>
            <a:ext cx="4389120" cy="256032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400800" y="1920240"/>
            <a:ext cx="4389120" cy="5080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29400" y="2057400"/>
            <a:ext cx="3931920" cy="365760"/>
          </a:xfrm>
          <a:prstGeom prst="rect">
            <a:avLst/>
          </a:prstGeom>
          <a:noFill/>
        </p:spPr>
        <p:txBody>
          <a:bodyPr wrap="square">
            <a:spAutoFit/>
          </a:bodyPr>
          <a:lstStyle/>
          <a:p>
            <a:pPr algn="l">
              <a:lnSpc>
                <a:spcPts val="1920"/>
              </a:lnSpc>
              <a:spcBef>
                <a:spcPts val="0"/>
              </a:spcBef>
              <a:spcAft>
                <a:spcPts val="0"/>
              </a:spcAft>
              <a:defRPr sz="1600" b="1">
                <a:solidFill>
                  <a:srgbClr val="6366F1"/>
                </a:solidFill>
                <a:latin typeface="Calibri"/>
              </a:defRPr>
            </a:pPr>
            <a:r>
              <a:t>Multi-Channel Platform</a:t>
            </a:r>
          </a:p>
        </p:txBody>
      </p:sp>
      <p:sp>
        <p:nvSpPr>
          <p:cNvPr id="26" name="TextBox 25"/>
          <p:cNvSpPr txBox="1"/>
          <p:nvPr/>
        </p:nvSpPr>
        <p:spPr>
          <a:xfrm>
            <a:off x="6720840" y="2423160"/>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Web Admin Dashboard — Full management interface</a:t>
            </a:r>
          </a:p>
        </p:txBody>
      </p:sp>
      <p:sp>
        <p:nvSpPr>
          <p:cNvPr id="27" name="TextBox 26"/>
          <p:cNvSpPr txBox="1"/>
          <p:nvPr/>
        </p:nvSpPr>
        <p:spPr>
          <a:xfrm>
            <a:off x="6720840" y="2679192"/>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USSD Service (*384#) — Feature phone access</a:t>
            </a:r>
          </a:p>
        </p:txBody>
      </p:sp>
      <p:sp>
        <p:nvSpPr>
          <p:cNvPr id="28" name="TextBox 27"/>
          <p:cNvSpPr txBox="1"/>
          <p:nvPr/>
        </p:nvSpPr>
        <p:spPr>
          <a:xfrm>
            <a:off x="6720840" y="2935224"/>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Mobile App (React Native) — Citizen portal</a:t>
            </a:r>
          </a:p>
        </p:txBody>
      </p:sp>
      <p:sp>
        <p:nvSpPr>
          <p:cNvPr id="29" name="TextBox 28"/>
          <p:cNvSpPr txBox="1"/>
          <p:nvPr/>
        </p:nvSpPr>
        <p:spPr>
          <a:xfrm>
            <a:off x="6720840" y="3191256"/>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WhatsApp Integration — Messaging channel</a:t>
            </a:r>
          </a:p>
        </p:txBody>
      </p:sp>
      <p:sp>
        <p:nvSpPr>
          <p:cNvPr id="30" name="TextBox 29"/>
          <p:cNvSpPr txBox="1"/>
          <p:nvPr/>
        </p:nvSpPr>
        <p:spPr>
          <a:xfrm>
            <a:off x="6720840" y="3447288"/>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SMS Notifications — Announcement delivery</a:t>
            </a:r>
          </a:p>
        </p:txBody>
      </p:sp>
      <p:sp>
        <p:nvSpPr>
          <p:cNvPr id="31" name="TextBox 30"/>
          <p:cNvSpPr txBox="1"/>
          <p:nvPr/>
        </p:nvSpPr>
        <p:spPr>
          <a:xfrm>
            <a:off x="6720840" y="3703320"/>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AI Chat Assistant — In-dashboard help</a:t>
            </a:r>
          </a:p>
        </p:txBody>
      </p:sp>
      <p:sp>
        <p:nvSpPr>
          <p:cNvPr id="32" name="Rounded Rectangle 31"/>
          <p:cNvSpPr/>
          <p:nvPr/>
        </p:nvSpPr>
        <p:spPr>
          <a:xfrm>
            <a:off x="6400800" y="4754880"/>
            <a:ext cx="4389120" cy="164592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400800" y="4754880"/>
            <a:ext cx="4389120" cy="5080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29400" y="4892040"/>
            <a:ext cx="3931920" cy="365760"/>
          </a:xfrm>
          <a:prstGeom prst="rect">
            <a:avLst/>
          </a:prstGeom>
          <a:noFill/>
        </p:spPr>
        <p:txBody>
          <a:bodyPr wrap="square">
            <a:spAutoFit/>
          </a:bodyPr>
          <a:lstStyle/>
          <a:p>
            <a:pPr algn="l">
              <a:lnSpc>
                <a:spcPts val="1920"/>
              </a:lnSpc>
              <a:spcBef>
                <a:spcPts val="0"/>
              </a:spcBef>
              <a:spcAft>
                <a:spcPts val="0"/>
              </a:spcAft>
              <a:defRPr sz="1600" b="1">
                <a:solidFill>
                  <a:srgbClr val="06B6D4"/>
                </a:solidFill>
                <a:latin typeface="Calibri"/>
              </a:defRPr>
            </a:pPr>
            <a:r>
              <a:t>Core Objectives</a:t>
            </a:r>
          </a:p>
        </p:txBody>
      </p:sp>
      <p:sp>
        <p:nvSpPr>
          <p:cNvPr id="35" name="TextBox 34"/>
          <p:cNvSpPr txBox="1"/>
          <p:nvPr/>
        </p:nvSpPr>
        <p:spPr>
          <a:xfrm>
            <a:off x="6720840" y="5257800"/>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Transparent governance &amp; issue resolution</a:t>
            </a:r>
          </a:p>
        </p:txBody>
      </p:sp>
      <p:sp>
        <p:nvSpPr>
          <p:cNvPr id="36" name="TextBox 35"/>
          <p:cNvSpPr txBox="1"/>
          <p:nvPr/>
        </p:nvSpPr>
        <p:spPr>
          <a:xfrm>
            <a:off x="6720840" y="5513832"/>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Efficient bursary application processing</a:t>
            </a:r>
          </a:p>
        </p:txBody>
      </p:sp>
      <p:sp>
        <p:nvSpPr>
          <p:cNvPr id="37" name="TextBox 36"/>
          <p:cNvSpPr txBox="1"/>
          <p:nvPr/>
        </p:nvSpPr>
        <p:spPr>
          <a:xfrm>
            <a:off x="6720840" y="5769864"/>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Real-time communication with constituents</a:t>
            </a:r>
          </a:p>
        </p:txBody>
      </p:sp>
      <p:sp>
        <p:nvSpPr>
          <p:cNvPr id="38" name="TextBox 37"/>
          <p:cNvSpPr txBox="1"/>
          <p:nvPr/>
        </p:nvSpPr>
        <p:spPr>
          <a:xfrm>
            <a:off x="731520" y="6400800"/>
            <a:ext cx="4572000" cy="365760"/>
          </a:xfrm>
          <a:prstGeom prst="rect">
            <a:avLst/>
          </a:prstGeom>
          <a:noFill/>
        </p:spPr>
        <p:txBody>
          <a:bodyPr wrap="square">
            <a:spAutoFit/>
          </a:bodyPr>
          <a:lstStyle/>
          <a:p>
            <a:pPr algn="l">
              <a:lnSpc>
                <a:spcPts val="1200"/>
              </a:lnSpc>
              <a:spcBef>
                <a:spcPts val="0"/>
              </a:spcBef>
              <a:spcAft>
                <a:spcPts val="0"/>
              </a:spcAft>
              <a:defRPr sz="1000" b="0">
                <a:solidFill>
                  <a:srgbClr val="9999BB"/>
                </a:solidFill>
                <a:latin typeface="Calibri"/>
              </a:defRPr>
            </a:pPr>
            <a:r>
              <a:t>VOO Ward Admin Dashboard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23"/>
        </a:solidFill>
        <a:effectLst/>
      </p:bgPr>
    </p:bg>
    <p:spTree>
      <p:nvGrpSpPr>
        <p:cNvPr id="1" name=""/>
        <p:cNvGrpSpPr/>
        <p:nvPr/>
      </p:nvGrpSpPr>
      <p:grpSpPr/>
      <p:sp>
        <p:nvSpPr>
          <p:cNvPr id="2" name="Rectangle 1"/>
          <p:cNvSpPr/>
          <p:nvPr/>
        </p:nvSpPr>
        <p:spPr>
          <a:xfrm>
            <a:off x="731520" y="548640"/>
            <a:ext cx="2286000" cy="508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85800"/>
            <a:ext cx="10058400" cy="640080"/>
          </a:xfrm>
          <a:prstGeom prst="rect">
            <a:avLst/>
          </a:prstGeom>
          <a:noFill/>
        </p:spPr>
        <p:txBody>
          <a:bodyPr wrap="square">
            <a:spAutoFit/>
          </a:bodyPr>
          <a:lstStyle/>
          <a:p>
            <a:pPr algn="l">
              <a:lnSpc>
                <a:spcPts val="4320"/>
              </a:lnSpc>
              <a:spcBef>
                <a:spcPts val="0"/>
              </a:spcBef>
              <a:spcAft>
                <a:spcPts val="0"/>
              </a:spcAft>
              <a:defRPr sz="3600" b="1">
                <a:solidFill>
                  <a:srgbClr val="FFFFFF"/>
                </a:solidFill>
                <a:latin typeface="Calibri"/>
              </a:defRPr>
            </a:pPr>
            <a:r>
              <a:t>Dashboard Overview</a:t>
            </a:r>
          </a:p>
        </p:txBody>
      </p:sp>
      <p:sp>
        <p:nvSpPr>
          <p:cNvPr id="4" name="TextBox 3"/>
          <p:cNvSpPr txBox="1"/>
          <p:nvPr/>
        </p:nvSpPr>
        <p:spPr>
          <a:xfrm>
            <a:off x="731520" y="1280160"/>
            <a:ext cx="10058400" cy="365760"/>
          </a:xfrm>
          <a:prstGeom prst="rect">
            <a:avLst/>
          </a:prstGeom>
          <a:noFill/>
        </p:spPr>
        <p:txBody>
          <a:bodyPr wrap="square">
            <a:spAutoFit/>
          </a:bodyPr>
          <a:lstStyle/>
          <a:p>
            <a:pPr algn="l">
              <a:lnSpc>
                <a:spcPts val="1920"/>
              </a:lnSpc>
              <a:spcBef>
                <a:spcPts val="0"/>
              </a:spcBef>
              <a:spcAft>
                <a:spcPts val="0"/>
              </a:spcAft>
              <a:defRPr sz="1600" b="0">
                <a:solidFill>
                  <a:srgbClr val="9999BB"/>
                </a:solidFill>
                <a:latin typeface="Calibri"/>
              </a:defRPr>
            </a:pPr>
            <a:r>
              <a:t>Layout, Navigation &amp; Live Statistics</a:t>
            </a:r>
          </a:p>
        </p:txBody>
      </p:sp>
      <p:sp>
        <p:nvSpPr>
          <p:cNvPr id="5" name="Rounded Rectangle 4"/>
          <p:cNvSpPr/>
          <p:nvPr/>
        </p:nvSpPr>
        <p:spPr>
          <a:xfrm>
            <a:off x="11430000" y="0"/>
            <a:ext cx="761695" cy="6858000"/>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2743200" cy="457200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20240"/>
            <a:ext cx="2286000" cy="320040"/>
          </a:xfrm>
          <a:prstGeom prst="rect">
            <a:avLst/>
          </a:prstGeom>
          <a:noFill/>
        </p:spPr>
        <p:txBody>
          <a:bodyPr wrap="square">
            <a:spAutoFit/>
          </a:bodyPr>
          <a:lstStyle/>
          <a:p>
            <a:pPr algn="l">
              <a:lnSpc>
                <a:spcPts val="1320"/>
              </a:lnSpc>
              <a:spcBef>
                <a:spcPts val="0"/>
              </a:spcBef>
              <a:spcAft>
                <a:spcPts val="0"/>
              </a:spcAft>
              <a:defRPr sz="1100" b="1">
                <a:solidFill>
                  <a:srgbClr val="06B6D4"/>
                </a:solidFill>
                <a:latin typeface="Calibri"/>
              </a:defRPr>
            </a:pPr>
            <a:r>
              <a:t>SIDEBAR NAVIGATION</a:t>
            </a:r>
          </a:p>
        </p:txBody>
      </p:sp>
      <p:sp>
        <p:nvSpPr>
          <p:cNvPr id="8" name="Rectangle 7"/>
          <p:cNvSpPr/>
          <p:nvPr/>
        </p:nvSpPr>
        <p:spPr>
          <a:xfrm>
            <a:off x="868680" y="2240280"/>
            <a:ext cx="2286000" cy="508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68680" y="2377440"/>
            <a:ext cx="2377440" cy="36576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402840"/>
            <a:ext cx="2103120" cy="320040"/>
          </a:xfrm>
          <a:prstGeom prst="rect">
            <a:avLst/>
          </a:prstGeom>
          <a:noFill/>
        </p:spPr>
        <p:txBody>
          <a:bodyPr wrap="square">
            <a:spAutoFit/>
          </a:bodyPr>
          <a:lstStyle/>
          <a:p>
            <a:pPr algn="l">
              <a:lnSpc>
                <a:spcPts val="1560"/>
              </a:lnSpc>
              <a:spcBef>
                <a:spcPts val="0"/>
              </a:spcBef>
              <a:spcAft>
                <a:spcPts val="0"/>
              </a:spcAft>
              <a:defRPr sz="1300" b="1">
                <a:solidFill>
                  <a:srgbClr val="FFFFFF"/>
                </a:solidFill>
                <a:latin typeface="Calibri"/>
              </a:defRPr>
            </a:pPr>
            <a:r>
              <a:t>Dashboard</a:t>
            </a:r>
          </a:p>
        </p:txBody>
      </p:sp>
      <p:sp>
        <p:nvSpPr>
          <p:cNvPr id="11" name="TextBox 10"/>
          <p:cNvSpPr txBox="1"/>
          <p:nvPr/>
        </p:nvSpPr>
        <p:spPr>
          <a:xfrm>
            <a:off x="1005840" y="2814320"/>
            <a:ext cx="2103120" cy="320040"/>
          </a:xfrm>
          <a:prstGeom prst="rect">
            <a:avLst/>
          </a:prstGeom>
          <a:noFill/>
        </p:spPr>
        <p:txBody>
          <a:bodyPr wrap="square">
            <a:spAutoFit/>
          </a:bodyPr>
          <a:lstStyle/>
          <a:p>
            <a:pPr algn="l">
              <a:lnSpc>
                <a:spcPts val="1560"/>
              </a:lnSpc>
              <a:spcBef>
                <a:spcPts val="0"/>
              </a:spcBef>
              <a:spcAft>
                <a:spcPts val="0"/>
              </a:spcAft>
              <a:defRPr sz="1300" b="0">
                <a:solidFill>
                  <a:srgbClr val="CCCCCC"/>
                </a:solidFill>
                <a:latin typeface="Calibri"/>
              </a:defRPr>
            </a:pPr>
            <a:r>
              <a:t>Issues</a:t>
            </a:r>
          </a:p>
        </p:txBody>
      </p:sp>
      <p:sp>
        <p:nvSpPr>
          <p:cNvPr id="12" name="TextBox 11"/>
          <p:cNvSpPr txBox="1"/>
          <p:nvPr/>
        </p:nvSpPr>
        <p:spPr>
          <a:xfrm>
            <a:off x="1005840" y="3225800"/>
            <a:ext cx="2103120" cy="320040"/>
          </a:xfrm>
          <a:prstGeom prst="rect">
            <a:avLst/>
          </a:prstGeom>
          <a:noFill/>
        </p:spPr>
        <p:txBody>
          <a:bodyPr wrap="square">
            <a:spAutoFit/>
          </a:bodyPr>
          <a:lstStyle/>
          <a:p>
            <a:pPr algn="l">
              <a:lnSpc>
                <a:spcPts val="1560"/>
              </a:lnSpc>
              <a:spcBef>
                <a:spcPts val="0"/>
              </a:spcBef>
              <a:spcAft>
                <a:spcPts val="0"/>
              </a:spcAft>
              <a:defRPr sz="1300" b="0">
                <a:solidFill>
                  <a:srgbClr val="CCCCCC"/>
                </a:solidFill>
                <a:latin typeface="Calibri"/>
              </a:defRPr>
            </a:pPr>
            <a:r>
              <a:t>Bursaries</a:t>
            </a:r>
          </a:p>
        </p:txBody>
      </p:sp>
      <p:sp>
        <p:nvSpPr>
          <p:cNvPr id="13" name="TextBox 12"/>
          <p:cNvSpPr txBox="1"/>
          <p:nvPr/>
        </p:nvSpPr>
        <p:spPr>
          <a:xfrm>
            <a:off x="1005840" y="3637280"/>
            <a:ext cx="2103120" cy="320040"/>
          </a:xfrm>
          <a:prstGeom prst="rect">
            <a:avLst/>
          </a:prstGeom>
          <a:noFill/>
        </p:spPr>
        <p:txBody>
          <a:bodyPr wrap="square">
            <a:spAutoFit/>
          </a:bodyPr>
          <a:lstStyle/>
          <a:p>
            <a:pPr algn="l">
              <a:lnSpc>
                <a:spcPts val="1560"/>
              </a:lnSpc>
              <a:spcBef>
                <a:spcPts val="0"/>
              </a:spcBef>
              <a:spcAft>
                <a:spcPts val="0"/>
              </a:spcAft>
              <a:defRPr sz="1300" b="0">
                <a:solidFill>
                  <a:srgbClr val="CCCCCC"/>
                </a:solidFill>
                <a:latin typeface="Calibri"/>
              </a:defRPr>
            </a:pPr>
            <a:r>
              <a:t>Constituents</a:t>
            </a:r>
          </a:p>
        </p:txBody>
      </p:sp>
      <p:sp>
        <p:nvSpPr>
          <p:cNvPr id="14" name="TextBox 13"/>
          <p:cNvSpPr txBox="1"/>
          <p:nvPr/>
        </p:nvSpPr>
        <p:spPr>
          <a:xfrm>
            <a:off x="1005840" y="4048760"/>
            <a:ext cx="2103120" cy="320040"/>
          </a:xfrm>
          <a:prstGeom prst="rect">
            <a:avLst/>
          </a:prstGeom>
          <a:noFill/>
        </p:spPr>
        <p:txBody>
          <a:bodyPr wrap="square">
            <a:spAutoFit/>
          </a:bodyPr>
          <a:lstStyle/>
          <a:p>
            <a:pPr algn="l">
              <a:lnSpc>
                <a:spcPts val="1560"/>
              </a:lnSpc>
              <a:spcBef>
                <a:spcPts val="0"/>
              </a:spcBef>
              <a:spcAft>
                <a:spcPts val="0"/>
              </a:spcAft>
              <a:defRPr sz="1300" b="0">
                <a:solidFill>
                  <a:srgbClr val="CCCCCC"/>
                </a:solidFill>
                <a:latin typeface="Calibri"/>
              </a:defRPr>
            </a:pPr>
            <a:r>
              <a:t>Announcements</a:t>
            </a:r>
          </a:p>
        </p:txBody>
      </p:sp>
      <p:sp>
        <p:nvSpPr>
          <p:cNvPr id="15" name="TextBox 14"/>
          <p:cNvSpPr txBox="1"/>
          <p:nvPr/>
        </p:nvSpPr>
        <p:spPr>
          <a:xfrm>
            <a:off x="1005840" y="4460240"/>
            <a:ext cx="2103120" cy="320040"/>
          </a:xfrm>
          <a:prstGeom prst="rect">
            <a:avLst/>
          </a:prstGeom>
          <a:noFill/>
        </p:spPr>
        <p:txBody>
          <a:bodyPr wrap="square">
            <a:spAutoFit/>
          </a:bodyPr>
          <a:lstStyle/>
          <a:p>
            <a:pPr algn="l">
              <a:lnSpc>
                <a:spcPts val="1560"/>
              </a:lnSpc>
              <a:spcBef>
                <a:spcPts val="0"/>
              </a:spcBef>
              <a:spcAft>
                <a:spcPts val="0"/>
              </a:spcAft>
              <a:defRPr sz="1300" b="0">
                <a:solidFill>
                  <a:srgbClr val="CCCCCC"/>
                </a:solidFill>
                <a:latin typeface="Calibri"/>
              </a:defRPr>
            </a:pPr>
            <a:r>
              <a:t>USSD Interactions</a:t>
            </a:r>
          </a:p>
        </p:txBody>
      </p:sp>
      <p:sp>
        <p:nvSpPr>
          <p:cNvPr id="16" name="TextBox 15"/>
          <p:cNvSpPr txBox="1"/>
          <p:nvPr/>
        </p:nvSpPr>
        <p:spPr>
          <a:xfrm>
            <a:off x="1005840" y="4871720"/>
            <a:ext cx="2103120" cy="320040"/>
          </a:xfrm>
          <a:prstGeom prst="rect">
            <a:avLst/>
          </a:prstGeom>
          <a:noFill/>
        </p:spPr>
        <p:txBody>
          <a:bodyPr wrap="square">
            <a:spAutoFit/>
          </a:bodyPr>
          <a:lstStyle/>
          <a:p>
            <a:pPr algn="l">
              <a:lnSpc>
                <a:spcPts val="1560"/>
              </a:lnSpc>
              <a:spcBef>
                <a:spcPts val="0"/>
              </a:spcBef>
              <a:spcAft>
                <a:spcPts val="0"/>
              </a:spcAft>
              <a:defRPr sz="1300" b="0">
                <a:solidFill>
                  <a:srgbClr val="CCCCCC"/>
                </a:solidFill>
                <a:latin typeface="Calibri"/>
              </a:defRPr>
            </a:pPr>
            <a:r>
              <a:t>Settings</a:t>
            </a:r>
          </a:p>
        </p:txBody>
      </p:sp>
      <p:sp>
        <p:nvSpPr>
          <p:cNvPr id="17" name="Rounded Rectangle 16"/>
          <p:cNvSpPr/>
          <p:nvPr/>
        </p:nvSpPr>
        <p:spPr>
          <a:xfrm>
            <a:off x="3840480" y="1828800"/>
            <a:ext cx="6858000" cy="64008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0" y="1920240"/>
            <a:ext cx="2743200" cy="457200"/>
          </a:xfrm>
          <a:prstGeom prst="rect">
            <a:avLst/>
          </a:prstGeom>
          <a:noFill/>
        </p:spPr>
        <p:txBody>
          <a:bodyPr wrap="square">
            <a:spAutoFit/>
          </a:bodyPr>
          <a:lstStyle/>
          <a:p>
            <a:pPr algn="l">
              <a:lnSpc>
                <a:spcPts val="2400"/>
              </a:lnSpc>
              <a:spcBef>
                <a:spcPts val="0"/>
              </a:spcBef>
              <a:spcAft>
                <a:spcPts val="0"/>
              </a:spcAft>
              <a:defRPr sz="2000" b="1">
                <a:solidFill>
                  <a:srgbClr val="FFFFFF"/>
                </a:solidFill>
                <a:latin typeface="Calibri"/>
              </a:defRPr>
            </a:pPr>
            <a:r>
              <a:t>Dashboard</a:t>
            </a:r>
          </a:p>
        </p:txBody>
      </p:sp>
      <p:sp>
        <p:nvSpPr>
          <p:cNvPr id="19" name="TextBox 18"/>
          <p:cNvSpPr txBox="1"/>
          <p:nvPr/>
        </p:nvSpPr>
        <p:spPr>
          <a:xfrm>
            <a:off x="8686800" y="1920240"/>
            <a:ext cx="1828800" cy="457200"/>
          </a:xfrm>
          <a:prstGeom prst="rect">
            <a:avLst/>
          </a:prstGeom>
          <a:noFill/>
        </p:spPr>
        <p:txBody>
          <a:bodyPr wrap="square">
            <a:spAutoFit/>
          </a:bodyPr>
          <a:lstStyle/>
          <a:p>
            <a:pPr algn="r">
              <a:lnSpc>
                <a:spcPts val="1680"/>
              </a:lnSpc>
              <a:spcBef>
                <a:spcPts val="0"/>
              </a:spcBef>
              <a:spcAft>
                <a:spcPts val="0"/>
              </a:spcAft>
              <a:defRPr sz="1400" b="0">
                <a:solidFill>
                  <a:srgbClr val="CCCCCC"/>
                </a:solidFill>
                <a:latin typeface="Calibri"/>
              </a:defRPr>
            </a:pPr>
            <a:r>
              <a:t>Alerts | Search | MCA</a:t>
            </a:r>
          </a:p>
        </p:txBody>
      </p:sp>
      <p:sp>
        <p:nvSpPr>
          <p:cNvPr id="20" name="Rounded Rectangle 19"/>
          <p:cNvSpPr/>
          <p:nvPr/>
        </p:nvSpPr>
        <p:spPr>
          <a:xfrm>
            <a:off x="3840480" y="2743200"/>
            <a:ext cx="1600200" cy="100584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840480" y="2743200"/>
            <a:ext cx="1600200" cy="3810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50208" y="2880360"/>
            <a:ext cx="1371600" cy="411480"/>
          </a:xfrm>
          <a:prstGeom prst="rect">
            <a:avLst/>
          </a:prstGeom>
          <a:noFill/>
        </p:spPr>
        <p:txBody>
          <a:bodyPr wrap="square">
            <a:spAutoFit/>
          </a:bodyPr>
          <a:lstStyle/>
          <a:p>
            <a:pPr algn="l">
              <a:lnSpc>
                <a:spcPts val="2879"/>
              </a:lnSpc>
              <a:spcBef>
                <a:spcPts val="0"/>
              </a:spcBef>
              <a:spcAft>
                <a:spcPts val="0"/>
              </a:spcAft>
              <a:defRPr sz="2400" b="1">
                <a:solidFill>
                  <a:srgbClr val="FFFFFF"/>
                </a:solidFill>
                <a:latin typeface="Calibri"/>
              </a:defRPr>
            </a:pPr>
            <a:r>
              <a:t>148</a:t>
            </a:r>
          </a:p>
        </p:txBody>
      </p:sp>
      <p:sp>
        <p:nvSpPr>
          <p:cNvPr id="23" name="TextBox 22"/>
          <p:cNvSpPr txBox="1"/>
          <p:nvPr/>
        </p:nvSpPr>
        <p:spPr>
          <a:xfrm>
            <a:off x="3950208" y="3337560"/>
            <a:ext cx="1371600" cy="274320"/>
          </a:xfrm>
          <a:prstGeom prst="rect">
            <a:avLst/>
          </a:prstGeom>
          <a:noFill/>
        </p:spPr>
        <p:txBody>
          <a:bodyPr wrap="square">
            <a:spAutoFit/>
          </a:bodyPr>
          <a:lstStyle/>
          <a:p>
            <a:pPr algn="l">
              <a:lnSpc>
                <a:spcPts val="1200"/>
              </a:lnSpc>
              <a:spcBef>
                <a:spcPts val="0"/>
              </a:spcBef>
              <a:spcAft>
                <a:spcPts val="0"/>
              </a:spcAft>
              <a:defRPr sz="1000" b="0">
                <a:solidFill>
                  <a:srgbClr val="9999BB"/>
                </a:solidFill>
                <a:latin typeface="Calibri"/>
              </a:defRPr>
            </a:pPr>
            <a:r>
              <a:t>Total Issues</a:t>
            </a:r>
          </a:p>
        </p:txBody>
      </p:sp>
      <p:sp>
        <p:nvSpPr>
          <p:cNvPr id="24" name="Rounded Rectangle 23"/>
          <p:cNvSpPr/>
          <p:nvPr/>
        </p:nvSpPr>
        <p:spPr>
          <a:xfrm>
            <a:off x="5532120" y="2743200"/>
            <a:ext cx="1600200" cy="100584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532120" y="2743200"/>
            <a:ext cx="1600200" cy="381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41848" y="2880360"/>
            <a:ext cx="1371600" cy="411480"/>
          </a:xfrm>
          <a:prstGeom prst="rect">
            <a:avLst/>
          </a:prstGeom>
          <a:noFill/>
        </p:spPr>
        <p:txBody>
          <a:bodyPr wrap="square">
            <a:spAutoFit/>
          </a:bodyPr>
          <a:lstStyle/>
          <a:p>
            <a:pPr algn="l">
              <a:lnSpc>
                <a:spcPts val="2879"/>
              </a:lnSpc>
              <a:spcBef>
                <a:spcPts val="0"/>
              </a:spcBef>
              <a:spcAft>
                <a:spcPts val="0"/>
              </a:spcAft>
              <a:defRPr sz="2400" b="1">
                <a:solidFill>
                  <a:srgbClr val="FFFFFF"/>
                </a:solidFill>
                <a:latin typeface="Calibri"/>
              </a:defRPr>
            </a:pPr>
            <a:r>
              <a:t>67</a:t>
            </a:r>
          </a:p>
        </p:txBody>
      </p:sp>
      <p:sp>
        <p:nvSpPr>
          <p:cNvPr id="27" name="TextBox 26"/>
          <p:cNvSpPr txBox="1"/>
          <p:nvPr/>
        </p:nvSpPr>
        <p:spPr>
          <a:xfrm>
            <a:off x="5641848" y="3337560"/>
            <a:ext cx="1371600" cy="274320"/>
          </a:xfrm>
          <a:prstGeom prst="rect">
            <a:avLst/>
          </a:prstGeom>
          <a:noFill/>
        </p:spPr>
        <p:txBody>
          <a:bodyPr wrap="square">
            <a:spAutoFit/>
          </a:bodyPr>
          <a:lstStyle/>
          <a:p>
            <a:pPr algn="l">
              <a:lnSpc>
                <a:spcPts val="1200"/>
              </a:lnSpc>
              <a:spcBef>
                <a:spcPts val="0"/>
              </a:spcBef>
              <a:spcAft>
                <a:spcPts val="0"/>
              </a:spcAft>
              <a:defRPr sz="1000" b="0">
                <a:solidFill>
                  <a:srgbClr val="9999BB"/>
                </a:solidFill>
                <a:latin typeface="Calibri"/>
              </a:defRPr>
            </a:pPr>
            <a:r>
              <a:t>Bursaries</a:t>
            </a:r>
          </a:p>
        </p:txBody>
      </p:sp>
      <p:sp>
        <p:nvSpPr>
          <p:cNvPr id="28" name="Rounded Rectangle 27"/>
          <p:cNvSpPr/>
          <p:nvPr/>
        </p:nvSpPr>
        <p:spPr>
          <a:xfrm>
            <a:off x="7223760" y="2743200"/>
            <a:ext cx="1600200" cy="100584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223760" y="2743200"/>
            <a:ext cx="1600200" cy="3810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33488" y="2880360"/>
            <a:ext cx="1371600" cy="411480"/>
          </a:xfrm>
          <a:prstGeom prst="rect">
            <a:avLst/>
          </a:prstGeom>
          <a:noFill/>
        </p:spPr>
        <p:txBody>
          <a:bodyPr wrap="square">
            <a:spAutoFit/>
          </a:bodyPr>
          <a:lstStyle/>
          <a:p>
            <a:pPr algn="l">
              <a:lnSpc>
                <a:spcPts val="2879"/>
              </a:lnSpc>
              <a:spcBef>
                <a:spcPts val="0"/>
              </a:spcBef>
              <a:spcAft>
                <a:spcPts val="0"/>
              </a:spcAft>
              <a:defRPr sz="2400" b="1">
                <a:solidFill>
                  <a:srgbClr val="FFFFFF"/>
                </a:solidFill>
                <a:latin typeface="Calibri"/>
              </a:defRPr>
            </a:pPr>
            <a:r>
              <a:t>1,245</a:t>
            </a:r>
          </a:p>
        </p:txBody>
      </p:sp>
      <p:sp>
        <p:nvSpPr>
          <p:cNvPr id="31" name="TextBox 30"/>
          <p:cNvSpPr txBox="1"/>
          <p:nvPr/>
        </p:nvSpPr>
        <p:spPr>
          <a:xfrm>
            <a:off x="7333488" y="3337560"/>
            <a:ext cx="1371600" cy="274320"/>
          </a:xfrm>
          <a:prstGeom prst="rect">
            <a:avLst/>
          </a:prstGeom>
          <a:noFill/>
        </p:spPr>
        <p:txBody>
          <a:bodyPr wrap="square">
            <a:spAutoFit/>
          </a:bodyPr>
          <a:lstStyle/>
          <a:p>
            <a:pPr algn="l">
              <a:lnSpc>
                <a:spcPts val="1200"/>
              </a:lnSpc>
              <a:spcBef>
                <a:spcPts val="0"/>
              </a:spcBef>
              <a:spcAft>
                <a:spcPts val="0"/>
              </a:spcAft>
              <a:defRPr sz="1000" b="0">
                <a:solidFill>
                  <a:srgbClr val="9999BB"/>
                </a:solidFill>
                <a:latin typeface="Calibri"/>
              </a:defRPr>
            </a:pPr>
            <a:r>
              <a:t>Constituents</a:t>
            </a:r>
          </a:p>
        </p:txBody>
      </p:sp>
      <p:sp>
        <p:nvSpPr>
          <p:cNvPr id="32" name="Rounded Rectangle 31"/>
          <p:cNvSpPr/>
          <p:nvPr/>
        </p:nvSpPr>
        <p:spPr>
          <a:xfrm>
            <a:off x="8915400" y="2743200"/>
            <a:ext cx="1600200" cy="100584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8915400" y="2743200"/>
            <a:ext cx="1600200" cy="381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025128" y="2880360"/>
            <a:ext cx="1371600" cy="411480"/>
          </a:xfrm>
          <a:prstGeom prst="rect">
            <a:avLst/>
          </a:prstGeom>
          <a:noFill/>
        </p:spPr>
        <p:txBody>
          <a:bodyPr wrap="square">
            <a:spAutoFit/>
          </a:bodyPr>
          <a:lstStyle/>
          <a:p>
            <a:pPr algn="l">
              <a:lnSpc>
                <a:spcPts val="2879"/>
              </a:lnSpc>
              <a:spcBef>
                <a:spcPts val="0"/>
              </a:spcBef>
              <a:spcAft>
                <a:spcPts val="0"/>
              </a:spcAft>
              <a:defRPr sz="2400" b="1">
                <a:solidFill>
                  <a:srgbClr val="FFFFFF"/>
                </a:solidFill>
                <a:latin typeface="Calibri"/>
              </a:defRPr>
            </a:pPr>
            <a:r>
              <a:t>892</a:t>
            </a:r>
          </a:p>
        </p:txBody>
      </p:sp>
      <p:sp>
        <p:nvSpPr>
          <p:cNvPr id="35" name="TextBox 34"/>
          <p:cNvSpPr txBox="1"/>
          <p:nvPr/>
        </p:nvSpPr>
        <p:spPr>
          <a:xfrm>
            <a:off x="9025128" y="3337560"/>
            <a:ext cx="1371600" cy="274320"/>
          </a:xfrm>
          <a:prstGeom prst="rect">
            <a:avLst/>
          </a:prstGeom>
          <a:noFill/>
        </p:spPr>
        <p:txBody>
          <a:bodyPr wrap="square">
            <a:spAutoFit/>
          </a:bodyPr>
          <a:lstStyle/>
          <a:p>
            <a:pPr algn="l">
              <a:lnSpc>
                <a:spcPts val="1200"/>
              </a:lnSpc>
              <a:spcBef>
                <a:spcPts val="0"/>
              </a:spcBef>
              <a:spcAft>
                <a:spcPts val="0"/>
              </a:spcAft>
              <a:defRPr sz="1000" b="0">
                <a:solidFill>
                  <a:srgbClr val="9999BB"/>
                </a:solidFill>
                <a:latin typeface="Calibri"/>
              </a:defRPr>
            </a:pPr>
            <a:r>
              <a:t>USSD Sessions</a:t>
            </a:r>
          </a:p>
        </p:txBody>
      </p:sp>
      <p:sp>
        <p:nvSpPr>
          <p:cNvPr id="36" name="TextBox 35"/>
          <p:cNvSpPr txBox="1"/>
          <p:nvPr/>
        </p:nvSpPr>
        <p:spPr>
          <a:xfrm>
            <a:off x="3840480" y="3931920"/>
            <a:ext cx="3657600" cy="320040"/>
          </a:xfrm>
          <a:prstGeom prst="rect">
            <a:avLst/>
          </a:prstGeom>
          <a:noFill/>
        </p:spPr>
        <p:txBody>
          <a:bodyPr wrap="square">
            <a:spAutoFit/>
          </a:bodyPr>
          <a:lstStyle/>
          <a:p>
            <a:pPr algn="l">
              <a:lnSpc>
                <a:spcPts val="1680"/>
              </a:lnSpc>
              <a:spcBef>
                <a:spcPts val="0"/>
              </a:spcBef>
              <a:spcAft>
                <a:spcPts val="0"/>
              </a:spcAft>
              <a:defRPr sz="1400" b="1">
                <a:solidFill>
                  <a:srgbClr val="FFFFFF"/>
                </a:solidFill>
                <a:latin typeface="Calibri"/>
              </a:defRPr>
            </a:pPr>
            <a:r>
              <a:t>Quick Actions</a:t>
            </a:r>
          </a:p>
        </p:txBody>
      </p:sp>
      <p:sp>
        <p:nvSpPr>
          <p:cNvPr id="37" name="Rounded Rectangle 36"/>
          <p:cNvSpPr/>
          <p:nvPr/>
        </p:nvSpPr>
        <p:spPr>
          <a:xfrm>
            <a:off x="3840480" y="4297680"/>
            <a:ext cx="1600200" cy="45720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913632" y="4343400"/>
            <a:ext cx="1463040" cy="365760"/>
          </a:xfrm>
          <a:prstGeom prst="rect">
            <a:avLst/>
          </a:prstGeom>
          <a:noFill/>
        </p:spPr>
        <p:txBody>
          <a:bodyPr wrap="square">
            <a:spAutoFit/>
          </a:bodyPr>
          <a:lstStyle/>
          <a:p>
            <a:pPr algn="ctr">
              <a:lnSpc>
                <a:spcPts val="1200"/>
              </a:lnSpc>
              <a:spcBef>
                <a:spcPts val="0"/>
              </a:spcBef>
              <a:spcAft>
                <a:spcPts val="0"/>
              </a:spcAft>
              <a:defRPr sz="1000" b="1">
                <a:solidFill>
                  <a:srgbClr val="FFFFFF"/>
                </a:solidFill>
                <a:latin typeface="Calibri"/>
              </a:defRPr>
            </a:pPr>
            <a:r>
              <a:t>Add Issue</a:t>
            </a:r>
          </a:p>
        </p:txBody>
      </p:sp>
      <p:sp>
        <p:nvSpPr>
          <p:cNvPr id="39" name="Rounded Rectangle 38"/>
          <p:cNvSpPr/>
          <p:nvPr/>
        </p:nvSpPr>
        <p:spPr>
          <a:xfrm>
            <a:off x="5532120" y="4297680"/>
            <a:ext cx="1600200" cy="4572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605272" y="4343400"/>
            <a:ext cx="1463040" cy="365760"/>
          </a:xfrm>
          <a:prstGeom prst="rect">
            <a:avLst/>
          </a:prstGeom>
          <a:noFill/>
        </p:spPr>
        <p:txBody>
          <a:bodyPr wrap="square">
            <a:spAutoFit/>
          </a:bodyPr>
          <a:lstStyle/>
          <a:p>
            <a:pPr algn="ctr">
              <a:lnSpc>
                <a:spcPts val="1200"/>
              </a:lnSpc>
              <a:spcBef>
                <a:spcPts val="0"/>
              </a:spcBef>
              <a:spcAft>
                <a:spcPts val="0"/>
              </a:spcAft>
              <a:defRPr sz="1000" b="1">
                <a:solidFill>
                  <a:srgbClr val="FFFFFF"/>
                </a:solidFill>
                <a:latin typeface="Calibri"/>
              </a:defRPr>
            </a:pPr>
            <a:r>
              <a:t>Process Bursary</a:t>
            </a:r>
          </a:p>
        </p:txBody>
      </p:sp>
      <p:sp>
        <p:nvSpPr>
          <p:cNvPr id="41" name="Rounded Rectangle 40"/>
          <p:cNvSpPr/>
          <p:nvPr/>
        </p:nvSpPr>
        <p:spPr>
          <a:xfrm>
            <a:off x="7223760" y="4297680"/>
            <a:ext cx="1600200" cy="4572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96912" y="4343400"/>
            <a:ext cx="1463040" cy="365760"/>
          </a:xfrm>
          <a:prstGeom prst="rect">
            <a:avLst/>
          </a:prstGeom>
          <a:noFill/>
        </p:spPr>
        <p:txBody>
          <a:bodyPr wrap="square">
            <a:spAutoFit/>
          </a:bodyPr>
          <a:lstStyle/>
          <a:p>
            <a:pPr algn="ctr">
              <a:lnSpc>
                <a:spcPts val="1200"/>
              </a:lnSpc>
              <a:spcBef>
                <a:spcPts val="0"/>
              </a:spcBef>
              <a:spcAft>
                <a:spcPts val="0"/>
              </a:spcAft>
              <a:defRPr sz="1000" b="1">
                <a:solidFill>
                  <a:srgbClr val="FFFFFF"/>
                </a:solidFill>
                <a:latin typeface="Calibri"/>
              </a:defRPr>
            </a:pPr>
            <a:r>
              <a:t>Send Announcement</a:t>
            </a:r>
          </a:p>
        </p:txBody>
      </p:sp>
      <p:sp>
        <p:nvSpPr>
          <p:cNvPr id="43" name="Rounded Rectangle 42"/>
          <p:cNvSpPr/>
          <p:nvPr/>
        </p:nvSpPr>
        <p:spPr>
          <a:xfrm>
            <a:off x="8915400" y="4297680"/>
            <a:ext cx="1600200" cy="45720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988552" y="4343400"/>
            <a:ext cx="1463040" cy="365760"/>
          </a:xfrm>
          <a:prstGeom prst="rect">
            <a:avLst/>
          </a:prstGeom>
          <a:noFill/>
        </p:spPr>
        <p:txBody>
          <a:bodyPr wrap="square">
            <a:spAutoFit/>
          </a:bodyPr>
          <a:lstStyle/>
          <a:p>
            <a:pPr algn="ctr">
              <a:lnSpc>
                <a:spcPts val="1200"/>
              </a:lnSpc>
              <a:spcBef>
                <a:spcPts val="0"/>
              </a:spcBef>
              <a:spcAft>
                <a:spcPts val="0"/>
              </a:spcAft>
              <a:defRPr sz="1000" b="1">
                <a:solidFill>
                  <a:srgbClr val="FFFFFF"/>
                </a:solidFill>
                <a:latin typeface="Calibri"/>
              </a:defRPr>
            </a:pPr>
            <a:r>
              <a:t>Manage Users</a:t>
            </a:r>
          </a:p>
        </p:txBody>
      </p:sp>
      <p:sp>
        <p:nvSpPr>
          <p:cNvPr id="45" name="TextBox 44"/>
          <p:cNvSpPr txBox="1"/>
          <p:nvPr/>
        </p:nvSpPr>
        <p:spPr>
          <a:xfrm>
            <a:off x="3840480" y="5029200"/>
            <a:ext cx="6400800" cy="320040"/>
          </a:xfrm>
          <a:prstGeom prst="rect">
            <a:avLst/>
          </a:prstGeom>
          <a:noFill/>
        </p:spPr>
        <p:txBody>
          <a:bodyPr wrap="square">
            <a:spAutoFit/>
          </a:bodyPr>
          <a:lstStyle/>
          <a:p>
            <a:pPr algn="l">
              <a:lnSpc>
                <a:spcPts val="1680"/>
              </a:lnSpc>
              <a:spcBef>
                <a:spcPts val="0"/>
              </a:spcBef>
              <a:spcAft>
                <a:spcPts val="0"/>
              </a:spcAft>
              <a:defRPr sz="1400" b="1">
                <a:solidFill>
                  <a:srgbClr val="FFFFFF"/>
                </a:solidFill>
                <a:latin typeface="Calibri"/>
              </a:defRPr>
            </a:pPr>
            <a:r>
              <a:t>Dashboard Features</a:t>
            </a:r>
          </a:p>
        </p:txBody>
      </p:sp>
      <p:sp>
        <p:nvSpPr>
          <p:cNvPr id="46" name="TextBox 45"/>
          <p:cNvSpPr txBox="1"/>
          <p:nvPr/>
        </p:nvSpPr>
        <p:spPr>
          <a:xfrm>
            <a:off x="4023360" y="5349240"/>
            <a:ext cx="6400800" cy="228600"/>
          </a:xfrm>
          <a:prstGeom prst="rect">
            <a:avLst/>
          </a:prstGeom>
          <a:noFill/>
        </p:spPr>
        <p:txBody>
          <a:bodyPr wrap="square">
            <a:spAutoFit/>
          </a:bodyPr>
          <a:lstStyle/>
          <a:p>
            <a:pPr algn="l">
              <a:lnSpc>
                <a:spcPts val="1320"/>
              </a:lnSpc>
              <a:spcBef>
                <a:spcPts val="0"/>
              </a:spcBef>
              <a:spcAft>
                <a:spcPts val="0"/>
              </a:spcAft>
              <a:defRPr sz="1100" b="0">
                <a:solidFill>
                  <a:srgbClr val="CCCCCC"/>
                </a:solidFill>
                <a:latin typeface="Calibri"/>
              </a:defRPr>
            </a:pPr>
            <a:r>
              <a:t>•  Animated stat counters — values count up from 0 on page load</a:t>
            </a:r>
          </a:p>
        </p:txBody>
      </p:sp>
      <p:sp>
        <p:nvSpPr>
          <p:cNvPr id="47" name="TextBox 46"/>
          <p:cNvSpPr txBox="1"/>
          <p:nvPr/>
        </p:nvSpPr>
        <p:spPr>
          <a:xfrm>
            <a:off x="4023360" y="5577840"/>
            <a:ext cx="6400800" cy="228600"/>
          </a:xfrm>
          <a:prstGeom prst="rect">
            <a:avLst/>
          </a:prstGeom>
          <a:noFill/>
        </p:spPr>
        <p:txBody>
          <a:bodyPr wrap="square">
            <a:spAutoFit/>
          </a:bodyPr>
          <a:lstStyle/>
          <a:p>
            <a:pPr algn="l">
              <a:lnSpc>
                <a:spcPts val="1320"/>
              </a:lnSpc>
              <a:spcBef>
                <a:spcPts val="0"/>
              </a:spcBef>
              <a:spcAft>
                <a:spcPts val="0"/>
              </a:spcAft>
              <a:defRPr sz="1100" b="0">
                <a:solidFill>
                  <a:srgbClr val="CCCCCC"/>
                </a:solidFill>
                <a:latin typeface="Calibri"/>
              </a:defRPr>
            </a:pPr>
            <a:r>
              <a:t>•  Glassmorphism UI — backdrop blur with semi-transparent cards</a:t>
            </a:r>
          </a:p>
        </p:txBody>
      </p:sp>
      <p:sp>
        <p:nvSpPr>
          <p:cNvPr id="48" name="TextBox 47"/>
          <p:cNvSpPr txBox="1"/>
          <p:nvPr/>
        </p:nvSpPr>
        <p:spPr>
          <a:xfrm>
            <a:off x="4023360" y="5806440"/>
            <a:ext cx="6400800" cy="228600"/>
          </a:xfrm>
          <a:prstGeom prst="rect">
            <a:avLst/>
          </a:prstGeom>
          <a:noFill/>
        </p:spPr>
        <p:txBody>
          <a:bodyPr wrap="square">
            <a:spAutoFit/>
          </a:bodyPr>
          <a:lstStyle/>
          <a:p>
            <a:pPr algn="l">
              <a:lnSpc>
                <a:spcPts val="1320"/>
              </a:lnSpc>
              <a:spcBef>
                <a:spcPts val="0"/>
              </a:spcBef>
              <a:spcAft>
                <a:spcPts val="0"/>
              </a:spcAft>
              <a:defRPr sz="1100" b="0">
                <a:solidFill>
                  <a:srgbClr val="CCCCCC"/>
                </a:solidFill>
                <a:latin typeface="Calibri"/>
              </a:defRPr>
            </a:pPr>
            <a:r>
              <a:t>•  Real-time updates — 30-second polling for new data</a:t>
            </a:r>
          </a:p>
        </p:txBody>
      </p:sp>
      <p:sp>
        <p:nvSpPr>
          <p:cNvPr id="49" name="TextBox 48"/>
          <p:cNvSpPr txBox="1"/>
          <p:nvPr/>
        </p:nvSpPr>
        <p:spPr>
          <a:xfrm>
            <a:off x="4023360" y="6035040"/>
            <a:ext cx="6400800" cy="228600"/>
          </a:xfrm>
          <a:prstGeom prst="rect">
            <a:avLst/>
          </a:prstGeom>
          <a:noFill/>
        </p:spPr>
        <p:txBody>
          <a:bodyPr wrap="square">
            <a:spAutoFit/>
          </a:bodyPr>
          <a:lstStyle/>
          <a:p>
            <a:pPr algn="l">
              <a:lnSpc>
                <a:spcPts val="1320"/>
              </a:lnSpc>
              <a:spcBef>
                <a:spcPts val="0"/>
              </a:spcBef>
              <a:spcAft>
                <a:spcPts val="0"/>
              </a:spcAft>
              <a:defRPr sz="1100" b="0">
                <a:solidFill>
                  <a:srgbClr val="CCCCCC"/>
                </a:solidFill>
                <a:latin typeface="Calibri"/>
              </a:defRPr>
            </a:pPr>
            <a:r>
              <a:t>•  Breadcrumb navigation — contextual page location</a:t>
            </a:r>
          </a:p>
        </p:txBody>
      </p:sp>
      <p:sp>
        <p:nvSpPr>
          <p:cNvPr id="50" name="TextBox 49"/>
          <p:cNvSpPr txBox="1"/>
          <p:nvPr/>
        </p:nvSpPr>
        <p:spPr>
          <a:xfrm>
            <a:off x="4023360" y="6263640"/>
            <a:ext cx="6400800" cy="228600"/>
          </a:xfrm>
          <a:prstGeom prst="rect">
            <a:avLst/>
          </a:prstGeom>
          <a:noFill/>
        </p:spPr>
        <p:txBody>
          <a:bodyPr wrap="square">
            <a:spAutoFit/>
          </a:bodyPr>
          <a:lstStyle/>
          <a:p>
            <a:pPr algn="l">
              <a:lnSpc>
                <a:spcPts val="1320"/>
              </a:lnSpc>
              <a:spcBef>
                <a:spcPts val="0"/>
              </a:spcBef>
              <a:spcAft>
                <a:spcPts val="0"/>
              </a:spcAft>
              <a:defRPr sz="1100" b="0">
                <a:solidFill>
                  <a:srgbClr val="CCCCCC"/>
                </a:solidFill>
                <a:latin typeface="Calibri"/>
              </a:defRPr>
            </a:pPr>
            <a:r>
              <a:t>•  Responsive design — adapts to desktop, tablet &amp; mobile viewports</a:t>
            </a:r>
          </a:p>
        </p:txBody>
      </p:sp>
      <p:sp>
        <p:nvSpPr>
          <p:cNvPr id="51" name="TextBox 50"/>
          <p:cNvSpPr txBox="1"/>
          <p:nvPr/>
        </p:nvSpPr>
        <p:spPr>
          <a:xfrm>
            <a:off x="731520" y="6400800"/>
            <a:ext cx="4572000" cy="365760"/>
          </a:xfrm>
          <a:prstGeom prst="rect">
            <a:avLst/>
          </a:prstGeom>
          <a:noFill/>
        </p:spPr>
        <p:txBody>
          <a:bodyPr wrap="square">
            <a:spAutoFit/>
          </a:bodyPr>
          <a:lstStyle/>
          <a:p>
            <a:pPr algn="l">
              <a:lnSpc>
                <a:spcPts val="1200"/>
              </a:lnSpc>
              <a:spcBef>
                <a:spcPts val="0"/>
              </a:spcBef>
              <a:spcAft>
                <a:spcPts val="0"/>
              </a:spcAft>
              <a:defRPr sz="1000" b="0">
                <a:solidFill>
                  <a:srgbClr val="9999BB"/>
                </a:solidFill>
                <a:latin typeface="Calibri"/>
              </a:defRPr>
            </a:pPr>
            <a:r>
              <a:t>VOO Ward Admin Dashboard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23"/>
        </a:solidFill>
        <a:effectLst/>
      </p:bgPr>
    </p:bg>
    <p:spTree>
      <p:nvGrpSpPr>
        <p:cNvPr id="1" name=""/>
        <p:cNvGrpSpPr/>
        <p:nvPr/>
      </p:nvGrpSpPr>
      <p:grpSpPr/>
      <p:sp>
        <p:nvSpPr>
          <p:cNvPr id="2" name="Rectangle 1"/>
          <p:cNvSpPr/>
          <p:nvPr/>
        </p:nvSpPr>
        <p:spPr>
          <a:xfrm>
            <a:off x="731520" y="548640"/>
            <a:ext cx="2286000" cy="508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85800"/>
            <a:ext cx="10058400" cy="640080"/>
          </a:xfrm>
          <a:prstGeom prst="rect">
            <a:avLst/>
          </a:prstGeom>
          <a:noFill/>
        </p:spPr>
        <p:txBody>
          <a:bodyPr wrap="square">
            <a:spAutoFit/>
          </a:bodyPr>
          <a:lstStyle/>
          <a:p>
            <a:pPr algn="l">
              <a:lnSpc>
                <a:spcPts val="4320"/>
              </a:lnSpc>
              <a:spcBef>
                <a:spcPts val="0"/>
              </a:spcBef>
              <a:spcAft>
                <a:spcPts val="0"/>
              </a:spcAft>
              <a:defRPr sz="3600" b="1">
                <a:solidFill>
                  <a:srgbClr val="FFFFFF"/>
                </a:solidFill>
                <a:latin typeface="Calibri"/>
              </a:defRPr>
            </a:pPr>
            <a:r>
              <a:t>Issue Management</a:t>
            </a:r>
          </a:p>
        </p:txBody>
      </p:sp>
      <p:sp>
        <p:nvSpPr>
          <p:cNvPr id="4" name="TextBox 3"/>
          <p:cNvSpPr txBox="1"/>
          <p:nvPr/>
        </p:nvSpPr>
        <p:spPr>
          <a:xfrm>
            <a:off x="731520" y="1280160"/>
            <a:ext cx="10058400" cy="365760"/>
          </a:xfrm>
          <a:prstGeom prst="rect">
            <a:avLst/>
          </a:prstGeom>
          <a:noFill/>
        </p:spPr>
        <p:txBody>
          <a:bodyPr wrap="square">
            <a:spAutoFit/>
          </a:bodyPr>
          <a:lstStyle/>
          <a:p>
            <a:pPr algn="l">
              <a:lnSpc>
                <a:spcPts val="1920"/>
              </a:lnSpc>
              <a:spcBef>
                <a:spcPts val="0"/>
              </a:spcBef>
              <a:spcAft>
                <a:spcPts val="0"/>
              </a:spcAft>
              <a:defRPr sz="1600" b="0">
                <a:solidFill>
                  <a:srgbClr val="9999BB"/>
                </a:solidFill>
                <a:latin typeface="Calibri"/>
              </a:defRPr>
            </a:pPr>
            <a:r>
              <a:t>Citizen Issue Tracking, Resolution &amp; Reporting</a:t>
            </a:r>
          </a:p>
        </p:txBody>
      </p:sp>
      <p:sp>
        <p:nvSpPr>
          <p:cNvPr id="5" name="Rounded Rectangle 4"/>
          <p:cNvSpPr/>
          <p:nvPr/>
        </p:nvSpPr>
        <p:spPr>
          <a:xfrm>
            <a:off x="11430000" y="0"/>
            <a:ext cx="761695" cy="6858000"/>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920240"/>
            <a:ext cx="5029200" cy="274320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920240"/>
            <a:ext cx="5029200" cy="5080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57400"/>
            <a:ext cx="4572000" cy="365760"/>
          </a:xfrm>
          <a:prstGeom prst="rect">
            <a:avLst/>
          </a:prstGeom>
          <a:noFill/>
        </p:spPr>
        <p:txBody>
          <a:bodyPr wrap="square">
            <a:spAutoFit/>
          </a:bodyPr>
          <a:lstStyle/>
          <a:p>
            <a:pPr algn="l">
              <a:lnSpc>
                <a:spcPts val="1920"/>
              </a:lnSpc>
              <a:spcBef>
                <a:spcPts val="0"/>
              </a:spcBef>
              <a:spcAft>
                <a:spcPts val="0"/>
              </a:spcAft>
              <a:defRPr sz="1600" b="1">
                <a:solidFill>
                  <a:srgbClr val="6366F1"/>
                </a:solidFill>
                <a:latin typeface="Calibri"/>
              </a:defRPr>
            </a:pPr>
            <a:r>
              <a:t>Core Capabilities</a:t>
            </a:r>
          </a:p>
        </p:txBody>
      </p:sp>
      <p:sp>
        <p:nvSpPr>
          <p:cNvPr id="9" name="TextBox 8"/>
          <p:cNvSpPr txBox="1"/>
          <p:nvPr/>
        </p:nvSpPr>
        <p:spPr>
          <a:xfrm>
            <a:off x="1051560" y="2423160"/>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View all issues — ticket ID, category, message, phone, status, source</a:t>
            </a:r>
          </a:p>
        </p:txBody>
      </p:sp>
      <p:sp>
        <p:nvSpPr>
          <p:cNvPr id="10" name="TextBox 9"/>
          <p:cNvSpPr txBox="1"/>
          <p:nvPr/>
        </p:nvSpPr>
        <p:spPr>
          <a:xfrm>
            <a:off x="1051560" y="2679192"/>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Filter by status: All / Pending / In Progress / Resolved / Closed</a:t>
            </a:r>
          </a:p>
        </p:txBody>
      </p:sp>
      <p:sp>
        <p:nvSpPr>
          <p:cNvPr id="11" name="TextBox 10"/>
          <p:cNvSpPr txBox="1"/>
          <p:nvPr/>
        </p:nvSpPr>
        <p:spPr>
          <a:xfrm>
            <a:off x="1051560" y="2935224"/>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Add new issue via modal (title, description, priority, location)</a:t>
            </a:r>
          </a:p>
        </p:txBody>
      </p:sp>
      <p:sp>
        <p:nvSpPr>
          <p:cNvPr id="12" name="TextBox 11"/>
          <p:cNvSpPr txBox="1"/>
          <p:nvPr/>
        </p:nvSpPr>
        <p:spPr>
          <a:xfrm>
            <a:off x="1051560" y="3191256"/>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Update status with action notes (who acted, when)</a:t>
            </a:r>
          </a:p>
        </p:txBody>
      </p:sp>
      <p:sp>
        <p:nvSpPr>
          <p:cNvPr id="13" name="TextBox 12"/>
          <p:cNvSpPr txBox="1"/>
          <p:nvPr/>
        </p:nvSpPr>
        <p:spPr>
          <a:xfrm>
            <a:off x="1051560" y="3447288"/>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Bulk resolve multiple issues (MCA only, max 200/batch)</a:t>
            </a:r>
          </a:p>
        </p:txBody>
      </p:sp>
      <p:sp>
        <p:nvSpPr>
          <p:cNvPr id="14" name="TextBox 13"/>
          <p:cNvSpPr txBox="1"/>
          <p:nvPr/>
        </p:nvSpPr>
        <p:spPr>
          <a:xfrm>
            <a:off x="1051560" y="3703320"/>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Categories: Infrastructure, Water, Health, &amp; custom</a:t>
            </a:r>
          </a:p>
        </p:txBody>
      </p:sp>
      <p:sp>
        <p:nvSpPr>
          <p:cNvPr id="15" name="TextBox 14"/>
          <p:cNvSpPr txBox="1"/>
          <p:nvPr/>
        </p:nvSpPr>
        <p:spPr>
          <a:xfrm>
            <a:off x="1051560" y="3959352"/>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Auto-update USSD interactions on resolution</a:t>
            </a:r>
          </a:p>
        </p:txBody>
      </p:sp>
      <p:sp>
        <p:nvSpPr>
          <p:cNvPr id="16" name="TextBox 15"/>
          <p:cNvSpPr txBox="1"/>
          <p:nvPr/>
        </p:nvSpPr>
        <p:spPr>
          <a:xfrm>
            <a:off x="1051560" y="4215384"/>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Status summary footer with pending/in-progress/resolved counts</a:t>
            </a:r>
          </a:p>
        </p:txBody>
      </p:sp>
      <p:sp>
        <p:nvSpPr>
          <p:cNvPr id="17" name="Rounded Rectangle 16"/>
          <p:cNvSpPr/>
          <p:nvPr/>
        </p:nvSpPr>
        <p:spPr>
          <a:xfrm>
            <a:off x="6217920" y="1920240"/>
            <a:ext cx="4389120" cy="155448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17920" y="1920240"/>
            <a:ext cx="4389120" cy="508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2057400"/>
            <a:ext cx="3931920" cy="365760"/>
          </a:xfrm>
          <a:prstGeom prst="rect">
            <a:avLst/>
          </a:prstGeom>
          <a:noFill/>
        </p:spPr>
        <p:txBody>
          <a:bodyPr wrap="square">
            <a:spAutoFit/>
          </a:bodyPr>
          <a:lstStyle/>
          <a:p>
            <a:pPr algn="l">
              <a:lnSpc>
                <a:spcPts val="1920"/>
              </a:lnSpc>
              <a:spcBef>
                <a:spcPts val="0"/>
              </a:spcBef>
              <a:spcAft>
                <a:spcPts val="0"/>
              </a:spcAft>
              <a:defRPr sz="1600" b="1">
                <a:solidFill>
                  <a:srgbClr val="F59E0B"/>
                </a:solidFill>
                <a:latin typeface="Calibri"/>
              </a:defRPr>
            </a:pPr>
            <a:r>
              <a:t>Status Workflow</a:t>
            </a:r>
          </a:p>
        </p:txBody>
      </p:sp>
      <p:sp>
        <p:nvSpPr>
          <p:cNvPr id="20" name="TextBox 19"/>
          <p:cNvSpPr txBox="1"/>
          <p:nvPr/>
        </p:nvSpPr>
        <p:spPr>
          <a:xfrm>
            <a:off x="6537960" y="2423160"/>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Open  →  In Progress  →  Resolved  →  Closed</a:t>
            </a:r>
          </a:p>
        </p:txBody>
      </p:sp>
      <p:sp>
        <p:nvSpPr>
          <p:cNvPr id="21" name="TextBox 20"/>
          <p:cNvSpPr txBox="1"/>
          <p:nvPr/>
        </p:nvSpPr>
        <p:spPr>
          <a:xfrm>
            <a:off x="6537960" y="2679192"/>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Each transition recorded with timestamp &amp; user</a:t>
            </a:r>
          </a:p>
        </p:txBody>
      </p:sp>
      <p:sp>
        <p:nvSpPr>
          <p:cNvPr id="22" name="TextBox 21"/>
          <p:cNvSpPr txBox="1"/>
          <p:nvPr/>
        </p:nvSpPr>
        <p:spPr>
          <a:xfrm>
            <a:off x="6537960" y="2935224"/>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Action notes required for status changes</a:t>
            </a:r>
          </a:p>
        </p:txBody>
      </p:sp>
      <p:sp>
        <p:nvSpPr>
          <p:cNvPr id="23" name="Rounded Rectangle 22"/>
          <p:cNvSpPr/>
          <p:nvPr/>
        </p:nvSpPr>
        <p:spPr>
          <a:xfrm>
            <a:off x="6217920" y="3657600"/>
            <a:ext cx="4389120" cy="118872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217920" y="3657600"/>
            <a:ext cx="4389120" cy="5080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3794760"/>
            <a:ext cx="3931920" cy="365760"/>
          </a:xfrm>
          <a:prstGeom prst="rect">
            <a:avLst/>
          </a:prstGeom>
          <a:noFill/>
        </p:spPr>
        <p:txBody>
          <a:bodyPr wrap="square">
            <a:spAutoFit/>
          </a:bodyPr>
          <a:lstStyle/>
          <a:p>
            <a:pPr algn="l">
              <a:lnSpc>
                <a:spcPts val="1920"/>
              </a:lnSpc>
              <a:spcBef>
                <a:spcPts val="0"/>
              </a:spcBef>
              <a:spcAft>
                <a:spcPts val="0"/>
              </a:spcAft>
              <a:defRPr sz="1600" b="1">
                <a:solidFill>
                  <a:srgbClr val="06B6D4"/>
                </a:solidFill>
                <a:latin typeface="Calibri"/>
              </a:defRPr>
            </a:pPr>
            <a:r>
              <a:t>Data Sources</a:t>
            </a:r>
          </a:p>
        </p:txBody>
      </p:sp>
      <p:sp>
        <p:nvSpPr>
          <p:cNvPr id="26" name="TextBox 25"/>
          <p:cNvSpPr txBox="1"/>
          <p:nvPr/>
        </p:nvSpPr>
        <p:spPr>
          <a:xfrm>
            <a:off x="6537960" y="4160520"/>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Web dashboard — manual issue creation</a:t>
            </a:r>
          </a:p>
        </p:txBody>
      </p:sp>
      <p:sp>
        <p:nvSpPr>
          <p:cNvPr id="27" name="TextBox 26"/>
          <p:cNvSpPr txBox="1"/>
          <p:nvPr/>
        </p:nvSpPr>
        <p:spPr>
          <a:xfrm>
            <a:off x="6537960" y="4416552"/>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USSD — citizen-reported via feature phones</a:t>
            </a:r>
          </a:p>
        </p:txBody>
      </p:sp>
      <p:sp>
        <p:nvSpPr>
          <p:cNvPr id="28" name="TextBox 27"/>
          <p:cNvSpPr txBox="1"/>
          <p:nvPr/>
        </p:nvSpPr>
        <p:spPr>
          <a:xfrm>
            <a:off x="6537960" y="4672584"/>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Mobile App — photo &amp; GPS-tagged reports</a:t>
            </a:r>
          </a:p>
        </p:txBody>
      </p:sp>
      <p:sp>
        <p:nvSpPr>
          <p:cNvPr id="29" name="Rounded Rectangle 28"/>
          <p:cNvSpPr/>
          <p:nvPr/>
        </p:nvSpPr>
        <p:spPr>
          <a:xfrm>
            <a:off x="731520" y="4846320"/>
            <a:ext cx="5029200" cy="137160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31520" y="4846320"/>
            <a:ext cx="5029200" cy="508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4983480"/>
            <a:ext cx="4572000" cy="365760"/>
          </a:xfrm>
          <a:prstGeom prst="rect">
            <a:avLst/>
          </a:prstGeom>
          <a:noFill/>
        </p:spPr>
        <p:txBody>
          <a:bodyPr wrap="square">
            <a:spAutoFit/>
          </a:bodyPr>
          <a:lstStyle/>
          <a:p>
            <a:pPr algn="l">
              <a:lnSpc>
                <a:spcPts val="1920"/>
              </a:lnSpc>
              <a:spcBef>
                <a:spcPts val="0"/>
              </a:spcBef>
              <a:spcAft>
                <a:spcPts val="0"/>
              </a:spcAft>
              <a:defRPr sz="1600" b="1">
                <a:solidFill>
                  <a:srgbClr val="10B981"/>
                </a:solidFill>
                <a:latin typeface="Calibri"/>
              </a:defRPr>
            </a:pPr>
            <a:r>
              <a:t>Export &amp; Reporting</a:t>
            </a:r>
          </a:p>
        </p:txBody>
      </p:sp>
      <p:sp>
        <p:nvSpPr>
          <p:cNvPr id="32" name="TextBox 31"/>
          <p:cNvSpPr txBox="1"/>
          <p:nvPr/>
        </p:nvSpPr>
        <p:spPr>
          <a:xfrm>
            <a:off x="1051560" y="5349240"/>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Export issues to CSV with UTF-8 BOM (Excel compatible)</a:t>
            </a:r>
          </a:p>
        </p:txBody>
      </p:sp>
      <p:sp>
        <p:nvSpPr>
          <p:cNvPr id="33" name="TextBox 32"/>
          <p:cNvSpPr txBox="1"/>
          <p:nvPr/>
        </p:nvSpPr>
        <p:spPr>
          <a:xfrm>
            <a:off x="1051560" y="5605272"/>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Date range filtering: Today / 7 days / 30 / 90 / Custom</a:t>
            </a:r>
          </a:p>
        </p:txBody>
      </p:sp>
      <p:sp>
        <p:nvSpPr>
          <p:cNvPr id="34" name="TextBox 33"/>
          <p:cNvSpPr txBox="1"/>
          <p:nvPr/>
        </p:nvSpPr>
        <p:spPr>
          <a:xfrm>
            <a:off x="1051560" y="5861304"/>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Issue analytics: avg resolution time, resolution rate %</a:t>
            </a:r>
          </a:p>
        </p:txBody>
      </p:sp>
      <p:sp>
        <p:nvSpPr>
          <p:cNvPr id="35" name="Rounded Rectangle 34"/>
          <p:cNvSpPr/>
          <p:nvPr/>
        </p:nvSpPr>
        <p:spPr>
          <a:xfrm>
            <a:off x="6217920" y="5029200"/>
            <a:ext cx="4389120" cy="118872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217920" y="5029200"/>
            <a:ext cx="4389120" cy="50800"/>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46520" y="5166360"/>
            <a:ext cx="3931920" cy="365760"/>
          </a:xfrm>
          <a:prstGeom prst="rect">
            <a:avLst/>
          </a:prstGeom>
          <a:noFill/>
        </p:spPr>
        <p:txBody>
          <a:bodyPr wrap="square">
            <a:spAutoFit/>
          </a:bodyPr>
          <a:lstStyle/>
          <a:p>
            <a:pPr algn="l">
              <a:lnSpc>
                <a:spcPts val="1920"/>
              </a:lnSpc>
              <a:spcBef>
                <a:spcPts val="0"/>
              </a:spcBef>
              <a:spcAft>
                <a:spcPts val="0"/>
              </a:spcAft>
              <a:defRPr sz="1600" b="1">
                <a:solidFill>
                  <a:srgbClr val="EF4444"/>
                </a:solidFill>
                <a:latin typeface="Calibri"/>
              </a:defRPr>
            </a:pPr>
            <a:r>
              <a:t>Priority Levels</a:t>
            </a:r>
          </a:p>
        </p:txBody>
      </p:sp>
      <p:sp>
        <p:nvSpPr>
          <p:cNvPr id="38" name="TextBox 37"/>
          <p:cNvSpPr txBox="1"/>
          <p:nvPr/>
        </p:nvSpPr>
        <p:spPr>
          <a:xfrm>
            <a:off x="6537960" y="5532120"/>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Urgent — immediate attention required</a:t>
            </a:r>
          </a:p>
        </p:txBody>
      </p:sp>
      <p:sp>
        <p:nvSpPr>
          <p:cNvPr id="39" name="TextBox 38"/>
          <p:cNvSpPr txBox="1"/>
          <p:nvPr/>
        </p:nvSpPr>
        <p:spPr>
          <a:xfrm>
            <a:off x="6537960" y="5788152"/>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High — address within 24 hours</a:t>
            </a:r>
          </a:p>
        </p:txBody>
      </p:sp>
      <p:sp>
        <p:nvSpPr>
          <p:cNvPr id="40" name="TextBox 39"/>
          <p:cNvSpPr txBox="1"/>
          <p:nvPr/>
        </p:nvSpPr>
        <p:spPr>
          <a:xfrm>
            <a:off x="6537960" y="6044184"/>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Medium — standard processing</a:t>
            </a:r>
          </a:p>
        </p:txBody>
      </p:sp>
      <p:sp>
        <p:nvSpPr>
          <p:cNvPr id="41" name="TextBox 40"/>
          <p:cNvSpPr txBox="1"/>
          <p:nvPr/>
        </p:nvSpPr>
        <p:spPr>
          <a:xfrm>
            <a:off x="6537960" y="6300216"/>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Low — when resources permit</a:t>
            </a:r>
          </a:p>
        </p:txBody>
      </p:sp>
      <p:sp>
        <p:nvSpPr>
          <p:cNvPr id="42" name="TextBox 41"/>
          <p:cNvSpPr txBox="1"/>
          <p:nvPr/>
        </p:nvSpPr>
        <p:spPr>
          <a:xfrm>
            <a:off x="731520" y="6400800"/>
            <a:ext cx="4572000" cy="365760"/>
          </a:xfrm>
          <a:prstGeom prst="rect">
            <a:avLst/>
          </a:prstGeom>
          <a:noFill/>
        </p:spPr>
        <p:txBody>
          <a:bodyPr wrap="square">
            <a:spAutoFit/>
          </a:bodyPr>
          <a:lstStyle/>
          <a:p>
            <a:pPr algn="l">
              <a:lnSpc>
                <a:spcPts val="1200"/>
              </a:lnSpc>
              <a:spcBef>
                <a:spcPts val="0"/>
              </a:spcBef>
              <a:spcAft>
                <a:spcPts val="0"/>
              </a:spcAft>
              <a:defRPr sz="1000" b="0">
                <a:solidFill>
                  <a:srgbClr val="9999BB"/>
                </a:solidFill>
                <a:latin typeface="Calibri"/>
              </a:defRPr>
            </a:pPr>
            <a:r>
              <a:t>VOO Ward Admin Dashboard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0F23"/>
        </a:solidFill>
        <a:effectLst/>
      </p:bgPr>
    </p:bg>
    <p:spTree>
      <p:nvGrpSpPr>
        <p:cNvPr id="1" name=""/>
        <p:cNvGrpSpPr/>
        <p:nvPr/>
      </p:nvGrpSpPr>
      <p:grpSpPr/>
      <p:sp>
        <p:nvSpPr>
          <p:cNvPr id="2" name="Rectangle 1"/>
          <p:cNvSpPr/>
          <p:nvPr/>
        </p:nvSpPr>
        <p:spPr>
          <a:xfrm>
            <a:off x="731520" y="548640"/>
            <a:ext cx="2286000" cy="508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85800"/>
            <a:ext cx="10058400" cy="640080"/>
          </a:xfrm>
          <a:prstGeom prst="rect">
            <a:avLst/>
          </a:prstGeom>
          <a:noFill/>
        </p:spPr>
        <p:txBody>
          <a:bodyPr wrap="square">
            <a:spAutoFit/>
          </a:bodyPr>
          <a:lstStyle/>
          <a:p>
            <a:pPr algn="l">
              <a:lnSpc>
                <a:spcPts val="4320"/>
              </a:lnSpc>
              <a:spcBef>
                <a:spcPts val="0"/>
              </a:spcBef>
              <a:spcAft>
                <a:spcPts val="0"/>
              </a:spcAft>
              <a:defRPr sz="3600" b="1">
                <a:solidFill>
                  <a:srgbClr val="FFFFFF"/>
                </a:solidFill>
                <a:latin typeface="Calibri"/>
              </a:defRPr>
            </a:pPr>
            <a:r>
              <a:t>Bursary Management</a:t>
            </a:r>
          </a:p>
        </p:txBody>
      </p:sp>
      <p:sp>
        <p:nvSpPr>
          <p:cNvPr id="4" name="TextBox 3"/>
          <p:cNvSpPr txBox="1"/>
          <p:nvPr/>
        </p:nvSpPr>
        <p:spPr>
          <a:xfrm>
            <a:off x="731520" y="1280160"/>
            <a:ext cx="10058400" cy="365760"/>
          </a:xfrm>
          <a:prstGeom prst="rect">
            <a:avLst/>
          </a:prstGeom>
          <a:noFill/>
        </p:spPr>
        <p:txBody>
          <a:bodyPr wrap="square">
            <a:spAutoFit/>
          </a:bodyPr>
          <a:lstStyle/>
          <a:p>
            <a:pPr algn="l">
              <a:lnSpc>
                <a:spcPts val="1920"/>
              </a:lnSpc>
              <a:spcBef>
                <a:spcPts val="0"/>
              </a:spcBef>
              <a:spcAft>
                <a:spcPts val="0"/>
              </a:spcAft>
              <a:defRPr sz="1600" b="0">
                <a:solidFill>
                  <a:srgbClr val="9999BB"/>
                </a:solidFill>
                <a:latin typeface="Calibri"/>
              </a:defRPr>
            </a:pPr>
            <a:r>
              <a:t>Student Bursary Application Processing &amp; Disbursement</a:t>
            </a:r>
          </a:p>
        </p:txBody>
      </p:sp>
      <p:sp>
        <p:nvSpPr>
          <p:cNvPr id="5" name="Rounded Rectangle 4"/>
          <p:cNvSpPr/>
          <p:nvPr/>
        </p:nvSpPr>
        <p:spPr>
          <a:xfrm>
            <a:off x="11430000" y="0"/>
            <a:ext cx="761695" cy="6858000"/>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920240"/>
            <a:ext cx="5029200" cy="201168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920240"/>
            <a:ext cx="5029200" cy="508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57400"/>
            <a:ext cx="4572000" cy="365760"/>
          </a:xfrm>
          <a:prstGeom prst="rect">
            <a:avLst/>
          </a:prstGeom>
          <a:noFill/>
        </p:spPr>
        <p:txBody>
          <a:bodyPr wrap="square">
            <a:spAutoFit/>
          </a:bodyPr>
          <a:lstStyle/>
          <a:p>
            <a:pPr algn="l">
              <a:lnSpc>
                <a:spcPts val="1920"/>
              </a:lnSpc>
              <a:spcBef>
                <a:spcPts val="0"/>
              </a:spcBef>
              <a:spcAft>
                <a:spcPts val="0"/>
              </a:spcAft>
              <a:defRPr sz="1600" b="1">
                <a:solidFill>
                  <a:srgbClr val="10B981"/>
                </a:solidFill>
                <a:latin typeface="Calibri"/>
              </a:defRPr>
            </a:pPr>
            <a:r>
              <a:t>Application Processing</a:t>
            </a:r>
          </a:p>
        </p:txBody>
      </p:sp>
      <p:sp>
        <p:nvSpPr>
          <p:cNvPr id="9" name="TextBox 8"/>
          <p:cNvSpPr txBox="1"/>
          <p:nvPr/>
        </p:nvSpPr>
        <p:spPr>
          <a:xfrm>
            <a:off x="1051560" y="2423160"/>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View all bursary applications (ref code, name, institution, amount)</a:t>
            </a:r>
          </a:p>
        </p:txBody>
      </p:sp>
      <p:sp>
        <p:nvSpPr>
          <p:cNvPr id="10" name="TextBox 9"/>
          <p:cNvSpPr txBox="1"/>
          <p:nvPr/>
        </p:nvSpPr>
        <p:spPr>
          <a:xfrm>
            <a:off x="1051560" y="2679192"/>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Process via modal: applicant, ID, amount (KES), decision, notes</a:t>
            </a:r>
          </a:p>
        </p:txBody>
      </p:sp>
      <p:sp>
        <p:nvSpPr>
          <p:cNvPr id="11" name="TextBox 10"/>
          <p:cNvSpPr txBox="1"/>
          <p:nvPr/>
        </p:nvSpPr>
        <p:spPr>
          <a:xfrm>
            <a:off x="1051560" y="2935224"/>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MCA-only access for viewing and status updates</a:t>
            </a:r>
          </a:p>
        </p:txBody>
      </p:sp>
      <p:sp>
        <p:nvSpPr>
          <p:cNvPr id="12" name="TextBox 11"/>
          <p:cNvSpPr txBox="1"/>
          <p:nvPr/>
        </p:nvSpPr>
        <p:spPr>
          <a:xfrm>
            <a:off x="1051560" y="3191256"/>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Export bursary data to CSV</a:t>
            </a:r>
          </a:p>
        </p:txBody>
      </p:sp>
      <p:sp>
        <p:nvSpPr>
          <p:cNvPr id="13" name="TextBox 12"/>
          <p:cNvSpPr txBox="1"/>
          <p:nvPr/>
        </p:nvSpPr>
        <p:spPr>
          <a:xfrm>
            <a:off x="1051560" y="3447288"/>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Linked audit trail for all bursary actions</a:t>
            </a:r>
          </a:p>
        </p:txBody>
      </p:sp>
      <p:sp>
        <p:nvSpPr>
          <p:cNvPr id="14" name="Rounded Rectangle 13"/>
          <p:cNvSpPr/>
          <p:nvPr/>
        </p:nvSpPr>
        <p:spPr>
          <a:xfrm>
            <a:off x="6217920" y="1920240"/>
            <a:ext cx="4389120" cy="201168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17920" y="1920240"/>
            <a:ext cx="4389120" cy="508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2057400"/>
            <a:ext cx="3931920" cy="365760"/>
          </a:xfrm>
          <a:prstGeom prst="rect">
            <a:avLst/>
          </a:prstGeom>
          <a:noFill/>
        </p:spPr>
        <p:txBody>
          <a:bodyPr wrap="square">
            <a:spAutoFit/>
          </a:bodyPr>
          <a:lstStyle/>
          <a:p>
            <a:pPr algn="l">
              <a:lnSpc>
                <a:spcPts val="1920"/>
              </a:lnSpc>
              <a:spcBef>
                <a:spcPts val="0"/>
              </a:spcBef>
              <a:spcAft>
                <a:spcPts val="0"/>
              </a:spcAft>
              <a:defRPr sz="1600" b="1">
                <a:solidFill>
                  <a:srgbClr val="F59E0B"/>
                </a:solidFill>
                <a:latin typeface="Calibri"/>
              </a:defRPr>
            </a:pPr>
            <a:r>
              <a:t>Status Workflow</a:t>
            </a:r>
          </a:p>
        </p:txBody>
      </p:sp>
      <p:sp>
        <p:nvSpPr>
          <p:cNvPr id="17" name="TextBox 16"/>
          <p:cNvSpPr txBox="1"/>
          <p:nvPr/>
        </p:nvSpPr>
        <p:spPr>
          <a:xfrm>
            <a:off x="6537960" y="2423160"/>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Pending → Under Review → Approved → Disbursed</a:t>
            </a:r>
          </a:p>
        </p:txBody>
      </p:sp>
      <p:sp>
        <p:nvSpPr>
          <p:cNvPr id="18" name="TextBox 17"/>
          <p:cNvSpPr txBox="1"/>
          <p:nvPr/>
        </p:nvSpPr>
        <p:spPr>
          <a:xfrm>
            <a:off x="6537960" y="2679192"/>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Pending → Under Review → Rejected (with reason)</a:t>
            </a:r>
          </a:p>
        </p:txBody>
      </p:sp>
      <p:sp>
        <p:nvSpPr>
          <p:cNvPr id="19" name="TextBox 18"/>
          <p:cNvSpPr txBox="1"/>
          <p:nvPr/>
        </p:nvSpPr>
        <p:spPr>
          <a:xfrm>
            <a:off x="6537960" y="2935224"/>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Each status change recorded with timestamp</a:t>
            </a:r>
          </a:p>
        </p:txBody>
      </p:sp>
      <p:sp>
        <p:nvSpPr>
          <p:cNvPr id="20" name="TextBox 19"/>
          <p:cNvSpPr txBox="1"/>
          <p:nvPr/>
        </p:nvSpPr>
        <p:spPr>
          <a:xfrm>
            <a:off x="6537960" y="3191256"/>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Decision notes and reason tracking</a:t>
            </a:r>
          </a:p>
        </p:txBody>
      </p:sp>
      <p:sp>
        <p:nvSpPr>
          <p:cNvPr id="21" name="TextBox 20"/>
          <p:cNvSpPr txBox="1"/>
          <p:nvPr/>
        </p:nvSpPr>
        <p:spPr>
          <a:xfrm>
            <a:off x="6537960" y="3447288"/>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Amount tracking in Kenyan Shillings (KES)</a:t>
            </a:r>
          </a:p>
        </p:txBody>
      </p:sp>
      <p:sp>
        <p:nvSpPr>
          <p:cNvPr id="22" name="Rounded Rectangle 21"/>
          <p:cNvSpPr/>
          <p:nvPr/>
        </p:nvSpPr>
        <p:spPr>
          <a:xfrm>
            <a:off x="731520" y="4206240"/>
            <a:ext cx="5029200" cy="228600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31520" y="4206240"/>
            <a:ext cx="5029200" cy="5080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0120" y="4343400"/>
            <a:ext cx="4572000" cy="365760"/>
          </a:xfrm>
          <a:prstGeom prst="rect">
            <a:avLst/>
          </a:prstGeom>
          <a:noFill/>
        </p:spPr>
        <p:txBody>
          <a:bodyPr wrap="square">
            <a:spAutoFit/>
          </a:bodyPr>
          <a:lstStyle/>
          <a:p>
            <a:pPr algn="l">
              <a:lnSpc>
                <a:spcPts val="1920"/>
              </a:lnSpc>
              <a:spcBef>
                <a:spcPts val="0"/>
              </a:spcBef>
              <a:spcAft>
                <a:spcPts val="0"/>
              </a:spcAft>
              <a:defRPr sz="1600" b="1">
                <a:solidFill>
                  <a:srgbClr val="6366F1"/>
                </a:solidFill>
                <a:latin typeface="Calibri"/>
              </a:defRPr>
            </a:pPr>
            <a:r>
              <a:t>Bursary Analytics</a:t>
            </a:r>
          </a:p>
        </p:txBody>
      </p:sp>
      <p:sp>
        <p:nvSpPr>
          <p:cNvPr id="25" name="TextBox 24"/>
          <p:cNvSpPr txBox="1"/>
          <p:nvPr/>
        </p:nvSpPr>
        <p:spPr>
          <a:xfrm>
            <a:off x="1051560" y="4709160"/>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Bar chart: applications by status (Pending/Approved/Rejected/Received)</a:t>
            </a:r>
          </a:p>
        </p:txBody>
      </p:sp>
      <p:sp>
        <p:nvSpPr>
          <p:cNvPr id="26" name="TextBox 25"/>
          <p:cNvSpPr txBox="1"/>
          <p:nvPr/>
        </p:nvSpPr>
        <p:spPr>
          <a:xfrm>
            <a:off x="1051560" y="4965192"/>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Total applications count</a:t>
            </a:r>
          </a:p>
        </p:txBody>
      </p:sp>
      <p:sp>
        <p:nvSpPr>
          <p:cNvPr id="27" name="TextBox 26"/>
          <p:cNvSpPr txBox="1"/>
          <p:nvPr/>
        </p:nvSpPr>
        <p:spPr>
          <a:xfrm>
            <a:off x="1051560" y="5221224"/>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Total amount requested vs. approved amount</a:t>
            </a:r>
          </a:p>
        </p:txBody>
      </p:sp>
      <p:sp>
        <p:nvSpPr>
          <p:cNvPr id="28" name="TextBox 27"/>
          <p:cNvSpPr txBox="1"/>
          <p:nvPr/>
        </p:nvSpPr>
        <p:spPr>
          <a:xfrm>
            <a:off x="1051560" y="5477256"/>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Approval rate percentage</a:t>
            </a:r>
          </a:p>
        </p:txBody>
      </p:sp>
      <p:sp>
        <p:nvSpPr>
          <p:cNvPr id="29" name="TextBox 28"/>
          <p:cNvSpPr txBox="1"/>
          <p:nvPr/>
        </p:nvSpPr>
        <p:spPr>
          <a:xfrm>
            <a:off x="1051560" y="5733288"/>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Filterable by date range</a:t>
            </a:r>
          </a:p>
        </p:txBody>
      </p:sp>
      <p:sp>
        <p:nvSpPr>
          <p:cNvPr id="30" name="TextBox 29"/>
          <p:cNvSpPr txBox="1"/>
          <p:nvPr/>
        </p:nvSpPr>
        <p:spPr>
          <a:xfrm>
            <a:off x="1051560" y="5989320"/>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Animated counters for key metrics</a:t>
            </a:r>
          </a:p>
        </p:txBody>
      </p:sp>
      <p:sp>
        <p:nvSpPr>
          <p:cNvPr id="31" name="Rounded Rectangle 30"/>
          <p:cNvSpPr/>
          <p:nvPr/>
        </p:nvSpPr>
        <p:spPr>
          <a:xfrm>
            <a:off x="6217920" y="4206240"/>
            <a:ext cx="4389120" cy="228600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217920" y="4206240"/>
            <a:ext cx="4389120" cy="50800"/>
          </a:xfrm>
          <a:prstGeom prst="roundRect">
            <a:avLst/>
          </a:prstGeom>
          <a:solidFill>
            <a:srgbClr val="4C1D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46520" y="4343400"/>
            <a:ext cx="3931920" cy="365760"/>
          </a:xfrm>
          <a:prstGeom prst="rect">
            <a:avLst/>
          </a:prstGeom>
          <a:noFill/>
        </p:spPr>
        <p:txBody>
          <a:bodyPr wrap="square">
            <a:spAutoFit/>
          </a:bodyPr>
          <a:lstStyle/>
          <a:p>
            <a:pPr algn="l">
              <a:lnSpc>
                <a:spcPts val="1920"/>
              </a:lnSpc>
              <a:spcBef>
                <a:spcPts val="0"/>
              </a:spcBef>
              <a:spcAft>
                <a:spcPts val="0"/>
              </a:spcAft>
              <a:defRPr sz="1600" b="1">
                <a:solidFill>
                  <a:srgbClr val="4C1D95"/>
                </a:solidFill>
                <a:latin typeface="Calibri"/>
              </a:defRPr>
            </a:pPr>
            <a:r>
              <a:t>Access Control</a:t>
            </a:r>
          </a:p>
        </p:txBody>
      </p:sp>
      <p:sp>
        <p:nvSpPr>
          <p:cNvPr id="34" name="TextBox 33"/>
          <p:cNvSpPr txBox="1"/>
          <p:nvPr/>
        </p:nvSpPr>
        <p:spPr>
          <a:xfrm>
            <a:off x="6537960" y="4709160"/>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Only MCA (Full Access) role can:</a:t>
            </a:r>
          </a:p>
        </p:txBody>
      </p:sp>
      <p:sp>
        <p:nvSpPr>
          <p:cNvPr id="35" name="TextBox 34"/>
          <p:cNvSpPr txBox="1"/>
          <p:nvPr/>
        </p:nvSpPr>
        <p:spPr>
          <a:xfrm>
            <a:off x="6537960" y="4965192"/>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 View bursary applications</a:t>
            </a:r>
          </a:p>
        </p:txBody>
      </p:sp>
      <p:sp>
        <p:nvSpPr>
          <p:cNvPr id="36" name="TextBox 35"/>
          <p:cNvSpPr txBox="1"/>
          <p:nvPr/>
        </p:nvSpPr>
        <p:spPr>
          <a:xfrm>
            <a:off x="6537960" y="5221224"/>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 Approve or reject applications</a:t>
            </a:r>
          </a:p>
        </p:txBody>
      </p:sp>
      <p:sp>
        <p:nvSpPr>
          <p:cNvPr id="37" name="TextBox 36"/>
          <p:cNvSpPr txBox="1"/>
          <p:nvPr/>
        </p:nvSpPr>
        <p:spPr>
          <a:xfrm>
            <a:off x="6537960" y="5477256"/>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 Modify disbursement status</a:t>
            </a:r>
          </a:p>
        </p:txBody>
      </p:sp>
      <p:sp>
        <p:nvSpPr>
          <p:cNvPr id="38" name="TextBox 37"/>
          <p:cNvSpPr txBox="1"/>
          <p:nvPr/>
        </p:nvSpPr>
        <p:spPr>
          <a:xfrm>
            <a:off x="6537960" y="5733288"/>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 Export bursary reports</a:t>
            </a:r>
          </a:p>
        </p:txBody>
      </p:sp>
      <p:sp>
        <p:nvSpPr>
          <p:cNvPr id="39" name="TextBox 38"/>
          <p:cNvSpPr txBox="1"/>
          <p:nvPr/>
        </p:nvSpPr>
        <p:spPr>
          <a:xfrm>
            <a:off x="6537960" y="5989320"/>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PA/Clerk roles have no bursary access</a:t>
            </a:r>
          </a:p>
        </p:txBody>
      </p:sp>
      <p:sp>
        <p:nvSpPr>
          <p:cNvPr id="40" name="TextBox 39"/>
          <p:cNvSpPr txBox="1"/>
          <p:nvPr/>
        </p:nvSpPr>
        <p:spPr>
          <a:xfrm>
            <a:off x="731520" y="6400800"/>
            <a:ext cx="4572000" cy="365760"/>
          </a:xfrm>
          <a:prstGeom prst="rect">
            <a:avLst/>
          </a:prstGeom>
          <a:noFill/>
        </p:spPr>
        <p:txBody>
          <a:bodyPr wrap="square">
            <a:spAutoFit/>
          </a:bodyPr>
          <a:lstStyle/>
          <a:p>
            <a:pPr algn="l">
              <a:lnSpc>
                <a:spcPts val="1200"/>
              </a:lnSpc>
              <a:spcBef>
                <a:spcPts val="0"/>
              </a:spcBef>
              <a:spcAft>
                <a:spcPts val="0"/>
              </a:spcAft>
              <a:defRPr sz="1000" b="0">
                <a:solidFill>
                  <a:srgbClr val="9999BB"/>
                </a:solidFill>
                <a:latin typeface="Calibri"/>
              </a:defRPr>
            </a:pPr>
            <a:r>
              <a:t>VOO Ward Admin Dashboard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0F23"/>
        </a:solidFill>
        <a:effectLst/>
      </p:bgPr>
    </p:bg>
    <p:spTree>
      <p:nvGrpSpPr>
        <p:cNvPr id="1" name=""/>
        <p:cNvGrpSpPr/>
        <p:nvPr/>
      </p:nvGrpSpPr>
      <p:grpSpPr/>
      <p:sp>
        <p:nvSpPr>
          <p:cNvPr id="2" name="Rectangle 1"/>
          <p:cNvSpPr/>
          <p:nvPr/>
        </p:nvSpPr>
        <p:spPr>
          <a:xfrm>
            <a:off x="731520" y="548640"/>
            <a:ext cx="2286000" cy="508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85800"/>
            <a:ext cx="10058400" cy="640080"/>
          </a:xfrm>
          <a:prstGeom prst="rect">
            <a:avLst/>
          </a:prstGeom>
          <a:noFill/>
        </p:spPr>
        <p:txBody>
          <a:bodyPr wrap="square">
            <a:spAutoFit/>
          </a:bodyPr>
          <a:lstStyle/>
          <a:p>
            <a:pPr algn="l">
              <a:lnSpc>
                <a:spcPts val="4320"/>
              </a:lnSpc>
              <a:spcBef>
                <a:spcPts val="0"/>
              </a:spcBef>
              <a:spcAft>
                <a:spcPts val="0"/>
              </a:spcAft>
              <a:defRPr sz="3600" b="1">
                <a:solidFill>
                  <a:srgbClr val="FFFFFF"/>
                </a:solidFill>
                <a:latin typeface="Calibri"/>
              </a:defRPr>
            </a:pPr>
            <a:r>
              <a:t>Announcements &amp; USSD</a:t>
            </a:r>
          </a:p>
        </p:txBody>
      </p:sp>
      <p:sp>
        <p:nvSpPr>
          <p:cNvPr id="4" name="TextBox 3"/>
          <p:cNvSpPr txBox="1"/>
          <p:nvPr/>
        </p:nvSpPr>
        <p:spPr>
          <a:xfrm>
            <a:off x="731520" y="1280160"/>
            <a:ext cx="10058400" cy="365760"/>
          </a:xfrm>
          <a:prstGeom prst="rect">
            <a:avLst/>
          </a:prstGeom>
          <a:noFill/>
        </p:spPr>
        <p:txBody>
          <a:bodyPr wrap="square">
            <a:spAutoFit/>
          </a:bodyPr>
          <a:lstStyle/>
          <a:p>
            <a:pPr algn="l">
              <a:lnSpc>
                <a:spcPts val="1920"/>
              </a:lnSpc>
              <a:spcBef>
                <a:spcPts val="0"/>
              </a:spcBef>
              <a:spcAft>
                <a:spcPts val="0"/>
              </a:spcAft>
              <a:defRPr sz="1600" b="0">
                <a:solidFill>
                  <a:srgbClr val="9999BB"/>
                </a:solidFill>
                <a:latin typeface="Calibri"/>
              </a:defRPr>
            </a:pPr>
            <a:r>
              <a:t>Ward Communication &amp; Multi-Channel Outreach</a:t>
            </a:r>
          </a:p>
        </p:txBody>
      </p:sp>
      <p:sp>
        <p:nvSpPr>
          <p:cNvPr id="5" name="Rounded Rectangle 4"/>
          <p:cNvSpPr/>
          <p:nvPr/>
        </p:nvSpPr>
        <p:spPr>
          <a:xfrm>
            <a:off x="11430000" y="0"/>
            <a:ext cx="761695" cy="6858000"/>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920240"/>
            <a:ext cx="5029200" cy="228600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920240"/>
            <a:ext cx="5029200" cy="508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57400"/>
            <a:ext cx="4572000" cy="365760"/>
          </a:xfrm>
          <a:prstGeom prst="rect">
            <a:avLst/>
          </a:prstGeom>
          <a:noFill/>
        </p:spPr>
        <p:txBody>
          <a:bodyPr wrap="square">
            <a:spAutoFit/>
          </a:bodyPr>
          <a:lstStyle/>
          <a:p>
            <a:pPr algn="l">
              <a:lnSpc>
                <a:spcPts val="1920"/>
              </a:lnSpc>
              <a:spcBef>
                <a:spcPts val="0"/>
              </a:spcBef>
              <a:spcAft>
                <a:spcPts val="0"/>
              </a:spcAft>
              <a:defRPr sz="1600" b="1">
                <a:solidFill>
                  <a:srgbClr val="F59E0B"/>
                </a:solidFill>
                <a:latin typeface="Calibri"/>
              </a:defRPr>
            </a:pPr>
            <a:r>
              <a:t>Announcements System</a:t>
            </a:r>
          </a:p>
        </p:txBody>
      </p:sp>
      <p:sp>
        <p:nvSpPr>
          <p:cNvPr id="9" name="TextBox 8"/>
          <p:cNvSpPr txBox="1"/>
          <p:nvPr/>
        </p:nvSpPr>
        <p:spPr>
          <a:xfrm>
            <a:off x="1051560" y="2423160"/>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Create announcements with type selection:</a:t>
            </a:r>
          </a:p>
        </p:txBody>
      </p:sp>
      <p:sp>
        <p:nvSpPr>
          <p:cNvPr id="10" name="TextBox 9"/>
          <p:cNvSpPr txBox="1"/>
          <p:nvPr/>
        </p:nvSpPr>
        <p:spPr>
          <a:xfrm>
            <a:off x="1051560" y="2679192"/>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 General Information</a:t>
            </a:r>
          </a:p>
        </p:txBody>
      </p:sp>
      <p:sp>
        <p:nvSpPr>
          <p:cNvPr id="11" name="TextBox 10"/>
          <p:cNvSpPr txBox="1"/>
          <p:nvPr/>
        </p:nvSpPr>
        <p:spPr>
          <a:xfrm>
            <a:off x="1051560" y="2935224"/>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 Urgent Notice</a:t>
            </a:r>
          </a:p>
        </p:txBody>
      </p:sp>
      <p:sp>
        <p:nvSpPr>
          <p:cNvPr id="12" name="TextBox 11"/>
          <p:cNvSpPr txBox="1"/>
          <p:nvPr/>
        </p:nvSpPr>
        <p:spPr>
          <a:xfrm>
            <a:off x="1051560" y="3191256"/>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 Event Notification</a:t>
            </a:r>
          </a:p>
        </p:txBody>
      </p:sp>
      <p:sp>
        <p:nvSpPr>
          <p:cNvPr id="13" name="TextBox 12"/>
          <p:cNvSpPr txBox="1"/>
          <p:nvPr/>
        </p:nvSpPr>
        <p:spPr>
          <a:xfrm>
            <a:off x="1051560" y="3447288"/>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 Service Update</a:t>
            </a:r>
          </a:p>
        </p:txBody>
      </p:sp>
      <p:sp>
        <p:nvSpPr>
          <p:cNvPr id="14" name="TextBox 13"/>
          <p:cNvSpPr txBox="1"/>
          <p:nvPr/>
        </p:nvSpPr>
        <p:spPr>
          <a:xfrm>
            <a:off x="1051560" y="3703320"/>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Optional SMS notification on publish</a:t>
            </a:r>
          </a:p>
        </p:txBody>
      </p:sp>
      <p:sp>
        <p:nvSpPr>
          <p:cNvPr id="15" name="TextBox 14"/>
          <p:cNvSpPr txBox="1"/>
          <p:nvPr/>
        </p:nvSpPr>
        <p:spPr>
          <a:xfrm>
            <a:off x="1051560" y="3959352"/>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Delete old announcements</a:t>
            </a:r>
          </a:p>
        </p:txBody>
      </p:sp>
      <p:sp>
        <p:nvSpPr>
          <p:cNvPr id="16" name="TextBox 15"/>
          <p:cNvSpPr txBox="1"/>
          <p:nvPr/>
        </p:nvSpPr>
        <p:spPr>
          <a:xfrm>
            <a:off x="1051560" y="4215384"/>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Timestamped creation date display</a:t>
            </a:r>
          </a:p>
        </p:txBody>
      </p:sp>
      <p:sp>
        <p:nvSpPr>
          <p:cNvPr id="17" name="Rounded Rectangle 16"/>
          <p:cNvSpPr/>
          <p:nvPr/>
        </p:nvSpPr>
        <p:spPr>
          <a:xfrm>
            <a:off x="6217920" y="1920240"/>
            <a:ext cx="4389120" cy="228600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17920" y="1920240"/>
            <a:ext cx="4389120" cy="5080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2057400"/>
            <a:ext cx="3931920" cy="365760"/>
          </a:xfrm>
          <a:prstGeom prst="rect">
            <a:avLst/>
          </a:prstGeom>
          <a:noFill/>
        </p:spPr>
        <p:txBody>
          <a:bodyPr wrap="square">
            <a:spAutoFit/>
          </a:bodyPr>
          <a:lstStyle/>
          <a:p>
            <a:pPr algn="l">
              <a:lnSpc>
                <a:spcPts val="1920"/>
              </a:lnSpc>
              <a:spcBef>
                <a:spcPts val="0"/>
              </a:spcBef>
              <a:spcAft>
                <a:spcPts val="0"/>
              </a:spcAft>
              <a:defRPr sz="1600" b="1">
                <a:solidFill>
                  <a:srgbClr val="06B6D4"/>
                </a:solidFill>
                <a:latin typeface="Calibri"/>
              </a:defRPr>
            </a:pPr>
            <a:r>
              <a:t>USSD Integration (*384#)</a:t>
            </a:r>
          </a:p>
        </p:txBody>
      </p:sp>
      <p:sp>
        <p:nvSpPr>
          <p:cNvPr id="20" name="TextBox 19"/>
          <p:cNvSpPr txBox="1"/>
          <p:nvPr/>
        </p:nvSpPr>
        <p:spPr>
          <a:xfrm>
            <a:off x="6537960" y="2423160"/>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Full USSD menu system for feature phones</a:t>
            </a:r>
          </a:p>
        </p:txBody>
      </p:sp>
      <p:sp>
        <p:nvSpPr>
          <p:cNvPr id="21" name="TextBox 20"/>
          <p:cNvSpPr txBox="1"/>
          <p:nvPr/>
        </p:nvSpPr>
        <p:spPr>
          <a:xfrm>
            <a:off x="6537960" y="2679192"/>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USSD News Preview — monospace text preview</a:t>
            </a:r>
          </a:p>
        </p:txBody>
      </p:sp>
      <p:sp>
        <p:nvSpPr>
          <p:cNvPr id="22" name="TextBox 21"/>
          <p:cNvSpPr txBox="1"/>
          <p:nvPr/>
        </p:nvSpPr>
        <p:spPr>
          <a:xfrm>
            <a:off x="6537960" y="2935224"/>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News feed API combines announcements + resolved issues</a:t>
            </a:r>
          </a:p>
        </p:txBody>
      </p:sp>
      <p:sp>
        <p:nvSpPr>
          <p:cNvPr id="23" name="TextBox 22"/>
          <p:cNvSpPr txBox="1"/>
          <p:nvPr/>
        </p:nvSpPr>
        <p:spPr>
          <a:xfrm>
            <a:off x="6537960" y="3191256"/>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Paginated display optimized for USSD screens</a:t>
            </a:r>
          </a:p>
        </p:txBody>
      </p:sp>
      <p:sp>
        <p:nvSpPr>
          <p:cNvPr id="24" name="TextBox 23"/>
          <p:cNvSpPr txBox="1"/>
          <p:nvPr/>
        </p:nvSpPr>
        <p:spPr>
          <a:xfrm>
            <a:off x="6537960" y="3447288"/>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Session logging: phone, input, response, IP, timestamp</a:t>
            </a:r>
          </a:p>
        </p:txBody>
      </p:sp>
      <p:sp>
        <p:nvSpPr>
          <p:cNvPr id="25" name="TextBox 24"/>
          <p:cNvSpPr txBox="1"/>
          <p:nvPr/>
        </p:nvSpPr>
        <p:spPr>
          <a:xfrm>
            <a:off x="6537960" y="3703320"/>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USSD interaction export to CSV</a:t>
            </a:r>
          </a:p>
        </p:txBody>
      </p:sp>
      <p:sp>
        <p:nvSpPr>
          <p:cNvPr id="26" name="Rounded Rectangle 25"/>
          <p:cNvSpPr/>
          <p:nvPr/>
        </p:nvSpPr>
        <p:spPr>
          <a:xfrm>
            <a:off x="731520" y="4480560"/>
            <a:ext cx="5029200" cy="182880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31520" y="4480560"/>
            <a:ext cx="5029200" cy="5080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0120" y="4617720"/>
            <a:ext cx="4572000" cy="365760"/>
          </a:xfrm>
          <a:prstGeom prst="rect">
            <a:avLst/>
          </a:prstGeom>
          <a:noFill/>
        </p:spPr>
        <p:txBody>
          <a:bodyPr wrap="square">
            <a:spAutoFit/>
          </a:bodyPr>
          <a:lstStyle/>
          <a:p>
            <a:pPr algn="l">
              <a:lnSpc>
                <a:spcPts val="1920"/>
              </a:lnSpc>
              <a:spcBef>
                <a:spcPts val="0"/>
              </a:spcBef>
              <a:spcAft>
                <a:spcPts val="0"/>
              </a:spcAft>
              <a:defRPr sz="1600" b="1">
                <a:solidFill>
                  <a:srgbClr val="6366F1"/>
                </a:solidFill>
                <a:latin typeface="Calibri"/>
              </a:defRPr>
            </a:pPr>
            <a:r>
              <a:t>Citizen Messages</a:t>
            </a:r>
          </a:p>
        </p:txBody>
      </p:sp>
      <p:sp>
        <p:nvSpPr>
          <p:cNvPr id="29" name="TextBox 28"/>
          <p:cNvSpPr txBox="1"/>
          <p:nvPr/>
        </p:nvSpPr>
        <p:spPr>
          <a:xfrm>
            <a:off x="1051560" y="4983480"/>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Public message submission (no auth required)</a:t>
            </a:r>
          </a:p>
        </p:txBody>
      </p:sp>
      <p:sp>
        <p:nvSpPr>
          <p:cNvPr id="30" name="TextBox 29"/>
          <p:cNvSpPr txBox="1"/>
          <p:nvPr/>
        </p:nvSpPr>
        <p:spPr>
          <a:xfrm>
            <a:off x="1051560" y="5239512"/>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Fields: name, phone, subject, message</a:t>
            </a:r>
          </a:p>
        </p:txBody>
      </p:sp>
      <p:sp>
        <p:nvSpPr>
          <p:cNvPr id="31" name="TextBox 30"/>
          <p:cNvSpPr txBox="1"/>
          <p:nvPr/>
        </p:nvSpPr>
        <p:spPr>
          <a:xfrm>
            <a:off x="1051560" y="5495544"/>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Status workflow: Unread → Read → Replied</a:t>
            </a:r>
          </a:p>
        </p:txBody>
      </p:sp>
      <p:sp>
        <p:nvSpPr>
          <p:cNvPr id="32" name="TextBox 31"/>
          <p:cNvSpPr txBox="1"/>
          <p:nvPr/>
        </p:nvSpPr>
        <p:spPr>
          <a:xfrm>
            <a:off x="1051560" y="5751576"/>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Admin can reply directly from dashboard</a:t>
            </a:r>
          </a:p>
        </p:txBody>
      </p:sp>
      <p:sp>
        <p:nvSpPr>
          <p:cNvPr id="33" name="Rounded Rectangle 32"/>
          <p:cNvSpPr/>
          <p:nvPr/>
        </p:nvSpPr>
        <p:spPr>
          <a:xfrm>
            <a:off x="6217920" y="4480560"/>
            <a:ext cx="4389120" cy="182880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217920" y="4480560"/>
            <a:ext cx="4389120" cy="5080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46520" y="4617720"/>
            <a:ext cx="3931920" cy="274320"/>
          </a:xfrm>
          <a:prstGeom prst="rect">
            <a:avLst/>
          </a:prstGeom>
          <a:noFill/>
        </p:spPr>
        <p:txBody>
          <a:bodyPr wrap="square">
            <a:spAutoFit/>
          </a:bodyPr>
          <a:lstStyle/>
          <a:p>
            <a:pPr algn="l">
              <a:lnSpc>
                <a:spcPts val="1680"/>
              </a:lnSpc>
              <a:spcBef>
                <a:spcPts val="0"/>
              </a:spcBef>
              <a:spcAft>
                <a:spcPts val="0"/>
              </a:spcAft>
              <a:defRPr sz="1400" b="1">
                <a:solidFill>
                  <a:srgbClr val="06B6D4"/>
                </a:solidFill>
                <a:latin typeface="Calibri"/>
              </a:defRPr>
            </a:pPr>
            <a:r>
              <a:t>USSD Menu Structure</a:t>
            </a:r>
          </a:p>
        </p:txBody>
      </p:sp>
      <p:sp>
        <p:nvSpPr>
          <p:cNvPr id="36" name="TextBox 35"/>
          <p:cNvSpPr txBox="1"/>
          <p:nvPr/>
        </p:nvSpPr>
        <p:spPr>
          <a:xfrm>
            <a:off x="6537960" y="4937760"/>
            <a:ext cx="3840480" cy="228600"/>
          </a:xfrm>
          <a:prstGeom prst="rect">
            <a:avLst/>
          </a:prstGeom>
          <a:noFill/>
        </p:spPr>
        <p:txBody>
          <a:bodyPr wrap="square">
            <a:spAutoFit/>
          </a:bodyPr>
          <a:lstStyle/>
          <a:p>
            <a:pPr algn="l">
              <a:lnSpc>
                <a:spcPts val="1320"/>
              </a:lnSpc>
              <a:spcBef>
                <a:spcPts val="0"/>
              </a:spcBef>
              <a:spcAft>
                <a:spcPts val="0"/>
              </a:spcAft>
              <a:defRPr sz="1100" b="0">
                <a:solidFill>
                  <a:srgbClr val="CCCCCC"/>
                </a:solidFill>
                <a:latin typeface="Consolas"/>
              </a:defRPr>
            </a:pPr>
            <a:r>
              <a:t>1. Register as Voter     2. Report an Issue</a:t>
            </a:r>
          </a:p>
        </p:txBody>
      </p:sp>
      <p:sp>
        <p:nvSpPr>
          <p:cNvPr id="37" name="TextBox 36"/>
          <p:cNvSpPr txBox="1"/>
          <p:nvPr/>
        </p:nvSpPr>
        <p:spPr>
          <a:xfrm>
            <a:off x="6537960" y="5193792"/>
            <a:ext cx="3840480" cy="228600"/>
          </a:xfrm>
          <a:prstGeom prst="rect">
            <a:avLst/>
          </a:prstGeom>
          <a:noFill/>
        </p:spPr>
        <p:txBody>
          <a:bodyPr wrap="square">
            <a:spAutoFit/>
          </a:bodyPr>
          <a:lstStyle/>
          <a:p>
            <a:pPr algn="l">
              <a:lnSpc>
                <a:spcPts val="1320"/>
              </a:lnSpc>
              <a:spcBef>
                <a:spcPts val="0"/>
              </a:spcBef>
              <a:spcAft>
                <a:spcPts val="0"/>
              </a:spcAft>
              <a:defRPr sz="1100" b="0">
                <a:solidFill>
                  <a:srgbClr val="CCCCCC"/>
                </a:solidFill>
                <a:latin typeface="Consolas"/>
              </a:defRPr>
            </a:pPr>
            <a:r>
              <a:t>3. Check Issue Status    4. My Registration</a:t>
            </a:r>
          </a:p>
        </p:txBody>
      </p:sp>
      <p:sp>
        <p:nvSpPr>
          <p:cNvPr id="38" name="TextBox 37"/>
          <p:cNvSpPr txBox="1"/>
          <p:nvPr/>
        </p:nvSpPr>
        <p:spPr>
          <a:xfrm>
            <a:off x="6537960" y="5449824"/>
            <a:ext cx="3840480" cy="228600"/>
          </a:xfrm>
          <a:prstGeom prst="rect">
            <a:avLst/>
          </a:prstGeom>
          <a:noFill/>
        </p:spPr>
        <p:txBody>
          <a:bodyPr wrap="square">
            <a:spAutoFit/>
          </a:bodyPr>
          <a:lstStyle/>
          <a:p>
            <a:pPr algn="l">
              <a:lnSpc>
                <a:spcPts val="1320"/>
              </a:lnSpc>
              <a:spcBef>
                <a:spcPts val="0"/>
              </a:spcBef>
              <a:spcAft>
                <a:spcPts val="0"/>
              </a:spcAft>
              <a:defRPr sz="1100" b="0">
                <a:solidFill>
                  <a:srgbClr val="CCCCCC"/>
                </a:solidFill>
                <a:latin typeface="Consolas"/>
              </a:defRPr>
            </a:pPr>
            <a:r>
              <a:t>5. Announcements          6. Contact Us</a:t>
            </a:r>
          </a:p>
        </p:txBody>
      </p:sp>
      <p:sp>
        <p:nvSpPr>
          <p:cNvPr id="39" name="TextBox 38"/>
          <p:cNvSpPr txBox="1"/>
          <p:nvPr/>
        </p:nvSpPr>
        <p:spPr>
          <a:xfrm>
            <a:off x="6537960" y="5705856"/>
            <a:ext cx="3840480" cy="228600"/>
          </a:xfrm>
          <a:prstGeom prst="rect">
            <a:avLst/>
          </a:prstGeom>
          <a:noFill/>
        </p:spPr>
        <p:txBody>
          <a:bodyPr wrap="square">
            <a:spAutoFit/>
          </a:bodyPr>
          <a:lstStyle/>
          <a:p>
            <a:pPr algn="l">
              <a:lnSpc>
                <a:spcPts val="1320"/>
              </a:lnSpc>
              <a:spcBef>
                <a:spcPts val="0"/>
              </a:spcBef>
              <a:spcAft>
                <a:spcPts val="0"/>
              </a:spcAft>
              <a:defRPr sz="1100" b="0">
                <a:solidFill>
                  <a:srgbClr val="CCCCCC"/>
                </a:solidFill>
                <a:latin typeface="Consolas"/>
              </a:defRPr>
            </a:pPr>
            <a:r>
              <a:t>0. Exit</a:t>
            </a:r>
          </a:p>
        </p:txBody>
      </p:sp>
      <p:sp>
        <p:nvSpPr>
          <p:cNvPr id="40" name="TextBox 39"/>
          <p:cNvSpPr txBox="1"/>
          <p:nvPr/>
        </p:nvSpPr>
        <p:spPr>
          <a:xfrm>
            <a:off x="731520" y="6400800"/>
            <a:ext cx="4572000" cy="365760"/>
          </a:xfrm>
          <a:prstGeom prst="rect">
            <a:avLst/>
          </a:prstGeom>
          <a:noFill/>
        </p:spPr>
        <p:txBody>
          <a:bodyPr wrap="square">
            <a:spAutoFit/>
          </a:bodyPr>
          <a:lstStyle/>
          <a:p>
            <a:pPr algn="l">
              <a:lnSpc>
                <a:spcPts val="1200"/>
              </a:lnSpc>
              <a:spcBef>
                <a:spcPts val="0"/>
              </a:spcBef>
              <a:spcAft>
                <a:spcPts val="0"/>
              </a:spcAft>
              <a:defRPr sz="1000" b="0">
                <a:solidFill>
                  <a:srgbClr val="9999BB"/>
                </a:solidFill>
                <a:latin typeface="Calibri"/>
              </a:defRPr>
            </a:pPr>
            <a:r>
              <a:t>VOO Ward Admin Dashboard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0F23"/>
        </a:solidFill>
        <a:effectLst/>
      </p:bgPr>
    </p:bg>
    <p:spTree>
      <p:nvGrpSpPr>
        <p:cNvPr id="1" name=""/>
        <p:cNvGrpSpPr/>
        <p:nvPr/>
      </p:nvGrpSpPr>
      <p:grpSpPr/>
      <p:sp>
        <p:nvSpPr>
          <p:cNvPr id="2" name="Rectangle 1"/>
          <p:cNvSpPr/>
          <p:nvPr/>
        </p:nvSpPr>
        <p:spPr>
          <a:xfrm>
            <a:off x="731520" y="548640"/>
            <a:ext cx="2286000" cy="508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85800"/>
            <a:ext cx="10058400" cy="640080"/>
          </a:xfrm>
          <a:prstGeom prst="rect">
            <a:avLst/>
          </a:prstGeom>
          <a:noFill/>
        </p:spPr>
        <p:txBody>
          <a:bodyPr wrap="square">
            <a:spAutoFit/>
          </a:bodyPr>
          <a:lstStyle/>
          <a:p>
            <a:pPr algn="l">
              <a:lnSpc>
                <a:spcPts val="4320"/>
              </a:lnSpc>
              <a:spcBef>
                <a:spcPts val="0"/>
              </a:spcBef>
              <a:spcAft>
                <a:spcPts val="0"/>
              </a:spcAft>
              <a:defRPr sz="3600" b="1">
                <a:solidFill>
                  <a:srgbClr val="FFFFFF"/>
                </a:solidFill>
                <a:latin typeface="Calibri"/>
              </a:defRPr>
            </a:pPr>
            <a:r>
              <a:t>Constituent Registry</a:t>
            </a:r>
          </a:p>
        </p:txBody>
      </p:sp>
      <p:sp>
        <p:nvSpPr>
          <p:cNvPr id="4" name="TextBox 3"/>
          <p:cNvSpPr txBox="1"/>
          <p:nvPr/>
        </p:nvSpPr>
        <p:spPr>
          <a:xfrm>
            <a:off x="731520" y="1280160"/>
            <a:ext cx="10058400" cy="365760"/>
          </a:xfrm>
          <a:prstGeom prst="rect">
            <a:avLst/>
          </a:prstGeom>
          <a:noFill/>
        </p:spPr>
        <p:txBody>
          <a:bodyPr wrap="square">
            <a:spAutoFit/>
          </a:bodyPr>
          <a:lstStyle/>
          <a:p>
            <a:pPr algn="l">
              <a:lnSpc>
                <a:spcPts val="1920"/>
              </a:lnSpc>
              <a:spcBef>
                <a:spcPts val="0"/>
              </a:spcBef>
              <a:spcAft>
                <a:spcPts val="0"/>
              </a:spcAft>
              <a:defRPr sz="1600" b="0">
                <a:solidFill>
                  <a:srgbClr val="9999BB"/>
                </a:solidFill>
                <a:latin typeface="Calibri"/>
              </a:defRPr>
            </a:pPr>
            <a:r>
              <a:t>Voter Registration &amp; Citizen Data Management</a:t>
            </a:r>
          </a:p>
        </p:txBody>
      </p:sp>
      <p:sp>
        <p:nvSpPr>
          <p:cNvPr id="5" name="Rounded Rectangle 4"/>
          <p:cNvSpPr/>
          <p:nvPr/>
        </p:nvSpPr>
        <p:spPr>
          <a:xfrm>
            <a:off x="11430000" y="0"/>
            <a:ext cx="761695" cy="6858000"/>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920240"/>
            <a:ext cx="5029200" cy="210312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920240"/>
            <a:ext cx="5029200" cy="5080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57400"/>
            <a:ext cx="4572000" cy="365760"/>
          </a:xfrm>
          <a:prstGeom prst="rect">
            <a:avLst/>
          </a:prstGeom>
          <a:noFill/>
        </p:spPr>
        <p:txBody>
          <a:bodyPr wrap="square">
            <a:spAutoFit/>
          </a:bodyPr>
          <a:lstStyle/>
          <a:p>
            <a:pPr algn="l">
              <a:lnSpc>
                <a:spcPts val="1920"/>
              </a:lnSpc>
              <a:spcBef>
                <a:spcPts val="0"/>
              </a:spcBef>
              <a:spcAft>
                <a:spcPts val="0"/>
              </a:spcAft>
              <a:defRPr sz="1600" b="1">
                <a:solidFill>
                  <a:srgbClr val="06B6D4"/>
                </a:solidFill>
                <a:latin typeface="Calibri"/>
              </a:defRPr>
            </a:pPr>
            <a:r>
              <a:t>Registry Features</a:t>
            </a:r>
          </a:p>
        </p:txBody>
      </p:sp>
      <p:sp>
        <p:nvSpPr>
          <p:cNvPr id="9" name="TextBox 8"/>
          <p:cNvSpPr txBox="1"/>
          <p:nvPr/>
        </p:nvSpPr>
        <p:spPr>
          <a:xfrm>
            <a:off x="1051560" y="2423160"/>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View all registered constituents in table view</a:t>
            </a:r>
          </a:p>
        </p:txBody>
      </p:sp>
      <p:sp>
        <p:nvSpPr>
          <p:cNvPr id="10" name="TextBox 9"/>
          <p:cNvSpPr txBox="1"/>
          <p:nvPr/>
        </p:nvSpPr>
        <p:spPr>
          <a:xfrm>
            <a:off x="1051560" y="2679192"/>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Data fields: phone, national ID, full name, location</a:t>
            </a:r>
          </a:p>
        </p:txBody>
      </p:sp>
      <p:sp>
        <p:nvSpPr>
          <p:cNvPr id="11" name="TextBox 10"/>
          <p:cNvSpPr txBox="1"/>
          <p:nvPr/>
        </p:nvSpPr>
        <p:spPr>
          <a:xfrm>
            <a:off x="1051560" y="2935224"/>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Sub-location and village-level grouping</a:t>
            </a:r>
          </a:p>
        </p:txBody>
      </p:sp>
      <p:sp>
        <p:nvSpPr>
          <p:cNvPr id="12" name="TextBox 11"/>
          <p:cNvSpPr txBox="1"/>
          <p:nvPr/>
        </p:nvSpPr>
        <p:spPr>
          <a:xfrm>
            <a:off x="1051560" y="3191256"/>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Verification status tracking per constituent</a:t>
            </a:r>
          </a:p>
        </p:txBody>
      </p:sp>
      <p:sp>
        <p:nvSpPr>
          <p:cNvPr id="13" name="TextBox 12"/>
          <p:cNvSpPr txBox="1"/>
          <p:nvPr/>
        </p:nvSpPr>
        <p:spPr>
          <a:xfrm>
            <a:off x="1051560" y="3447288"/>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Verify or reject with reason documentation</a:t>
            </a:r>
          </a:p>
        </p:txBody>
      </p:sp>
      <p:sp>
        <p:nvSpPr>
          <p:cNvPr id="14" name="TextBox 13"/>
          <p:cNvSpPr txBox="1"/>
          <p:nvPr/>
        </p:nvSpPr>
        <p:spPr>
          <a:xfrm>
            <a:off x="1051560" y="3703320"/>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Export full registry to CSV</a:t>
            </a:r>
          </a:p>
        </p:txBody>
      </p:sp>
      <p:sp>
        <p:nvSpPr>
          <p:cNvPr id="15" name="Rounded Rectangle 14"/>
          <p:cNvSpPr/>
          <p:nvPr/>
        </p:nvSpPr>
        <p:spPr>
          <a:xfrm>
            <a:off x="6217920" y="1920240"/>
            <a:ext cx="4389120" cy="210312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17920" y="1920240"/>
            <a:ext cx="4389120" cy="5080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2057400"/>
            <a:ext cx="3931920" cy="365760"/>
          </a:xfrm>
          <a:prstGeom prst="rect">
            <a:avLst/>
          </a:prstGeom>
          <a:noFill/>
        </p:spPr>
        <p:txBody>
          <a:bodyPr wrap="square">
            <a:spAutoFit/>
          </a:bodyPr>
          <a:lstStyle/>
          <a:p>
            <a:pPr algn="l">
              <a:lnSpc>
                <a:spcPts val="1920"/>
              </a:lnSpc>
              <a:spcBef>
                <a:spcPts val="0"/>
              </a:spcBef>
              <a:spcAft>
                <a:spcPts val="0"/>
              </a:spcAft>
              <a:defRPr sz="1600" b="1">
                <a:solidFill>
                  <a:srgbClr val="6366F1"/>
                </a:solidFill>
                <a:latin typeface="Calibri"/>
              </a:defRPr>
            </a:pPr>
            <a:r>
              <a:t>Registration Channels</a:t>
            </a:r>
          </a:p>
        </p:txBody>
      </p:sp>
      <p:sp>
        <p:nvSpPr>
          <p:cNvPr id="18" name="TextBox 17"/>
          <p:cNvSpPr txBox="1"/>
          <p:nvPr/>
        </p:nvSpPr>
        <p:spPr>
          <a:xfrm>
            <a:off x="6537960" y="2423160"/>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Web admin — manual registration</a:t>
            </a:r>
          </a:p>
        </p:txBody>
      </p:sp>
      <p:sp>
        <p:nvSpPr>
          <p:cNvPr id="19" name="TextBox 18"/>
          <p:cNvSpPr txBox="1"/>
          <p:nvPr/>
        </p:nvSpPr>
        <p:spPr>
          <a:xfrm>
            <a:off x="6537960" y="2679192"/>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USSD — self-registration via *384#</a:t>
            </a:r>
          </a:p>
        </p:txBody>
      </p:sp>
      <p:sp>
        <p:nvSpPr>
          <p:cNvPr id="20" name="TextBox 19"/>
          <p:cNvSpPr txBox="1"/>
          <p:nvPr/>
        </p:nvSpPr>
        <p:spPr>
          <a:xfrm>
            <a:off x="6537960" y="2935224"/>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Mobile App — 5-step registration with ID &amp; selfie</a:t>
            </a:r>
          </a:p>
        </p:txBody>
      </p:sp>
      <p:sp>
        <p:nvSpPr>
          <p:cNvPr id="21" name="TextBox 20"/>
          <p:cNvSpPr txBox="1"/>
          <p:nvPr/>
        </p:nvSpPr>
        <p:spPr>
          <a:xfrm>
            <a:off x="6537960" y="3191256"/>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ID document photo capture</a:t>
            </a:r>
          </a:p>
        </p:txBody>
      </p:sp>
      <p:sp>
        <p:nvSpPr>
          <p:cNvPr id="22" name="TextBox 21"/>
          <p:cNvSpPr txBox="1"/>
          <p:nvPr/>
        </p:nvSpPr>
        <p:spPr>
          <a:xfrm>
            <a:off x="6537960" y="3447288"/>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Selfie verification</a:t>
            </a:r>
          </a:p>
        </p:txBody>
      </p:sp>
      <p:sp>
        <p:nvSpPr>
          <p:cNvPr id="23" name="TextBox 22"/>
          <p:cNvSpPr txBox="1"/>
          <p:nvPr/>
        </p:nvSpPr>
        <p:spPr>
          <a:xfrm>
            <a:off x="6537960" y="3703320"/>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Polling station assignment</a:t>
            </a:r>
          </a:p>
        </p:txBody>
      </p:sp>
      <p:sp>
        <p:nvSpPr>
          <p:cNvPr id="24" name="Rounded Rectangle 23"/>
          <p:cNvSpPr/>
          <p:nvPr/>
        </p:nvSpPr>
        <p:spPr>
          <a:xfrm>
            <a:off x="731520" y="4297680"/>
            <a:ext cx="5029200" cy="201168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31520" y="4297680"/>
            <a:ext cx="5029200" cy="508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4434840"/>
            <a:ext cx="4572000" cy="365760"/>
          </a:xfrm>
          <a:prstGeom prst="rect">
            <a:avLst/>
          </a:prstGeom>
          <a:noFill/>
        </p:spPr>
        <p:txBody>
          <a:bodyPr wrap="square">
            <a:spAutoFit/>
          </a:bodyPr>
          <a:lstStyle/>
          <a:p>
            <a:pPr algn="l">
              <a:lnSpc>
                <a:spcPts val="1920"/>
              </a:lnSpc>
              <a:spcBef>
                <a:spcPts val="0"/>
              </a:spcBef>
              <a:spcAft>
                <a:spcPts val="0"/>
              </a:spcAft>
              <a:defRPr sz="1600" b="1">
                <a:solidFill>
                  <a:srgbClr val="10B981"/>
                </a:solidFill>
                <a:latin typeface="Calibri"/>
              </a:defRPr>
            </a:pPr>
            <a:r>
              <a:t>Data Management</a:t>
            </a:r>
          </a:p>
        </p:txBody>
      </p:sp>
      <p:sp>
        <p:nvSpPr>
          <p:cNvPr id="27" name="TextBox 26"/>
          <p:cNvSpPr txBox="1"/>
          <p:nvPr/>
        </p:nvSpPr>
        <p:spPr>
          <a:xfrm>
            <a:off x="1051560" y="4800600"/>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Table sorting — click column headers (numeric-aware)</a:t>
            </a:r>
          </a:p>
        </p:txBody>
      </p:sp>
      <p:sp>
        <p:nvSpPr>
          <p:cNvPr id="28" name="TextBox 27"/>
          <p:cNvSpPr txBox="1"/>
          <p:nvPr/>
        </p:nvSpPr>
        <p:spPr>
          <a:xfrm>
            <a:off x="1051560" y="5056632"/>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Sort direction indicators (▲/▼)</a:t>
            </a:r>
          </a:p>
        </p:txBody>
      </p:sp>
      <p:sp>
        <p:nvSpPr>
          <p:cNvPr id="29" name="TextBox 28"/>
          <p:cNvSpPr txBox="1"/>
          <p:nvPr/>
        </p:nvSpPr>
        <p:spPr>
          <a:xfrm>
            <a:off x="1051560" y="5312664"/>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Pagination: configurable 10/20/50/100 per page</a:t>
            </a:r>
          </a:p>
        </p:txBody>
      </p:sp>
      <p:sp>
        <p:nvSpPr>
          <p:cNvPr id="30" name="TextBox 29"/>
          <p:cNvSpPr txBox="1"/>
          <p:nvPr/>
        </p:nvSpPr>
        <p:spPr>
          <a:xfrm>
            <a:off x="1051560" y="5568696"/>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Search and filter capabilities</a:t>
            </a:r>
          </a:p>
        </p:txBody>
      </p:sp>
      <p:sp>
        <p:nvSpPr>
          <p:cNvPr id="31" name="TextBox 30"/>
          <p:cNvSpPr txBox="1"/>
          <p:nvPr/>
        </p:nvSpPr>
        <p:spPr>
          <a:xfrm>
            <a:off x="1051560" y="5824728"/>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Secure data handling with input sanitization</a:t>
            </a:r>
          </a:p>
        </p:txBody>
      </p:sp>
      <p:sp>
        <p:nvSpPr>
          <p:cNvPr id="32" name="Rounded Rectangle 31"/>
          <p:cNvSpPr/>
          <p:nvPr/>
        </p:nvSpPr>
        <p:spPr>
          <a:xfrm>
            <a:off x="6217920" y="4297680"/>
            <a:ext cx="4389120" cy="201168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217920" y="4297680"/>
            <a:ext cx="4389120" cy="508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46520" y="4434840"/>
            <a:ext cx="3931920" cy="365760"/>
          </a:xfrm>
          <a:prstGeom prst="rect">
            <a:avLst/>
          </a:prstGeom>
          <a:noFill/>
        </p:spPr>
        <p:txBody>
          <a:bodyPr wrap="square">
            <a:spAutoFit/>
          </a:bodyPr>
          <a:lstStyle/>
          <a:p>
            <a:pPr algn="l">
              <a:lnSpc>
                <a:spcPts val="1920"/>
              </a:lnSpc>
              <a:spcBef>
                <a:spcPts val="0"/>
              </a:spcBef>
              <a:spcAft>
                <a:spcPts val="0"/>
              </a:spcAft>
              <a:defRPr sz="1600" b="1">
                <a:solidFill>
                  <a:srgbClr val="F59E0B"/>
                </a:solidFill>
                <a:latin typeface="Calibri"/>
              </a:defRPr>
            </a:pPr>
            <a:r>
              <a:t>Verification Workflow</a:t>
            </a:r>
          </a:p>
        </p:txBody>
      </p:sp>
      <p:sp>
        <p:nvSpPr>
          <p:cNvPr id="35" name="TextBox 34"/>
          <p:cNvSpPr txBox="1"/>
          <p:nvPr/>
        </p:nvSpPr>
        <p:spPr>
          <a:xfrm>
            <a:off x="6537960" y="4800600"/>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Citizens register via any channel</a:t>
            </a:r>
          </a:p>
        </p:txBody>
      </p:sp>
      <p:sp>
        <p:nvSpPr>
          <p:cNvPr id="36" name="TextBox 35"/>
          <p:cNvSpPr txBox="1"/>
          <p:nvPr/>
        </p:nvSpPr>
        <p:spPr>
          <a:xfrm>
            <a:off x="6537960" y="5056632"/>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Status tracked: Pending / Verified / Rejected</a:t>
            </a:r>
          </a:p>
        </p:txBody>
      </p:sp>
      <p:sp>
        <p:nvSpPr>
          <p:cNvPr id="37" name="TextBox 36"/>
          <p:cNvSpPr txBox="1"/>
          <p:nvPr/>
        </p:nvSpPr>
        <p:spPr>
          <a:xfrm>
            <a:off x="6537960" y="5312664"/>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Admin reviews and verifies identity</a:t>
            </a:r>
          </a:p>
        </p:txBody>
      </p:sp>
      <p:sp>
        <p:nvSpPr>
          <p:cNvPr id="38" name="TextBox 37"/>
          <p:cNvSpPr txBox="1"/>
          <p:nvPr/>
        </p:nvSpPr>
        <p:spPr>
          <a:xfrm>
            <a:off x="6537960" y="5568696"/>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Rejection requires documented reason</a:t>
            </a:r>
          </a:p>
        </p:txBody>
      </p:sp>
      <p:sp>
        <p:nvSpPr>
          <p:cNvPr id="39" name="TextBox 38"/>
          <p:cNvSpPr txBox="1"/>
          <p:nvPr/>
        </p:nvSpPr>
        <p:spPr>
          <a:xfrm>
            <a:off x="6537960" y="5824728"/>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Verified citizens can access all services</a:t>
            </a:r>
          </a:p>
        </p:txBody>
      </p:sp>
      <p:sp>
        <p:nvSpPr>
          <p:cNvPr id="40" name="TextBox 39"/>
          <p:cNvSpPr txBox="1"/>
          <p:nvPr/>
        </p:nvSpPr>
        <p:spPr>
          <a:xfrm>
            <a:off x="731520" y="6400800"/>
            <a:ext cx="4572000" cy="365760"/>
          </a:xfrm>
          <a:prstGeom prst="rect">
            <a:avLst/>
          </a:prstGeom>
          <a:noFill/>
        </p:spPr>
        <p:txBody>
          <a:bodyPr wrap="square">
            <a:spAutoFit/>
          </a:bodyPr>
          <a:lstStyle/>
          <a:p>
            <a:pPr algn="l">
              <a:lnSpc>
                <a:spcPts val="1200"/>
              </a:lnSpc>
              <a:spcBef>
                <a:spcPts val="0"/>
              </a:spcBef>
              <a:spcAft>
                <a:spcPts val="0"/>
              </a:spcAft>
              <a:defRPr sz="1000" b="0">
                <a:solidFill>
                  <a:srgbClr val="9999BB"/>
                </a:solidFill>
                <a:latin typeface="Calibri"/>
              </a:defRPr>
            </a:pPr>
            <a:r>
              <a:t>VOO Ward Admin Dashboard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0F23"/>
        </a:solidFill>
        <a:effectLst/>
      </p:bgPr>
    </p:bg>
    <p:spTree>
      <p:nvGrpSpPr>
        <p:cNvPr id="1" name=""/>
        <p:cNvGrpSpPr/>
        <p:nvPr/>
      </p:nvGrpSpPr>
      <p:grpSpPr/>
      <p:sp>
        <p:nvSpPr>
          <p:cNvPr id="2" name="Rectangle 1"/>
          <p:cNvSpPr/>
          <p:nvPr/>
        </p:nvSpPr>
        <p:spPr>
          <a:xfrm>
            <a:off x="731520" y="548640"/>
            <a:ext cx="2286000" cy="508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85800"/>
            <a:ext cx="10058400" cy="640080"/>
          </a:xfrm>
          <a:prstGeom prst="rect">
            <a:avLst/>
          </a:prstGeom>
          <a:noFill/>
        </p:spPr>
        <p:txBody>
          <a:bodyPr wrap="square">
            <a:spAutoFit/>
          </a:bodyPr>
          <a:lstStyle/>
          <a:p>
            <a:pPr algn="l">
              <a:lnSpc>
                <a:spcPts val="4320"/>
              </a:lnSpc>
              <a:spcBef>
                <a:spcPts val="0"/>
              </a:spcBef>
              <a:spcAft>
                <a:spcPts val="0"/>
              </a:spcAft>
              <a:defRPr sz="3600" b="1">
                <a:solidFill>
                  <a:srgbClr val="FFFFFF"/>
                </a:solidFill>
                <a:latin typeface="Calibri"/>
              </a:defRPr>
            </a:pPr>
            <a:r>
              <a:t>User Management &amp; Roles</a:t>
            </a:r>
          </a:p>
        </p:txBody>
      </p:sp>
      <p:sp>
        <p:nvSpPr>
          <p:cNvPr id="4" name="TextBox 3"/>
          <p:cNvSpPr txBox="1"/>
          <p:nvPr/>
        </p:nvSpPr>
        <p:spPr>
          <a:xfrm>
            <a:off x="731520" y="1280160"/>
            <a:ext cx="10058400" cy="365760"/>
          </a:xfrm>
          <a:prstGeom prst="rect">
            <a:avLst/>
          </a:prstGeom>
          <a:noFill/>
        </p:spPr>
        <p:txBody>
          <a:bodyPr wrap="square">
            <a:spAutoFit/>
          </a:bodyPr>
          <a:lstStyle/>
          <a:p>
            <a:pPr algn="l">
              <a:lnSpc>
                <a:spcPts val="1920"/>
              </a:lnSpc>
              <a:spcBef>
                <a:spcPts val="0"/>
              </a:spcBef>
              <a:spcAft>
                <a:spcPts val="0"/>
              </a:spcAft>
              <a:defRPr sz="1600" b="0">
                <a:solidFill>
                  <a:srgbClr val="9999BB"/>
                </a:solidFill>
                <a:latin typeface="Calibri"/>
              </a:defRPr>
            </a:pPr>
            <a:r>
              <a:t>Admin Accounts, Access Control &amp; Permissions</a:t>
            </a:r>
          </a:p>
        </p:txBody>
      </p:sp>
      <p:sp>
        <p:nvSpPr>
          <p:cNvPr id="5" name="Rounded Rectangle 4"/>
          <p:cNvSpPr/>
          <p:nvPr/>
        </p:nvSpPr>
        <p:spPr>
          <a:xfrm>
            <a:off x="11430000" y="0"/>
            <a:ext cx="761695" cy="6858000"/>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920240"/>
            <a:ext cx="3291840" cy="347472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920240"/>
            <a:ext cx="3291840" cy="5080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57400"/>
            <a:ext cx="2834640" cy="365760"/>
          </a:xfrm>
          <a:prstGeom prst="rect">
            <a:avLst/>
          </a:prstGeom>
          <a:noFill/>
        </p:spPr>
        <p:txBody>
          <a:bodyPr wrap="square">
            <a:spAutoFit/>
          </a:bodyPr>
          <a:lstStyle/>
          <a:p>
            <a:pPr algn="l">
              <a:lnSpc>
                <a:spcPts val="1920"/>
              </a:lnSpc>
              <a:spcBef>
                <a:spcPts val="0"/>
              </a:spcBef>
              <a:spcAft>
                <a:spcPts val="0"/>
              </a:spcAft>
              <a:defRPr sz="1600" b="1">
                <a:solidFill>
                  <a:srgbClr val="6366F1"/>
                </a:solidFill>
                <a:latin typeface="Calibri"/>
              </a:defRPr>
            </a:pPr>
            <a:r>
              <a:t>MCA — Full Access</a:t>
            </a:r>
          </a:p>
        </p:txBody>
      </p:sp>
      <p:sp>
        <p:nvSpPr>
          <p:cNvPr id="9" name="TextBox 8"/>
          <p:cNvSpPr txBox="1"/>
          <p:nvPr/>
        </p:nvSpPr>
        <p:spPr>
          <a:xfrm>
            <a:off x="1051560" y="2423160"/>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Super Admin / Member of County Assembly</a:t>
            </a:r>
          </a:p>
        </p:txBody>
      </p:sp>
      <p:sp>
        <p:nvSpPr>
          <p:cNvPr id="10" name="TextBox 9"/>
          <p:cNvSpPr txBox="1"/>
          <p:nvPr/>
        </p:nvSpPr>
        <p:spPr>
          <a:xfrm>
            <a:off x="1051560" y="2679192"/>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Full access to all modules</a:t>
            </a:r>
          </a:p>
        </p:txBody>
      </p:sp>
      <p:sp>
        <p:nvSpPr>
          <p:cNvPr id="11" name="TextBox 10"/>
          <p:cNvSpPr txBox="1"/>
          <p:nvPr/>
        </p:nvSpPr>
        <p:spPr>
          <a:xfrm>
            <a:off x="1051560" y="2935224"/>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Manage users (add/edit/delete)</a:t>
            </a:r>
          </a:p>
        </p:txBody>
      </p:sp>
      <p:sp>
        <p:nvSpPr>
          <p:cNvPr id="12" name="TextBox 11"/>
          <p:cNvSpPr txBox="1"/>
          <p:nvPr/>
        </p:nvSpPr>
        <p:spPr>
          <a:xfrm>
            <a:off x="1051560" y="3191256"/>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Process bursary applications</a:t>
            </a:r>
          </a:p>
        </p:txBody>
      </p:sp>
      <p:sp>
        <p:nvSpPr>
          <p:cNvPr id="13" name="TextBox 12"/>
          <p:cNvSpPr txBox="1"/>
          <p:nvPr/>
        </p:nvSpPr>
        <p:spPr>
          <a:xfrm>
            <a:off x="1051560" y="3447288"/>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Bulk issue resolution (max 200)</a:t>
            </a:r>
          </a:p>
        </p:txBody>
      </p:sp>
      <p:sp>
        <p:nvSpPr>
          <p:cNvPr id="14" name="TextBox 13"/>
          <p:cNvSpPr txBox="1"/>
          <p:nvPr/>
        </p:nvSpPr>
        <p:spPr>
          <a:xfrm>
            <a:off x="1051560" y="3703320"/>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Export all data types</a:t>
            </a:r>
          </a:p>
        </p:txBody>
      </p:sp>
      <p:sp>
        <p:nvSpPr>
          <p:cNvPr id="15" name="TextBox 14"/>
          <p:cNvSpPr txBox="1"/>
          <p:nvPr/>
        </p:nvSpPr>
        <p:spPr>
          <a:xfrm>
            <a:off x="1051560" y="3959352"/>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Edit AI chatbot knowledge base</a:t>
            </a:r>
          </a:p>
        </p:txBody>
      </p:sp>
      <p:sp>
        <p:nvSpPr>
          <p:cNvPr id="16" name="TextBox 15"/>
          <p:cNvSpPr txBox="1"/>
          <p:nvPr/>
        </p:nvSpPr>
        <p:spPr>
          <a:xfrm>
            <a:off x="1051560" y="4215384"/>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Protected account — cannot be deleted</a:t>
            </a:r>
          </a:p>
        </p:txBody>
      </p:sp>
      <p:sp>
        <p:nvSpPr>
          <p:cNvPr id="17" name="Rounded Rectangle 16"/>
          <p:cNvSpPr/>
          <p:nvPr/>
        </p:nvSpPr>
        <p:spPr>
          <a:xfrm>
            <a:off x="4206240" y="1920240"/>
            <a:ext cx="3291840" cy="347472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206240" y="1920240"/>
            <a:ext cx="3291840" cy="5080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34840" y="2057400"/>
            <a:ext cx="2834640" cy="365760"/>
          </a:xfrm>
          <a:prstGeom prst="rect">
            <a:avLst/>
          </a:prstGeom>
          <a:noFill/>
        </p:spPr>
        <p:txBody>
          <a:bodyPr wrap="square">
            <a:spAutoFit/>
          </a:bodyPr>
          <a:lstStyle/>
          <a:p>
            <a:pPr algn="l">
              <a:lnSpc>
                <a:spcPts val="1920"/>
              </a:lnSpc>
              <a:spcBef>
                <a:spcPts val="0"/>
              </a:spcBef>
              <a:spcAft>
                <a:spcPts val="0"/>
              </a:spcAft>
              <a:defRPr sz="1600" b="1">
                <a:solidFill>
                  <a:srgbClr val="06B6D4"/>
                </a:solidFill>
                <a:latin typeface="Calibri"/>
              </a:defRPr>
            </a:pPr>
            <a:r>
              <a:t>PA — Personal Assistant</a:t>
            </a:r>
          </a:p>
        </p:txBody>
      </p:sp>
      <p:sp>
        <p:nvSpPr>
          <p:cNvPr id="20" name="TextBox 19"/>
          <p:cNvSpPr txBox="1"/>
          <p:nvPr/>
        </p:nvSpPr>
        <p:spPr>
          <a:xfrm>
            <a:off x="4526280" y="2423160"/>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Assigned by MCA (max 2 PA/Clerk)</a:t>
            </a:r>
          </a:p>
        </p:txBody>
      </p:sp>
      <p:sp>
        <p:nvSpPr>
          <p:cNvPr id="21" name="TextBox 20"/>
          <p:cNvSpPr txBox="1"/>
          <p:nvPr/>
        </p:nvSpPr>
        <p:spPr>
          <a:xfrm>
            <a:off x="4526280" y="2679192"/>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Issue management &amp; status updates</a:t>
            </a:r>
          </a:p>
        </p:txBody>
      </p:sp>
      <p:sp>
        <p:nvSpPr>
          <p:cNvPr id="22" name="TextBox 21"/>
          <p:cNvSpPr txBox="1"/>
          <p:nvPr/>
        </p:nvSpPr>
        <p:spPr>
          <a:xfrm>
            <a:off x="4526280" y="2935224"/>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View and create announcements</a:t>
            </a:r>
          </a:p>
        </p:txBody>
      </p:sp>
      <p:sp>
        <p:nvSpPr>
          <p:cNvPr id="23" name="TextBox 22"/>
          <p:cNvSpPr txBox="1"/>
          <p:nvPr/>
        </p:nvSpPr>
        <p:spPr>
          <a:xfrm>
            <a:off x="4526280" y="3191256"/>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Export issues &amp; USSD data</a:t>
            </a:r>
          </a:p>
        </p:txBody>
      </p:sp>
      <p:sp>
        <p:nvSpPr>
          <p:cNvPr id="24" name="TextBox 23"/>
          <p:cNvSpPr txBox="1"/>
          <p:nvPr/>
        </p:nvSpPr>
        <p:spPr>
          <a:xfrm>
            <a:off x="4526280" y="3447288"/>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Activity &amp; audit log access</a:t>
            </a:r>
          </a:p>
        </p:txBody>
      </p:sp>
      <p:sp>
        <p:nvSpPr>
          <p:cNvPr id="25" name="TextBox 24"/>
          <p:cNvSpPr txBox="1"/>
          <p:nvPr/>
        </p:nvSpPr>
        <p:spPr>
          <a:xfrm>
            <a:off x="4526280" y="3703320"/>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No bursary access</a:t>
            </a:r>
          </a:p>
        </p:txBody>
      </p:sp>
      <p:sp>
        <p:nvSpPr>
          <p:cNvPr id="26" name="TextBox 25"/>
          <p:cNvSpPr txBox="1"/>
          <p:nvPr/>
        </p:nvSpPr>
        <p:spPr>
          <a:xfrm>
            <a:off x="4526280" y="3959352"/>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No user management access</a:t>
            </a:r>
          </a:p>
        </p:txBody>
      </p:sp>
      <p:sp>
        <p:nvSpPr>
          <p:cNvPr id="27" name="TextBox 26"/>
          <p:cNvSpPr txBox="1"/>
          <p:nvPr/>
        </p:nvSpPr>
        <p:spPr>
          <a:xfrm>
            <a:off x="4526280" y="4215384"/>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a:t>
            </a:r>
          </a:p>
        </p:txBody>
      </p:sp>
      <p:sp>
        <p:nvSpPr>
          <p:cNvPr id="28" name="Rounded Rectangle 27"/>
          <p:cNvSpPr/>
          <p:nvPr/>
        </p:nvSpPr>
        <p:spPr>
          <a:xfrm>
            <a:off x="7680960" y="1920240"/>
            <a:ext cx="3291840" cy="347472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680960" y="1920240"/>
            <a:ext cx="3291840" cy="508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9560" y="2057400"/>
            <a:ext cx="2834640" cy="365760"/>
          </a:xfrm>
          <a:prstGeom prst="rect">
            <a:avLst/>
          </a:prstGeom>
          <a:noFill/>
        </p:spPr>
        <p:txBody>
          <a:bodyPr wrap="square">
            <a:spAutoFit/>
          </a:bodyPr>
          <a:lstStyle/>
          <a:p>
            <a:pPr algn="l">
              <a:lnSpc>
                <a:spcPts val="1920"/>
              </a:lnSpc>
              <a:spcBef>
                <a:spcPts val="0"/>
              </a:spcBef>
              <a:spcAft>
                <a:spcPts val="0"/>
              </a:spcAft>
              <a:defRPr sz="1600" b="1">
                <a:solidFill>
                  <a:srgbClr val="F59E0B"/>
                </a:solidFill>
                <a:latin typeface="Calibri"/>
              </a:defRPr>
            </a:pPr>
            <a:r>
              <a:t>CLERK</a:t>
            </a:r>
          </a:p>
        </p:txBody>
      </p:sp>
      <p:sp>
        <p:nvSpPr>
          <p:cNvPr id="31" name="TextBox 30"/>
          <p:cNvSpPr txBox="1"/>
          <p:nvPr/>
        </p:nvSpPr>
        <p:spPr>
          <a:xfrm>
            <a:off x="8001000" y="2423160"/>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Basic operational access</a:t>
            </a:r>
          </a:p>
        </p:txBody>
      </p:sp>
      <p:sp>
        <p:nvSpPr>
          <p:cNvPr id="32" name="TextBox 31"/>
          <p:cNvSpPr txBox="1"/>
          <p:nvPr/>
        </p:nvSpPr>
        <p:spPr>
          <a:xfrm>
            <a:off x="8001000" y="2679192"/>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Issue viewing and management</a:t>
            </a:r>
          </a:p>
        </p:txBody>
      </p:sp>
      <p:sp>
        <p:nvSpPr>
          <p:cNvPr id="33" name="TextBox 32"/>
          <p:cNvSpPr txBox="1"/>
          <p:nvPr/>
        </p:nvSpPr>
        <p:spPr>
          <a:xfrm>
            <a:off x="8001000" y="2935224"/>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Announcement creation</a:t>
            </a:r>
          </a:p>
        </p:txBody>
      </p:sp>
      <p:sp>
        <p:nvSpPr>
          <p:cNvPr id="34" name="TextBox 33"/>
          <p:cNvSpPr txBox="1"/>
          <p:nvPr/>
        </p:nvSpPr>
        <p:spPr>
          <a:xfrm>
            <a:off x="8001000" y="3191256"/>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Limited dashboard access</a:t>
            </a:r>
          </a:p>
        </p:txBody>
      </p:sp>
      <p:sp>
        <p:nvSpPr>
          <p:cNvPr id="35" name="TextBox 34"/>
          <p:cNvSpPr txBox="1"/>
          <p:nvPr/>
        </p:nvSpPr>
        <p:spPr>
          <a:xfrm>
            <a:off x="8001000" y="3447288"/>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Self-registration via signup page</a:t>
            </a:r>
          </a:p>
        </p:txBody>
      </p:sp>
      <p:sp>
        <p:nvSpPr>
          <p:cNvPr id="36" name="TextBox 35"/>
          <p:cNvSpPr txBox="1"/>
          <p:nvPr/>
        </p:nvSpPr>
        <p:spPr>
          <a:xfrm>
            <a:off x="8001000" y="3703320"/>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No bursary or user management</a:t>
            </a:r>
          </a:p>
        </p:txBody>
      </p:sp>
      <p:sp>
        <p:nvSpPr>
          <p:cNvPr id="37" name="TextBox 36"/>
          <p:cNvSpPr txBox="1"/>
          <p:nvPr/>
        </p:nvSpPr>
        <p:spPr>
          <a:xfrm>
            <a:off x="8001000" y="3959352"/>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No export capabilities</a:t>
            </a:r>
          </a:p>
        </p:txBody>
      </p:sp>
      <p:sp>
        <p:nvSpPr>
          <p:cNvPr id="38" name="TextBox 37"/>
          <p:cNvSpPr txBox="1"/>
          <p:nvPr/>
        </p:nvSpPr>
        <p:spPr>
          <a:xfrm>
            <a:off x="8001000" y="4215384"/>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a:t>
            </a:r>
          </a:p>
        </p:txBody>
      </p:sp>
      <p:sp>
        <p:nvSpPr>
          <p:cNvPr id="39" name="Rounded Rectangle 38"/>
          <p:cNvSpPr/>
          <p:nvPr/>
        </p:nvSpPr>
        <p:spPr>
          <a:xfrm>
            <a:off x="731520" y="5577840"/>
            <a:ext cx="10058400" cy="91440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5623560"/>
            <a:ext cx="9601200" cy="274320"/>
          </a:xfrm>
          <a:prstGeom prst="rect">
            <a:avLst/>
          </a:prstGeom>
          <a:noFill/>
        </p:spPr>
        <p:txBody>
          <a:bodyPr wrap="square">
            <a:spAutoFit/>
          </a:bodyPr>
          <a:lstStyle/>
          <a:p>
            <a:pPr algn="l">
              <a:lnSpc>
                <a:spcPts val="1560"/>
              </a:lnSpc>
              <a:spcBef>
                <a:spcPts val="0"/>
              </a:spcBef>
              <a:spcAft>
                <a:spcPts val="0"/>
              </a:spcAft>
              <a:defRPr sz="1300" b="1">
                <a:solidFill>
                  <a:srgbClr val="6366F1"/>
                </a:solidFill>
                <a:latin typeface="Calibri"/>
              </a:defRPr>
            </a:pPr>
            <a:r>
              <a:t>User Management Features</a:t>
            </a:r>
          </a:p>
        </p:txBody>
      </p:sp>
      <p:sp>
        <p:nvSpPr>
          <p:cNvPr id="41" name="TextBox 40"/>
          <p:cNvSpPr txBox="1"/>
          <p:nvPr/>
        </p:nvSpPr>
        <p:spPr>
          <a:xfrm>
            <a:off x="914400" y="5897880"/>
            <a:ext cx="9601200" cy="457200"/>
          </a:xfrm>
          <a:prstGeom prst="rect">
            <a:avLst/>
          </a:prstGeom>
          <a:noFill/>
        </p:spPr>
        <p:txBody>
          <a:bodyPr wrap="square">
            <a:spAutoFit/>
          </a:bodyPr>
          <a:lstStyle/>
          <a:p>
            <a:pPr algn="l">
              <a:lnSpc>
                <a:spcPts val="1320"/>
              </a:lnSpc>
              <a:spcBef>
                <a:spcPts val="0"/>
              </a:spcBef>
              <a:spcAft>
                <a:spcPts val="0"/>
              </a:spcAft>
              <a:defRPr sz="1100" b="0">
                <a:solidFill>
                  <a:srgbClr val="CCCCCC"/>
                </a:solidFill>
                <a:latin typeface="Calibri"/>
              </a:defRPr>
            </a:pPr>
            <a:r>
              <a:t>Card grid view with stats (resolved/active issues, logins)  •  Add via signup page  •  Edit &amp; reset passwords  •  Max 3 total users (1 MCA + 2 PA/Clerk)  •  Filter by search &amp; role  •  Last login tracking</a:t>
            </a:r>
          </a:p>
        </p:txBody>
      </p:sp>
      <p:sp>
        <p:nvSpPr>
          <p:cNvPr id="42" name="TextBox 41"/>
          <p:cNvSpPr txBox="1"/>
          <p:nvPr/>
        </p:nvSpPr>
        <p:spPr>
          <a:xfrm>
            <a:off x="731520" y="6400800"/>
            <a:ext cx="4572000" cy="365760"/>
          </a:xfrm>
          <a:prstGeom prst="rect">
            <a:avLst/>
          </a:prstGeom>
          <a:noFill/>
        </p:spPr>
        <p:txBody>
          <a:bodyPr wrap="square">
            <a:spAutoFit/>
          </a:bodyPr>
          <a:lstStyle/>
          <a:p>
            <a:pPr algn="l">
              <a:lnSpc>
                <a:spcPts val="1200"/>
              </a:lnSpc>
              <a:spcBef>
                <a:spcPts val="0"/>
              </a:spcBef>
              <a:spcAft>
                <a:spcPts val="0"/>
              </a:spcAft>
              <a:defRPr sz="1000" b="0">
                <a:solidFill>
                  <a:srgbClr val="9999BB"/>
                </a:solidFill>
                <a:latin typeface="Calibri"/>
              </a:defRPr>
            </a:pPr>
            <a:r>
              <a:t>VOO Ward Admin Dashboard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0F23"/>
        </a:solidFill>
        <a:effectLst/>
      </p:bgPr>
    </p:bg>
    <p:spTree>
      <p:nvGrpSpPr>
        <p:cNvPr id="1" name=""/>
        <p:cNvGrpSpPr/>
        <p:nvPr/>
      </p:nvGrpSpPr>
      <p:grpSpPr/>
      <p:sp>
        <p:nvSpPr>
          <p:cNvPr id="2" name="Rectangle 1"/>
          <p:cNvSpPr/>
          <p:nvPr/>
        </p:nvSpPr>
        <p:spPr>
          <a:xfrm>
            <a:off x="731520" y="548640"/>
            <a:ext cx="2286000" cy="508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85800"/>
            <a:ext cx="10058400" cy="640080"/>
          </a:xfrm>
          <a:prstGeom prst="rect">
            <a:avLst/>
          </a:prstGeom>
          <a:noFill/>
        </p:spPr>
        <p:txBody>
          <a:bodyPr wrap="square">
            <a:spAutoFit/>
          </a:bodyPr>
          <a:lstStyle/>
          <a:p>
            <a:pPr algn="l">
              <a:lnSpc>
                <a:spcPts val="4320"/>
              </a:lnSpc>
              <a:spcBef>
                <a:spcPts val="0"/>
              </a:spcBef>
              <a:spcAft>
                <a:spcPts val="0"/>
              </a:spcAft>
              <a:defRPr sz="3600" b="1">
                <a:solidFill>
                  <a:srgbClr val="FFFFFF"/>
                </a:solidFill>
                <a:latin typeface="Calibri"/>
              </a:defRPr>
            </a:pPr>
            <a:r>
              <a:t>Analytics &amp; Visualization</a:t>
            </a:r>
          </a:p>
        </p:txBody>
      </p:sp>
      <p:sp>
        <p:nvSpPr>
          <p:cNvPr id="4" name="TextBox 3"/>
          <p:cNvSpPr txBox="1"/>
          <p:nvPr/>
        </p:nvSpPr>
        <p:spPr>
          <a:xfrm>
            <a:off x="731520" y="1280160"/>
            <a:ext cx="10058400" cy="365760"/>
          </a:xfrm>
          <a:prstGeom prst="rect">
            <a:avLst/>
          </a:prstGeom>
          <a:noFill/>
        </p:spPr>
        <p:txBody>
          <a:bodyPr wrap="square">
            <a:spAutoFit/>
          </a:bodyPr>
          <a:lstStyle/>
          <a:p>
            <a:pPr algn="l">
              <a:lnSpc>
                <a:spcPts val="1920"/>
              </a:lnSpc>
              <a:spcBef>
                <a:spcPts val="0"/>
              </a:spcBef>
              <a:spcAft>
                <a:spcPts val="0"/>
              </a:spcAft>
              <a:defRPr sz="1600" b="0">
                <a:solidFill>
                  <a:srgbClr val="9999BB"/>
                </a:solidFill>
                <a:latin typeface="Calibri"/>
              </a:defRPr>
            </a:pPr>
            <a:r>
              <a:t>Charts, Interactive Maps &amp; Data Insights</a:t>
            </a:r>
          </a:p>
        </p:txBody>
      </p:sp>
      <p:sp>
        <p:nvSpPr>
          <p:cNvPr id="5" name="Rounded Rectangle 4"/>
          <p:cNvSpPr/>
          <p:nvPr/>
        </p:nvSpPr>
        <p:spPr>
          <a:xfrm>
            <a:off x="11430000" y="0"/>
            <a:ext cx="761695" cy="6858000"/>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920240"/>
            <a:ext cx="3291840" cy="228600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920240"/>
            <a:ext cx="3291840" cy="5080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57400"/>
            <a:ext cx="2834640" cy="365760"/>
          </a:xfrm>
          <a:prstGeom prst="rect">
            <a:avLst/>
          </a:prstGeom>
          <a:noFill/>
        </p:spPr>
        <p:txBody>
          <a:bodyPr wrap="square">
            <a:spAutoFit/>
          </a:bodyPr>
          <a:lstStyle/>
          <a:p>
            <a:pPr algn="l">
              <a:lnSpc>
                <a:spcPts val="1920"/>
              </a:lnSpc>
              <a:spcBef>
                <a:spcPts val="0"/>
              </a:spcBef>
              <a:spcAft>
                <a:spcPts val="0"/>
              </a:spcAft>
              <a:defRPr sz="1600" b="1">
                <a:solidFill>
                  <a:srgbClr val="6366F1"/>
                </a:solidFill>
                <a:latin typeface="Calibri"/>
              </a:defRPr>
            </a:pPr>
            <a:r>
              <a:t>Issue Status Distribution (Doughnut)</a:t>
            </a:r>
          </a:p>
        </p:txBody>
      </p:sp>
      <p:sp>
        <p:nvSpPr>
          <p:cNvPr id="9" name="TextBox 8"/>
          <p:cNvSpPr txBox="1"/>
          <p:nvPr/>
        </p:nvSpPr>
        <p:spPr>
          <a:xfrm>
            <a:off x="1051560" y="2423160"/>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Pending / In Progress / Resolved / Closed</a:t>
            </a:r>
          </a:p>
        </p:txBody>
      </p:sp>
      <p:sp>
        <p:nvSpPr>
          <p:cNvPr id="10" name="TextBox 9"/>
          <p:cNvSpPr txBox="1"/>
          <p:nvPr/>
        </p:nvSpPr>
        <p:spPr>
          <a:xfrm>
            <a:off x="1051560" y="2679192"/>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60% cutout doughnut chart</a:t>
            </a:r>
          </a:p>
        </p:txBody>
      </p:sp>
      <p:sp>
        <p:nvSpPr>
          <p:cNvPr id="11" name="TextBox 10"/>
          <p:cNvSpPr txBox="1"/>
          <p:nvPr/>
        </p:nvSpPr>
        <p:spPr>
          <a:xfrm>
            <a:off x="1051560" y="2935224"/>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Color-coded segments</a:t>
            </a:r>
          </a:p>
        </p:txBody>
      </p:sp>
      <p:sp>
        <p:nvSpPr>
          <p:cNvPr id="12" name="TextBox 11"/>
          <p:cNvSpPr txBox="1"/>
          <p:nvPr/>
        </p:nvSpPr>
        <p:spPr>
          <a:xfrm>
            <a:off x="1051560" y="3191256"/>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Interactive tooltips</a:t>
            </a:r>
          </a:p>
        </p:txBody>
      </p:sp>
      <p:sp>
        <p:nvSpPr>
          <p:cNvPr id="13" name="TextBox 12"/>
          <p:cNvSpPr txBox="1"/>
          <p:nvPr/>
        </p:nvSpPr>
        <p:spPr>
          <a:xfrm>
            <a:off x="1051560" y="3447288"/>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Powered by Chart.js</a:t>
            </a:r>
          </a:p>
        </p:txBody>
      </p:sp>
      <p:sp>
        <p:nvSpPr>
          <p:cNvPr id="14" name="Rounded Rectangle 13"/>
          <p:cNvSpPr/>
          <p:nvPr/>
        </p:nvSpPr>
        <p:spPr>
          <a:xfrm>
            <a:off x="4206240" y="1920240"/>
            <a:ext cx="3291840" cy="228600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206240" y="1920240"/>
            <a:ext cx="3291840" cy="5080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34840" y="2057400"/>
            <a:ext cx="2834640" cy="365760"/>
          </a:xfrm>
          <a:prstGeom prst="rect">
            <a:avLst/>
          </a:prstGeom>
          <a:noFill/>
        </p:spPr>
        <p:txBody>
          <a:bodyPr wrap="square">
            <a:spAutoFit/>
          </a:bodyPr>
          <a:lstStyle/>
          <a:p>
            <a:pPr algn="l">
              <a:lnSpc>
                <a:spcPts val="1920"/>
              </a:lnSpc>
              <a:spcBef>
                <a:spcPts val="0"/>
              </a:spcBef>
              <a:spcAft>
                <a:spcPts val="0"/>
              </a:spcAft>
              <a:defRPr sz="1600" b="1">
                <a:solidFill>
                  <a:srgbClr val="06B6D4"/>
                </a:solidFill>
                <a:latin typeface="Calibri"/>
              </a:defRPr>
            </a:pPr>
            <a:r>
              <a:t>Issues Over Time (Line Chart)</a:t>
            </a:r>
          </a:p>
        </p:txBody>
      </p:sp>
      <p:sp>
        <p:nvSpPr>
          <p:cNvPr id="17" name="TextBox 16"/>
          <p:cNvSpPr txBox="1"/>
          <p:nvPr/>
        </p:nvSpPr>
        <p:spPr>
          <a:xfrm>
            <a:off x="4526280" y="2423160"/>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Dual dataset: New vs Resolved</a:t>
            </a:r>
          </a:p>
        </p:txBody>
      </p:sp>
      <p:sp>
        <p:nvSpPr>
          <p:cNvPr id="18" name="TextBox 17"/>
          <p:cNvSpPr txBox="1"/>
          <p:nvPr/>
        </p:nvSpPr>
        <p:spPr>
          <a:xfrm>
            <a:off x="4526280" y="2679192"/>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30-day rolling window</a:t>
            </a:r>
          </a:p>
        </p:txBody>
      </p:sp>
      <p:sp>
        <p:nvSpPr>
          <p:cNvPr id="19" name="TextBox 18"/>
          <p:cNvSpPr txBox="1"/>
          <p:nvPr/>
        </p:nvSpPr>
        <p:spPr>
          <a:xfrm>
            <a:off x="4526280" y="2935224"/>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Trend analysis capability</a:t>
            </a:r>
          </a:p>
        </p:txBody>
      </p:sp>
      <p:sp>
        <p:nvSpPr>
          <p:cNvPr id="20" name="TextBox 19"/>
          <p:cNvSpPr txBox="1"/>
          <p:nvPr/>
        </p:nvSpPr>
        <p:spPr>
          <a:xfrm>
            <a:off x="4526280" y="3191256"/>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Responsive canvas rendering</a:t>
            </a:r>
          </a:p>
        </p:txBody>
      </p:sp>
      <p:sp>
        <p:nvSpPr>
          <p:cNvPr id="21" name="TextBox 20"/>
          <p:cNvSpPr txBox="1"/>
          <p:nvPr/>
        </p:nvSpPr>
        <p:spPr>
          <a:xfrm>
            <a:off x="4526280" y="3447288"/>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Date range filtering</a:t>
            </a:r>
          </a:p>
        </p:txBody>
      </p:sp>
      <p:sp>
        <p:nvSpPr>
          <p:cNvPr id="22" name="Rounded Rectangle 21"/>
          <p:cNvSpPr/>
          <p:nvPr/>
        </p:nvSpPr>
        <p:spPr>
          <a:xfrm>
            <a:off x="7680960" y="1920240"/>
            <a:ext cx="3291840" cy="228600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680960" y="1920240"/>
            <a:ext cx="3291840" cy="508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09560" y="2057400"/>
            <a:ext cx="2834640" cy="365760"/>
          </a:xfrm>
          <a:prstGeom prst="rect">
            <a:avLst/>
          </a:prstGeom>
          <a:noFill/>
        </p:spPr>
        <p:txBody>
          <a:bodyPr wrap="square">
            <a:spAutoFit/>
          </a:bodyPr>
          <a:lstStyle/>
          <a:p>
            <a:pPr algn="l">
              <a:lnSpc>
                <a:spcPts val="1920"/>
              </a:lnSpc>
              <a:spcBef>
                <a:spcPts val="0"/>
              </a:spcBef>
              <a:spcAft>
                <a:spcPts val="0"/>
              </a:spcAft>
              <a:defRPr sz="1600" b="1">
                <a:solidFill>
                  <a:srgbClr val="10B981"/>
                </a:solidFill>
                <a:latin typeface="Calibri"/>
              </a:defRPr>
            </a:pPr>
            <a:r>
              <a:t>Bursary Status (Bar Chart)</a:t>
            </a:r>
          </a:p>
        </p:txBody>
      </p:sp>
      <p:sp>
        <p:nvSpPr>
          <p:cNvPr id="25" name="TextBox 24"/>
          <p:cNvSpPr txBox="1"/>
          <p:nvPr/>
        </p:nvSpPr>
        <p:spPr>
          <a:xfrm>
            <a:off x="8001000" y="2423160"/>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Pending / Approved / Rejected / Received</a:t>
            </a:r>
          </a:p>
        </p:txBody>
      </p:sp>
      <p:sp>
        <p:nvSpPr>
          <p:cNvPr id="26" name="TextBox 25"/>
          <p:cNvSpPr txBox="1"/>
          <p:nvPr/>
        </p:nvSpPr>
        <p:spPr>
          <a:xfrm>
            <a:off x="8001000" y="2679192"/>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Status distribution bar chart</a:t>
            </a:r>
          </a:p>
        </p:txBody>
      </p:sp>
      <p:sp>
        <p:nvSpPr>
          <p:cNvPr id="27" name="TextBox 26"/>
          <p:cNvSpPr txBox="1"/>
          <p:nvPr/>
        </p:nvSpPr>
        <p:spPr>
          <a:xfrm>
            <a:off x="8001000" y="2935224"/>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Amount tracking per status</a:t>
            </a:r>
          </a:p>
        </p:txBody>
      </p:sp>
      <p:sp>
        <p:nvSpPr>
          <p:cNvPr id="28" name="TextBox 27"/>
          <p:cNvSpPr txBox="1"/>
          <p:nvPr/>
        </p:nvSpPr>
        <p:spPr>
          <a:xfrm>
            <a:off x="8001000" y="3191256"/>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MCA-only analytics view</a:t>
            </a:r>
          </a:p>
        </p:txBody>
      </p:sp>
      <p:sp>
        <p:nvSpPr>
          <p:cNvPr id="29" name="TextBox 28"/>
          <p:cNvSpPr txBox="1"/>
          <p:nvPr/>
        </p:nvSpPr>
        <p:spPr>
          <a:xfrm>
            <a:off x="8001000" y="3447288"/>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Exportable data</a:t>
            </a:r>
          </a:p>
        </p:txBody>
      </p:sp>
      <p:sp>
        <p:nvSpPr>
          <p:cNvPr id="30" name="Rounded Rectangle 29"/>
          <p:cNvSpPr/>
          <p:nvPr/>
        </p:nvSpPr>
        <p:spPr>
          <a:xfrm>
            <a:off x="731520" y="4480560"/>
            <a:ext cx="5029200" cy="201168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4480560"/>
            <a:ext cx="5029200" cy="508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0120" y="4617720"/>
            <a:ext cx="4572000" cy="365760"/>
          </a:xfrm>
          <a:prstGeom prst="rect">
            <a:avLst/>
          </a:prstGeom>
          <a:noFill/>
        </p:spPr>
        <p:txBody>
          <a:bodyPr wrap="square">
            <a:spAutoFit/>
          </a:bodyPr>
          <a:lstStyle/>
          <a:p>
            <a:pPr algn="l">
              <a:lnSpc>
                <a:spcPts val="1920"/>
              </a:lnSpc>
              <a:spcBef>
                <a:spcPts val="0"/>
              </a:spcBef>
              <a:spcAft>
                <a:spcPts val="0"/>
              </a:spcAft>
              <a:defRPr sz="1600" b="1">
                <a:solidFill>
                  <a:srgbClr val="F59E0B"/>
                </a:solidFill>
                <a:latin typeface="Calibri"/>
              </a:defRPr>
            </a:pPr>
            <a:r>
              <a:t>Interactive Issue Map (Leaflet.js)</a:t>
            </a:r>
          </a:p>
        </p:txBody>
      </p:sp>
      <p:sp>
        <p:nvSpPr>
          <p:cNvPr id="33" name="TextBox 32"/>
          <p:cNvSpPr txBox="1"/>
          <p:nvPr/>
        </p:nvSpPr>
        <p:spPr>
          <a:xfrm>
            <a:off x="1051560" y="4983480"/>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OpenStreetMap tiles centered on Kyamatu Ward</a:t>
            </a:r>
          </a:p>
        </p:txBody>
      </p:sp>
      <p:sp>
        <p:nvSpPr>
          <p:cNvPr id="34" name="TextBox 33"/>
          <p:cNvSpPr txBox="1"/>
          <p:nvPr/>
        </p:nvSpPr>
        <p:spPr>
          <a:xfrm>
            <a:off x="1051560" y="5239512"/>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Color-coded markers: Red=Pending, Amber=In Progress, Green=Resolved</a:t>
            </a:r>
          </a:p>
        </p:txBody>
      </p:sp>
      <p:sp>
        <p:nvSpPr>
          <p:cNvPr id="35" name="TextBox 34"/>
          <p:cNvSpPr txBox="1"/>
          <p:nvPr/>
        </p:nvSpPr>
        <p:spPr>
          <a:xfrm>
            <a:off x="1051560" y="5495544"/>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Custom markers with priority indicators</a:t>
            </a:r>
          </a:p>
        </p:txBody>
      </p:sp>
      <p:sp>
        <p:nvSpPr>
          <p:cNvPr id="36" name="TextBox 35"/>
          <p:cNvSpPr txBox="1"/>
          <p:nvPr/>
        </p:nvSpPr>
        <p:spPr>
          <a:xfrm>
            <a:off x="1051560" y="5751576"/>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Interactive popups with issue details and View Details button</a:t>
            </a:r>
          </a:p>
        </p:txBody>
      </p:sp>
      <p:sp>
        <p:nvSpPr>
          <p:cNvPr id="37" name="TextBox 36"/>
          <p:cNvSpPr txBox="1"/>
          <p:nvPr/>
        </p:nvSpPr>
        <p:spPr>
          <a:xfrm>
            <a:off x="1051560" y="6007608"/>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Map statistics panel: Total, Pending, In Progress, Resolved</a:t>
            </a:r>
          </a:p>
        </p:txBody>
      </p:sp>
      <p:sp>
        <p:nvSpPr>
          <p:cNvPr id="38" name="TextBox 37"/>
          <p:cNvSpPr txBox="1"/>
          <p:nvPr/>
        </p:nvSpPr>
        <p:spPr>
          <a:xfrm>
            <a:off x="1051560" y="6263640"/>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Filter by status and priority</a:t>
            </a:r>
          </a:p>
        </p:txBody>
      </p:sp>
      <p:sp>
        <p:nvSpPr>
          <p:cNvPr id="39" name="Rounded Rectangle 38"/>
          <p:cNvSpPr/>
          <p:nvPr/>
        </p:nvSpPr>
        <p:spPr>
          <a:xfrm>
            <a:off x="6217920" y="4480560"/>
            <a:ext cx="4389120" cy="201168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6217920" y="4480560"/>
            <a:ext cx="4389120" cy="50800"/>
          </a:xfrm>
          <a:prstGeom prst="roundRect">
            <a:avLst/>
          </a:prstGeom>
          <a:solidFill>
            <a:srgbClr val="4C1D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46520" y="4617720"/>
            <a:ext cx="3931920" cy="365760"/>
          </a:xfrm>
          <a:prstGeom prst="rect">
            <a:avLst/>
          </a:prstGeom>
          <a:noFill/>
        </p:spPr>
        <p:txBody>
          <a:bodyPr wrap="square">
            <a:spAutoFit/>
          </a:bodyPr>
          <a:lstStyle/>
          <a:p>
            <a:pPr algn="l">
              <a:lnSpc>
                <a:spcPts val="1920"/>
              </a:lnSpc>
              <a:spcBef>
                <a:spcPts val="0"/>
              </a:spcBef>
              <a:spcAft>
                <a:spcPts val="0"/>
              </a:spcAft>
              <a:defRPr sz="1600" b="1">
                <a:solidFill>
                  <a:srgbClr val="4C1D95"/>
                </a:solidFill>
                <a:latin typeface="Calibri"/>
              </a:defRPr>
            </a:pPr>
            <a:r>
              <a:t>Date Range Filters</a:t>
            </a:r>
          </a:p>
        </p:txBody>
      </p:sp>
      <p:sp>
        <p:nvSpPr>
          <p:cNvPr id="42" name="TextBox 41"/>
          <p:cNvSpPr txBox="1"/>
          <p:nvPr/>
        </p:nvSpPr>
        <p:spPr>
          <a:xfrm>
            <a:off x="6537960" y="4983480"/>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All Time — full data view</a:t>
            </a:r>
          </a:p>
        </p:txBody>
      </p:sp>
      <p:sp>
        <p:nvSpPr>
          <p:cNvPr id="43" name="TextBox 42"/>
          <p:cNvSpPr txBox="1"/>
          <p:nvPr/>
        </p:nvSpPr>
        <p:spPr>
          <a:xfrm>
            <a:off x="6537960" y="5239512"/>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Today — current day activity</a:t>
            </a:r>
          </a:p>
        </p:txBody>
      </p:sp>
      <p:sp>
        <p:nvSpPr>
          <p:cNvPr id="44" name="TextBox 43"/>
          <p:cNvSpPr txBox="1"/>
          <p:nvPr/>
        </p:nvSpPr>
        <p:spPr>
          <a:xfrm>
            <a:off x="6537960" y="5495544"/>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Last 7 Days — weekly report</a:t>
            </a:r>
          </a:p>
        </p:txBody>
      </p:sp>
      <p:sp>
        <p:nvSpPr>
          <p:cNvPr id="45" name="TextBox 44"/>
          <p:cNvSpPr txBox="1"/>
          <p:nvPr/>
        </p:nvSpPr>
        <p:spPr>
          <a:xfrm>
            <a:off x="6537960" y="5751576"/>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Last 30 Days — monthly summary</a:t>
            </a:r>
          </a:p>
        </p:txBody>
      </p:sp>
      <p:sp>
        <p:nvSpPr>
          <p:cNvPr id="46" name="TextBox 45"/>
          <p:cNvSpPr txBox="1"/>
          <p:nvPr/>
        </p:nvSpPr>
        <p:spPr>
          <a:xfrm>
            <a:off x="6537960" y="6007608"/>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Last 90 Days — quarterly review</a:t>
            </a:r>
          </a:p>
        </p:txBody>
      </p:sp>
      <p:sp>
        <p:nvSpPr>
          <p:cNvPr id="47" name="TextBox 46"/>
          <p:cNvSpPr txBox="1"/>
          <p:nvPr/>
        </p:nvSpPr>
        <p:spPr>
          <a:xfrm>
            <a:off x="6537960" y="6263640"/>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Custom Range — pick start &amp; end dates</a:t>
            </a:r>
          </a:p>
        </p:txBody>
      </p:sp>
      <p:sp>
        <p:nvSpPr>
          <p:cNvPr id="48" name="TextBox 47"/>
          <p:cNvSpPr txBox="1"/>
          <p:nvPr/>
        </p:nvSpPr>
        <p:spPr>
          <a:xfrm>
            <a:off x="731520" y="6400800"/>
            <a:ext cx="4572000" cy="365760"/>
          </a:xfrm>
          <a:prstGeom prst="rect">
            <a:avLst/>
          </a:prstGeom>
          <a:noFill/>
        </p:spPr>
        <p:txBody>
          <a:bodyPr wrap="square">
            <a:spAutoFit/>
          </a:bodyPr>
          <a:lstStyle/>
          <a:p>
            <a:pPr algn="l">
              <a:lnSpc>
                <a:spcPts val="1200"/>
              </a:lnSpc>
              <a:spcBef>
                <a:spcPts val="0"/>
              </a:spcBef>
              <a:spcAft>
                <a:spcPts val="0"/>
              </a:spcAft>
              <a:defRPr sz="1000" b="0">
                <a:solidFill>
                  <a:srgbClr val="9999BB"/>
                </a:solidFill>
                <a:latin typeface="Calibri"/>
              </a:defRPr>
            </a:pPr>
            <a:r>
              <a:t>VOO Ward Admin Dashboard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0F23"/>
        </a:solidFill>
        <a:effectLst/>
      </p:bgPr>
    </p:bg>
    <p:spTree>
      <p:nvGrpSpPr>
        <p:cNvPr id="1" name=""/>
        <p:cNvGrpSpPr/>
        <p:nvPr/>
      </p:nvGrpSpPr>
      <p:grpSpPr/>
      <p:sp>
        <p:nvSpPr>
          <p:cNvPr id="2" name="Rectangle 1"/>
          <p:cNvSpPr/>
          <p:nvPr/>
        </p:nvSpPr>
        <p:spPr>
          <a:xfrm>
            <a:off x="731520" y="548640"/>
            <a:ext cx="2286000" cy="508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85800"/>
            <a:ext cx="10058400" cy="640080"/>
          </a:xfrm>
          <a:prstGeom prst="rect">
            <a:avLst/>
          </a:prstGeom>
          <a:noFill/>
        </p:spPr>
        <p:txBody>
          <a:bodyPr wrap="square">
            <a:spAutoFit/>
          </a:bodyPr>
          <a:lstStyle/>
          <a:p>
            <a:pPr algn="l">
              <a:lnSpc>
                <a:spcPts val="4320"/>
              </a:lnSpc>
              <a:spcBef>
                <a:spcPts val="0"/>
              </a:spcBef>
              <a:spcAft>
                <a:spcPts val="0"/>
              </a:spcAft>
              <a:defRPr sz="3600" b="1">
                <a:solidFill>
                  <a:srgbClr val="FFFFFF"/>
                </a:solidFill>
                <a:latin typeface="Calibri"/>
              </a:defRPr>
            </a:pPr>
            <a:r>
              <a:t>Security &amp; Authentication</a:t>
            </a:r>
          </a:p>
        </p:txBody>
      </p:sp>
      <p:sp>
        <p:nvSpPr>
          <p:cNvPr id="4" name="TextBox 3"/>
          <p:cNvSpPr txBox="1"/>
          <p:nvPr/>
        </p:nvSpPr>
        <p:spPr>
          <a:xfrm>
            <a:off x="731520" y="1280160"/>
            <a:ext cx="10058400" cy="365760"/>
          </a:xfrm>
          <a:prstGeom prst="rect">
            <a:avLst/>
          </a:prstGeom>
          <a:noFill/>
        </p:spPr>
        <p:txBody>
          <a:bodyPr wrap="square">
            <a:spAutoFit/>
          </a:bodyPr>
          <a:lstStyle/>
          <a:p>
            <a:pPr algn="l">
              <a:lnSpc>
                <a:spcPts val="1920"/>
              </a:lnSpc>
              <a:spcBef>
                <a:spcPts val="0"/>
              </a:spcBef>
              <a:spcAft>
                <a:spcPts val="0"/>
              </a:spcAft>
              <a:defRPr sz="1600" b="0">
                <a:solidFill>
                  <a:srgbClr val="9999BB"/>
                </a:solidFill>
                <a:latin typeface="Calibri"/>
              </a:defRPr>
            </a:pPr>
            <a:r>
              <a:t>Multi-Layer Protection &amp; Access Control</a:t>
            </a:r>
          </a:p>
        </p:txBody>
      </p:sp>
      <p:sp>
        <p:nvSpPr>
          <p:cNvPr id="5" name="Rounded Rectangle 4"/>
          <p:cNvSpPr/>
          <p:nvPr/>
        </p:nvSpPr>
        <p:spPr>
          <a:xfrm>
            <a:off x="11430000" y="0"/>
            <a:ext cx="761695" cy="6858000"/>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920240"/>
            <a:ext cx="3291840" cy="256032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920240"/>
            <a:ext cx="3291840" cy="5080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57400"/>
            <a:ext cx="2834640" cy="365760"/>
          </a:xfrm>
          <a:prstGeom prst="rect">
            <a:avLst/>
          </a:prstGeom>
          <a:noFill/>
        </p:spPr>
        <p:txBody>
          <a:bodyPr wrap="square">
            <a:spAutoFit/>
          </a:bodyPr>
          <a:lstStyle/>
          <a:p>
            <a:pPr algn="l">
              <a:lnSpc>
                <a:spcPts val="1920"/>
              </a:lnSpc>
              <a:spcBef>
                <a:spcPts val="0"/>
              </a:spcBef>
              <a:spcAft>
                <a:spcPts val="0"/>
              </a:spcAft>
              <a:defRPr sz="1600" b="1">
                <a:solidFill>
                  <a:srgbClr val="6366F1"/>
                </a:solidFill>
                <a:latin typeface="Calibri"/>
              </a:defRPr>
            </a:pPr>
            <a:r>
              <a:t>Authentication</a:t>
            </a:r>
          </a:p>
        </p:txBody>
      </p:sp>
      <p:sp>
        <p:nvSpPr>
          <p:cNvPr id="9" name="TextBox 8"/>
          <p:cNvSpPr txBox="1"/>
          <p:nvPr/>
        </p:nvSpPr>
        <p:spPr>
          <a:xfrm>
            <a:off x="1051560" y="2423160"/>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Username + Password login</a:t>
            </a:r>
          </a:p>
        </p:txBody>
      </p:sp>
      <p:sp>
        <p:nvSpPr>
          <p:cNvPr id="10" name="TextBox 9"/>
          <p:cNvSpPr txBox="1"/>
          <p:nvPr/>
        </p:nvSpPr>
        <p:spPr>
          <a:xfrm>
            <a:off x="1051560" y="2679192"/>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Glassmorphism login card UI</a:t>
            </a:r>
          </a:p>
        </p:txBody>
      </p:sp>
      <p:sp>
        <p:nvSpPr>
          <p:cNvPr id="11" name="TextBox 10"/>
          <p:cNvSpPr txBox="1"/>
          <p:nvPr/>
        </p:nvSpPr>
        <p:spPr>
          <a:xfrm>
            <a:off x="1051560" y="2935224"/>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Bearer token session management</a:t>
            </a:r>
          </a:p>
        </p:txBody>
      </p:sp>
      <p:sp>
        <p:nvSpPr>
          <p:cNvPr id="12" name="TextBox 11"/>
          <p:cNvSpPr txBox="1"/>
          <p:nvPr/>
        </p:nvSpPr>
        <p:spPr>
          <a:xfrm>
            <a:off x="1051560" y="3191256"/>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30-minute session timeout</a:t>
            </a:r>
          </a:p>
        </p:txBody>
      </p:sp>
      <p:sp>
        <p:nvSpPr>
          <p:cNvPr id="13" name="TextBox 12"/>
          <p:cNvSpPr txBox="1"/>
          <p:nvPr/>
        </p:nvSpPr>
        <p:spPr>
          <a:xfrm>
            <a:off x="1051560" y="3447288"/>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24-hour client-side token expiry</a:t>
            </a:r>
          </a:p>
        </p:txBody>
      </p:sp>
      <p:sp>
        <p:nvSpPr>
          <p:cNvPr id="14" name="TextBox 13"/>
          <p:cNvSpPr txBox="1"/>
          <p:nvPr/>
        </p:nvSpPr>
        <p:spPr>
          <a:xfrm>
            <a:off x="1051560" y="3703320"/>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Single session enforcement</a:t>
            </a:r>
          </a:p>
        </p:txBody>
      </p:sp>
      <p:sp>
        <p:nvSpPr>
          <p:cNvPr id="15" name="TextBox 14"/>
          <p:cNvSpPr txBox="1"/>
          <p:nvPr/>
        </p:nvSpPr>
        <p:spPr>
          <a:xfrm>
            <a:off x="1051560" y="3959352"/>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Signup page for new PA/Clerk</a:t>
            </a:r>
          </a:p>
        </p:txBody>
      </p:sp>
      <p:sp>
        <p:nvSpPr>
          <p:cNvPr id="16" name="Rounded Rectangle 15"/>
          <p:cNvSpPr/>
          <p:nvPr/>
        </p:nvSpPr>
        <p:spPr>
          <a:xfrm>
            <a:off x="4206240" y="1920240"/>
            <a:ext cx="3291840" cy="256032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206240" y="1920240"/>
            <a:ext cx="3291840" cy="50800"/>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34840" y="2057400"/>
            <a:ext cx="2834640" cy="365760"/>
          </a:xfrm>
          <a:prstGeom prst="rect">
            <a:avLst/>
          </a:prstGeom>
          <a:noFill/>
        </p:spPr>
        <p:txBody>
          <a:bodyPr wrap="square">
            <a:spAutoFit/>
          </a:bodyPr>
          <a:lstStyle/>
          <a:p>
            <a:pPr algn="l">
              <a:lnSpc>
                <a:spcPts val="1920"/>
              </a:lnSpc>
              <a:spcBef>
                <a:spcPts val="0"/>
              </a:spcBef>
              <a:spcAft>
                <a:spcPts val="0"/>
              </a:spcAft>
              <a:defRPr sz="1600" b="1">
                <a:solidFill>
                  <a:srgbClr val="EF4444"/>
                </a:solidFill>
                <a:latin typeface="Calibri"/>
              </a:defRPr>
            </a:pPr>
            <a:r>
              <a:t>Protection Measures</a:t>
            </a:r>
          </a:p>
        </p:txBody>
      </p:sp>
      <p:sp>
        <p:nvSpPr>
          <p:cNvPr id="19" name="TextBox 18"/>
          <p:cNvSpPr txBox="1"/>
          <p:nvPr/>
        </p:nvSpPr>
        <p:spPr>
          <a:xfrm>
            <a:off x="4526280" y="2423160"/>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bcrypt password hashing (auto-migrates SHA-256)</a:t>
            </a:r>
          </a:p>
        </p:txBody>
      </p:sp>
      <p:sp>
        <p:nvSpPr>
          <p:cNvPr id="20" name="TextBox 19"/>
          <p:cNvSpPr txBox="1"/>
          <p:nvPr/>
        </p:nvSpPr>
        <p:spPr>
          <a:xfrm>
            <a:off x="4526280" y="2679192"/>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Rate limiting: 10 attempts/min/IP</a:t>
            </a:r>
          </a:p>
        </p:txBody>
      </p:sp>
      <p:sp>
        <p:nvSpPr>
          <p:cNvPr id="21" name="TextBox 20"/>
          <p:cNvSpPr txBox="1"/>
          <p:nvPr/>
        </p:nvSpPr>
        <p:spPr>
          <a:xfrm>
            <a:off x="4526280" y="2935224"/>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Client-side: 5 attempts, then 5-min lockout</a:t>
            </a:r>
          </a:p>
        </p:txBody>
      </p:sp>
      <p:sp>
        <p:nvSpPr>
          <p:cNvPr id="22" name="TextBox 21"/>
          <p:cNvSpPr txBox="1"/>
          <p:nvPr/>
        </p:nvSpPr>
        <p:spPr>
          <a:xfrm>
            <a:off x="4526280" y="3191256"/>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Input sanitization (XSS, injection)</a:t>
            </a:r>
          </a:p>
        </p:txBody>
      </p:sp>
      <p:sp>
        <p:nvSpPr>
          <p:cNvPr id="23" name="TextBox 22"/>
          <p:cNvSpPr txBox="1"/>
          <p:nvPr/>
        </p:nvSpPr>
        <p:spPr>
          <a:xfrm>
            <a:off x="4526280" y="3447288"/>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Input validation (server + client)</a:t>
            </a:r>
          </a:p>
        </p:txBody>
      </p:sp>
      <p:sp>
        <p:nvSpPr>
          <p:cNvPr id="24" name="TextBox 23"/>
          <p:cNvSpPr txBox="1"/>
          <p:nvPr/>
        </p:nvSpPr>
        <p:spPr>
          <a:xfrm>
            <a:off x="4526280" y="3703320"/>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CORS whitelisted origins only</a:t>
            </a:r>
          </a:p>
        </p:txBody>
      </p:sp>
      <p:sp>
        <p:nvSpPr>
          <p:cNvPr id="25" name="TextBox 24"/>
          <p:cNvSpPr txBox="1"/>
          <p:nvPr/>
        </p:nvSpPr>
        <p:spPr>
          <a:xfrm>
            <a:off x="4526280" y="3959352"/>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Trust proxy for production (Render)</a:t>
            </a:r>
          </a:p>
        </p:txBody>
      </p:sp>
      <p:sp>
        <p:nvSpPr>
          <p:cNvPr id="26" name="Rounded Rectangle 25"/>
          <p:cNvSpPr/>
          <p:nvPr/>
        </p:nvSpPr>
        <p:spPr>
          <a:xfrm>
            <a:off x="7680960" y="1920240"/>
            <a:ext cx="3291840" cy="256032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680960" y="1920240"/>
            <a:ext cx="3291840" cy="5080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9560" y="2057400"/>
            <a:ext cx="2834640" cy="365760"/>
          </a:xfrm>
          <a:prstGeom prst="rect">
            <a:avLst/>
          </a:prstGeom>
          <a:noFill/>
        </p:spPr>
        <p:txBody>
          <a:bodyPr wrap="square">
            <a:spAutoFit/>
          </a:bodyPr>
          <a:lstStyle/>
          <a:p>
            <a:pPr algn="l">
              <a:lnSpc>
                <a:spcPts val="1920"/>
              </a:lnSpc>
              <a:spcBef>
                <a:spcPts val="0"/>
              </a:spcBef>
              <a:spcAft>
                <a:spcPts val="0"/>
              </a:spcAft>
              <a:defRPr sz="1600" b="1">
                <a:solidFill>
                  <a:srgbClr val="06B6D4"/>
                </a:solidFill>
                <a:latin typeface="Calibri"/>
              </a:defRPr>
            </a:pPr>
            <a:r>
              <a:t>Security Headers</a:t>
            </a:r>
          </a:p>
        </p:txBody>
      </p:sp>
      <p:sp>
        <p:nvSpPr>
          <p:cNvPr id="29" name="TextBox 28"/>
          <p:cNvSpPr txBox="1"/>
          <p:nvPr/>
        </p:nvSpPr>
        <p:spPr>
          <a:xfrm>
            <a:off x="8001000" y="2423160"/>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X-Frame-Options: DENY</a:t>
            </a:r>
          </a:p>
        </p:txBody>
      </p:sp>
      <p:sp>
        <p:nvSpPr>
          <p:cNvPr id="30" name="TextBox 29"/>
          <p:cNvSpPr txBox="1"/>
          <p:nvPr/>
        </p:nvSpPr>
        <p:spPr>
          <a:xfrm>
            <a:off x="8001000" y="2679192"/>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X-Content-Type-Options: nosniff</a:t>
            </a:r>
          </a:p>
        </p:txBody>
      </p:sp>
      <p:sp>
        <p:nvSpPr>
          <p:cNvPr id="31" name="TextBox 30"/>
          <p:cNvSpPr txBox="1"/>
          <p:nvPr/>
        </p:nvSpPr>
        <p:spPr>
          <a:xfrm>
            <a:off x="8001000" y="2935224"/>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X-XSS-Protection: 1; mode=block</a:t>
            </a:r>
          </a:p>
        </p:txBody>
      </p:sp>
      <p:sp>
        <p:nvSpPr>
          <p:cNvPr id="32" name="TextBox 31"/>
          <p:cNvSpPr txBox="1"/>
          <p:nvPr/>
        </p:nvSpPr>
        <p:spPr>
          <a:xfrm>
            <a:off x="8001000" y="3191256"/>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Referrer-Policy: strict-origin</a:t>
            </a:r>
          </a:p>
        </p:txBody>
      </p:sp>
      <p:sp>
        <p:nvSpPr>
          <p:cNvPr id="33" name="TextBox 32"/>
          <p:cNvSpPr txBox="1"/>
          <p:nvPr/>
        </p:nvSpPr>
        <p:spPr>
          <a:xfrm>
            <a:off x="8001000" y="3447288"/>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Content-Security-Policy (CSP)</a:t>
            </a:r>
          </a:p>
        </p:txBody>
      </p:sp>
      <p:sp>
        <p:nvSpPr>
          <p:cNvPr id="34" name="TextBox 33"/>
          <p:cNvSpPr txBox="1"/>
          <p:nvPr/>
        </p:nvSpPr>
        <p:spPr>
          <a:xfrm>
            <a:off x="8001000" y="3703320"/>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Cache-Control: no-store</a:t>
            </a:r>
          </a:p>
        </p:txBody>
      </p:sp>
      <p:sp>
        <p:nvSpPr>
          <p:cNvPr id="35" name="TextBox 34"/>
          <p:cNvSpPr txBox="1"/>
          <p:nvPr/>
        </p:nvSpPr>
        <p:spPr>
          <a:xfrm>
            <a:off x="8001000" y="3959352"/>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HTTPS enforced in production</a:t>
            </a:r>
          </a:p>
        </p:txBody>
      </p:sp>
      <p:sp>
        <p:nvSpPr>
          <p:cNvPr id="36" name="Rounded Rectangle 35"/>
          <p:cNvSpPr/>
          <p:nvPr/>
        </p:nvSpPr>
        <p:spPr>
          <a:xfrm>
            <a:off x="731520" y="4754880"/>
            <a:ext cx="5029200" cy="164592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731520" y="4754880"/>
            <a:ext cx="5029200" cy="508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60120" y="4892040"/>
            <a:ext cx="4572000" cy="365760"/>
          </a:xfrm>
          <a:prstGeom prst="rect">
            <a:avLst/>
          </a:prstGeom>
          <a:noFill/>
        </p:spPr>
        <p:txBody>
          <a:bodyPr wrap="square">
            <a:spAutoFit/>
          </a:bodyPr>
          <a:lstStyle/>
          <a:p>
            <a:pPr algn="l">
              <a:lnSpc>
                <a:spcPts val="1920"/>
              </a:lnSpc>
              <a:spcBef>
                <a:spcPts val="0"/>
              </a:spcBef>
              <a:spcAft>
                <a:spcPts val="0"/>
              </a:spcAft>
              <a:defRPr sz="1600" b="1">
                <a:solidFill>
                  <a:srgbClr val="10B981"/>
                </a:solidFill>
                <a:latin typeface="Calibri"/>
              </a:defRPr>
            </a:pPr>
            <a:r>
              <a:t>Audit Trail</a:t>
            </a:r>
          </a:p>
        </p:txBody>
      </p:sp>
      <p:sp>
        <p:nvSpPr>
          <p:cNvPr id="39" name="TextBox 38"/>
          <p:cNvSpPr txBox="1"/>
          <p:nvPr/>
        </p:nvSpPr>
        <p:spPr>
          <a:xfrm>
            <a:off x="1051560" y="5257800"/>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Timeline view of all admin actions</a:t>
            </a:r>
          </a:p>
        </p:txBody>
      </p:sp>
      <p:sp>
        <p:nvSpPr>
          <p:cNvPr id="40" name="TextBox 39"/>
          <p:cNvSpPr txBox="1"/>
          <p:nvPr/>
        </p:nvSpPr>
        <p:spPr>
          <a:xfrm>
            <a:off x="1051560" y="5513832"/>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Action types: CREATE, UPDATE, DELETE, LOGIN, LOGOUT, EXPORT</a:t>
            </a:r>
          </a:p>
        </p:txBody>
      </p:sp>
      <p:sp>
        <p:nvSpPr>
          <p:cNvPr id="41" name="TextBox 40"/>
          <p:cNvSpPr txBox="1"/>
          <p:nvPr/>
        </p:nvSpPr>
        <p:spPr>
          <a:xfrm>
            <a:off x="1051560" y="5769864"/>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Logged: user, role, IP address, timestamp, description</a:t>
            </a:r>
          </a:p>
        </p:txBody>
      </p:sp>
      <p:sp>
        <p:nvSpPr>
          <p:cNvPr id="42" name="TextBox 41"/>
          <p:cNvSpPr txBox="1"/>
          <p:nvPr/>
        </p:nvSpPr>
        <p:spPr>
          <a:xfrm>
            <a:off x="1051560" y="6025896"/>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Filter by action type, user, date, search term</a:t>
            </a:r>
          </a:p>
        </p:txBody>
      </p:sp>
      <p:sp>
        <p:nvSpPr>
          <p:cNvPr id="43" name="TextBox 42"/>
          <p:cNvSpPr txBox="1"/>
          <p:nvPr/>
        </p:nvSpPr>
        <p:spPr>
          <a:xfrm>
            <a:off x="1051560" y="6281928"/>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Pagination (20/page) and CSV export</a:t>
            </a:r>
          </a:p>
        </p:txBody>
      </p:sp>
      <p:sp>
        <p:nvSpPr>
          <p:cNvPr id="44" name="Rounded Rectangle 43"/>
          <p:cNvSpPr/>
          <p:nvPr/>
        </p:nvSpPr>
        <p:spPr>
          <a:xfrm>
            <a:off x="6217920" y="4754880"/>
            <a:ext cx="4389120" cy="164592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6217920" y="4754880"/>
            <a:ext cx="4389120" cy="508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46520" y="4892040"/>
            <a:ext cx="3931920" cy="365760"/>
          </a:xfrm>
          <a:prstGeom prst="rect">
            <a:avLst/>
          </a:prstGeom>
          <a:noFill/>
        </p:spPr>
        <p:txBody>
          <a:bodyPr wrap="square">
            <a:spAutoFit/>
          </a:bodyPr>
          <a:lstStyle/>
          <a:p>
            <a:pPr algn="l">
              <a:lnSpc>
                <a:spcPts val="1920"/>
              </a:lnSpc>
              <a:spcBef>
                <a:spcPts val="0"/>
              </a:spcBef>
              <a:spcAft>
                <a:spcPts val="0"/>
              </a:spcAft>
              <a:defRPr sz="1600" b="1">
                <a:solidFill>
                  <a:srgbClr val="F59E0B"/>
                </a:solidFill>
                <a:latin typeface="Calibri"/>
              </a:defRPr>
            </a:pPr>
            <a:r>
              <a:t>Password Management</a:t>
            </a:r>
          </a:p>
        </p:txBody>
      </p:sp>
      <p:sp>
        <p:nvSpPr>
          <p:cNvPr id="47" name="TextBox 46"/>
          <p:cNvSpPr txBox="1"/>
          <p:nvPr/>
        </p:nvSpPr>
        <p:spPr>
          <a:xfrm>
            <a:off x="6537960" y="5257800"/>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Settings page: change password (verify current first)</a:t>
            </a:r>
          </a:p>
        </p:txBody>
      </p:sp>
      <p:sp>
        <p:nvSpPr>
          <p:cNvPr id="48" name="TextBox 47"/>
          <p:cNvSpPr txBox="1"/>
          <p:nvPr/>
        </p:nvSpPr>
        <p:spPr>
          <a:xfrm>
            <a:off x="6537960" y="5513832"/>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Admin can reset PA/Clerk passwords</a:t>
            </a:r>
          </a:p>
        </p:txBody>
      </p:sp>
      <p:sp>
        <p:nvSpPr>
          <p:cNvPr id="49" name="TextBox 48"/>
          <p:cNvSpPr txBox="1"/>
          <p:nvPr/>
        </p:nvSpPr>
        <p:spPr>
          <a:xfrm>
            <a:off x="6537960" y="5769864"/>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Minimum 6 characters, max 128</a:t>
            </a:r>
          </a:p>
        </p:txBody>
      </p:sp>
      <p:sp>
        <p:nvSpPr>
          <p:cNvPr id="50" name="TextBox 49"/>
          <p:cNvSpPr txBox="1"/>
          <p:nvPr/>
        </p:nvSpPr>
        <p:spPr>
          <a:xfrm>
            <a:off x="6537960" y="6025896"/>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bcrypt with salt rounds = 10</a:t>
            </a:r>
          </a:p>
        </p:txBody>
      </p:sp>
      <p:sp>
        <p:nvSpPr>
          <p:cNvPr id="51" name="TextBox 50"/>
          <p:cNvSpPr txBox="1"/>
          <p:nvPr/>
        </p:nvSpPr>
        <p:spPr>
          <a:xfrm>
            <a:off x="6537960" y="6281928"/>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Legacy hash auto-migration on login</a:t>
            </a:r>
          </a:p>
        </p:txBody>
      </p:sp>
      <p:sp>
        <p:nvSpPr>
          <p:cNvPr id="52" name="TextBox 51"/>
          <p:cNvSpPr txBox="1"/>
          <p:nvPr/>
        </p:nvSpPr>
        <p:spPr>
          <a:xfrm>
            <a:off x="731520" y="6400800"/>
            <a:ext cx="4572000" cy="365760"/>
          </a:xfrm>
          <a:prstGeom prst="rect">
            <a:avLst/>
          </a:prstGeom>
          <a:noFill/>
        </p:spPr>
        <p:txBody>
          <a:bodyPr wrap="square">
            <a:spAutoFit/>
          </a:bodyPr>
          <a:lstStyle/>
          <a:p>
            <a:pPr algn="l">
              <a:lnSpc>
                <a:spcPts val="1200"/>
              </a:lnSpc>
              <a:spcBef>
                <a:spcPts val="0"/>
              </a:spcBef>
              <a:spcAft>
                <a:spcPts val="0"/>
              </a:spcAft>
              <a:defRPr sz="1000" b="0">
                <a:solidFill>
                  <a:srgbClr val="9999BB"/>
                </a:solidFill>
                <a:latin typeface="Calibri"/>
              </a:defRPr>
            </a:pPr>
            <a:r>
              <a:t>VOO Ward Admin Dashboard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0F23"/>
        </a:solidFill>
        <a:effectLst/>
      </p:bgPr>
    </p:bg>
    <p:spTree>
      <p:nvGrpSpPr>
        <p:cNvPr id="1" name=""/>
        <p:cNvGrpSpPr/>
        <p:nvPr/>
      </p:nvGrpSpPr>
      <p:grpSpPr/>
      <p:sp>
        <p:nvSpPr>
          <p:cNvPr id="2" name="Rectangle 1"/>
          <p:cNvSpPr/>
          <p:nvPr/>
        </p:nvSpPr>
        <p:spPr>
          <a:xfrm>
            <a:off x="731520" y="548640"/>
            <a:ext cx="2286000" cy="508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85800"/>
            <a:ext cx="10058400" cy="640080"/>
          </a:xfrm>
          <a:prstGeom prst="rect">
            <a:avLst/>
          </a:prstGeom>
          <a:noFill/>
        </p:spPr>
        <p:txBody>
          <a:bodyPr wrap="square">
            <a:spAutoFit/>
          </a:bodyPr>
          <a:lstStyle/>
          <a:p>
            <a:pPr algn="l">
              <a:lnSpc>
                <a:spcPts val="4320"/>
              </a:lnSpc>
              <a:spcBef>
                <a:spcPts val="0"/>
              </a:spcBef>
              <a:spcAft>
                <a:spcPts val="0"/>
              </a:spcAft>
              <a:defRPr sz="3600" b="1">
                <a:solidFill>
                  <a:srgbClr val="FFFFFF"/>
                </a:solidFill>
                <a:latin typeface="Calibri"/>
              </a:defRPr>
            </a:pPr>
            <a:r>
              <a:t>AI Assistant &amp; Notifications</a:t>
            </a:r>
          </a:p>
        </p:txBody>
      </p:sp>
      <p:sp>
        <p:nvSpPr>
          <p:cNvPr id="4" name="TextBox 3"/>
          <p:cNvSpPr txBox="1"/>
          <p:nvPr/>
        </p:nvSpPr>
        <p:spPr>
          <a:xfrm>
            <a:off x="731520" y="1280160"/>
            <a:ext cx="10058400" cy="365760"/>
          </a:xfrm>
          <a:prstGeom prst="rect">
            <a:avLst/>
          </a:prstGeom>
          <a:noFill/>
        </p:spPr>
        <p:txBody>
          <a:bodyPr wrap="square">
            <a:spAutoFit/>
          </a:bodyPr>
          <a:lstStyle/>
          <a:p>
            <a:pPr algn="l">
              <a:lnSpc>
                <a:spcPts val="1920"/>
              </a:lnSpc>
              <a:spcBef>
                <a:spcPts val="0"/>
              </a:spcBef>
              <a:spcAft>
                <a:spcPts val="0"/>
              </a:spcAft>
              <a:defRPr sz="1600" b="0">
                <a:solidFill>
                  <a:srgbClr val="9999BB"/>
                </a:solidFill>
                <a:latin typeface="Calibri"/>
              </a:defRPr>
            </a:pPr>
            <a:r>
              <a:t>Smart Features, Real-Time Updates &amp; Alerts</a:t>
            </a:r>
          </a:p>
        </p:txBody>
      </p:sp>
      <p:sp>
        <p:nvSpPr>
          <p:cNvPr id="5" name="Rounded Rectangle 4"/>
          <p:cNvSpPr/>
          <p:nvPr/>
        </p:nvSpPr>
        <p:spPr>
          <a:xfrm>
            <a:off x="11430000" y="0"/>
            <a:ext cx="761695" cy="6858000"/>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920240"/>
            <a:ext cx="5029200" cy="256032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920240"/>
            <a:ext cx="5029200" cy="50800"/>
          </a:xfrm>
          <a:prstGeom prst="roundRect">
            <a:avLst/>
          </a:prstGeom>
          <a:solidFill>
            <a:srgbClr val="4C1D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57400"/>
            <a:ext cx="4572000" cy="365760"/>
          </a:xfrm>
          <a:prstGeom prst="rect">
            <a:avLst/>
          </a:prstGeom>
          <a:noFill/>
        </p:spPr>
        <p:txBody>
          <a:bodyPr wrap="square">
            <a:spAutoFit/>
          </a:bodyPr>
          <a:lstStyle/>
          <a:p>
            <a:pPr algn="l">
              <a:lnSpc>
                <a:spcPts val="1920"/>
              </a:lnSpc>
              <a:spcBef>
                <a:spcPts val="0"/>
              </a:spcBef>
              <a:spcAft>
                <a:spcPts val="0"/>
              </a:spcAft>
              <a:defRPr sz="1600" b="1">
                <a:solidFill>
                  <a:srgbClr val="4C1D95"/>
                </a:solidFill>
                <a:latin typeface="Calibri"/>
              </a:defRPr>
            </a:pPr>
            <a:r>
              <a:t>AI Chat Assistant (Mai)</a:t>
            </a:r>
          </a:p>
        </p:txBody>
      </p:sp>
      <p:sp>
        <p:nvSpPr>
          <p:cNvPr id="9" name="TextBox 8"/>
          <p:cNvSpPr txBox="1"/>
          <p:nvPr/>
        </p:nvSpPr>
        <p:spPr>
          <a:xfrm>
            <a:off x="1051560" y="2423160"/>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Floating chat button with animated activation</a:t>
            </a:r>
          </a:p>
        </p:txBody>
      </p:sp>
      <p:sp>
        <p:nvSpPr>
          <p:cNvPr id="10" name="TextBox 9"/>
          <p:cNvSpPr txBox="1"/>
          <p:nvPr/>
        </p:nvSpPr>
        <p:spPr>
          <a:xfrm>
            <a:off x="1051560" y="2679192"/>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Chat modal with full conversation history</a:t>
            </a:r>
          </a:p>
        </p:txBody>
      </p:sp>
      <p:sp>
        <p:nvSpPr>
          <p:cNvPr id="11" name="TextBox 10"/>
          <p:cNvSpPr txBox="1"/>
          <p:nvPr/>
        </p:nvSpPr>
        <p:spPr>
          <a:xfrm>
            <a:off x="1051560" y="2935224"/>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Contextual responses: navigation, issues, exports, passwords</a:t>
            </a:r>
          </a:p>
        </p:txBody>
      </p:sp>
      <p:sp>
        <p:nvSpPr>
          <p:cNvPr id="12" name="TextBox 11"/>
          <p:cNvSpPr txBox="1"/>
          <p:nvPr/>
        </p:nvSpPr>
        <p:spPr>
          <a:xfrm>
            <a:off x="1051560" y="3191256"/>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Action buttons link to relevant dashboard sections</a:t>
            </a:r>
          </a:p>
        </p:txBody>
      </p:sp>
      <p:sp>
        <p:nvSpPr>
          <p:cNvPr id="13" name="TextBox 12"/>
          <p:cNvSpPr txBox="1"/>
          <p:nvPr/>
        </p:nvSpPr>
        <p:spPr>
          <a:xfrm>
            <a:off x="1051560" y="3447288"/>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Database connectivity check from chat</a:t>
            </a:r>
          </a:p>
        </p:txBody>
      </p:sp>
      <p:sp>
        <p:nvSpPr>
          <p:cNvPr id="14" name="TextBox 13"/>
          <p:cNvSpPr txBox="1"/>
          <p:nvPr/>
        </p:nvSpPr>
        <p:spPr>
          <a:xfrm>
            <a:off x="1051560" y="3703320"/>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Knowledge base topics: business, technology, health, education</a:t>
            </a:r>
          </a:p>
        </p:txBody>
      </p:sp>
      <p:sp>
        <p:nvSpPr>
          <p:cNvPr id="15" name="TextBox 14"/>
          <p:cNvSpPr txBox="1"/>
          <p:nvPr/>
        </p:nvSpPr>
        <p:spPr>
          <a:xfrm>
            <a:off x="1051560" y="3959352"/>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MCA can edit chatbot knowledge base via API</a:t>
            </a:r>
          </a:p>
        </p:txBody>
      </p:sp>
      <p:sp>
        <p:nvSpPr>
          <p:cNvPr id="16" name="TextBox 15"/>
          <p:cNvSpPr txBox="1"/>
          <p:nvPr/>
        </p:nvSpPr>
        <p:spPr>
          <a:xfrm>
            <a:off x="1051560" y="4215384"/>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Appears automatically after login</a:t>
            </a:r>
          </a:p>
        </p:txBody>
      </p:sp>
      <p:sp>
        <p:nvSpPr>
          <p:cNvPr id="17" name="Rounded Rectangle 16"/>
          <p:cNvSpPr/>
          <p:nvPr/>
        </p:nvSpPr>
        <p:spPr>
          <a:xfrm>
            <a:off x="6217920" y="1920240"/>
            <a:ext cx="4389120" cy="256032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17920" y="1920240"/>
            <a:ext cx="4389120" cy="508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2057400"/>
            <a:ext cx="3931920" cy="365760"/>
          </a:xfrm>
          <a:prstGeom prst="rect">
            <a:avLst/>
          </a:prstGeom>
          <a:noFill/>
        </p:spPr>
        <p:txBody>
          <a:bodyPr wrap="square">
            <a:spAutoFit/>
          </a:bodyPr>
          <a:lstStyle/>
          <a:p>
            <a:pPr algn="l">
              <a:lnSpc>
                <a:spcPts val="1920"/>
              </a:lnSpc>
              <a:spcBef>
                <a:spcPts val="0"/>
              </a:spcBef>
              <a:spcAft>
                <a:spcPts val="0"/>
              </a:spcAft>
              <a:defRPr sz="1600" b="1">
                <a:solidFill>
                  <a:srgbClr val="F59E0B"/>
                </a:solidFill>
                <a:latin typeface="Calibri"/>
              </a:defRPr>
            </a:pPr>
            <a:r>
              <a:t>Notification System</a:t>
            </a:r>
          </a:p>
        </p:txBody>
      </p:sp>
      <p:sp>
        <p:nvSpPr>
          <p:cNvPr id="20" name="TextBox 19"/>
          <p:cNvSpPr txBox="1"/>
          <p:nvPr/>
        </p:nvSpPr>
        <p:spPr>
          <a:xfrm>
            <a:off x="6537960" y="2423160"/>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Header bell icon with unread badge indicator</a:t>
            </a:r>
          </a:p>
        </p:txBody>
      </p:sp>
      <p:sp>
        <p:nvSpPr>
          <p:cNvPr id="21" name="TextBox 20"/>
          <p:cNvSpPr txBox="1"/>
          <p:nvPr/>
        </p:nvSpPr>
        <p:spPr>
          <a:xfrm>
            <a:off x="6537960" y="2679192"/>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Dropdown panel (380px) with scrollable list</a:t>
            </a:r>
          </a:p>
        </p:txBody>
      </p:sp>
      <p:sp>
        <p:nvSpPr>
          <p:cNvPr id="22" name="TextBox 21"/>
          <p:cNvSpPr txBox="1"/>
          <p:nvPr/>
        </p:nvSpPr>
        <p:spPr>
          <a:xfrm>
            <a:off x="6537960" y="2935224"/>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Types: Issue, Bursary, User, System, Success</a:t>
            </a:r>
          </a:p>
        </p:txBody>
      </p:sp>
      <p:sp>
        <p:nvSpPr>
          <p:cNvPr id="23" name="TextBox 22"/>
          <p:cNvSpPr txBox="1"/>
          <p:nvPr/>
        </p:nvSpPr>
        <p:spPr>
          <a:xfrm>
            <a:off x="6537960" y="3191256"/>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Mark individual or all as read</a:t>
            </a:r>
          </a:p>
        </p:txBody>
      </p:sp>
      <p:sp>
        <p:nvSpPr>
          <p:cNvPr id="24" name="TextBox 23"/>
          <p:cNvSpPr txBox="1"/>
          <p:nvPr/>
        </p:nvSpPr>
        <p:spPr>
          <a:xfrm>
            <a:off x="6537960" y="3447288"/>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30-second polling for new notifications</a:t>
            </a:r>
          </a:p>
        </p:txBody>
      </p:sp>
      <p:sp>
        <p:nvSpPr>
          <p:cNvPr id="25" name="TextBox 24"/>
          <p:cNvSpPr txBox="1"/>
          <p:nvPr/>
        </p:nvSpPr>
        <p:spPr>
          <a:xfrm>
            <a:off x="6537960" y="3703320"/>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localStorage persistence (max 50 items)</a:t>
            </a:r>
          </a:p>
        </p:txBody>
      </p:sp>
      <p:sp>
        <p:nvSpPr>
          <p:cNvPr id="26" name="TextBox 25"/>
          <p:cNvSpPr txBox="1"/>
          <p:nvPr/>
        </p:nvSpPr>
        <p:spPr>
          <a:xfrm>
            <a:off x="6537960" y="3959352"/>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Time-ago formatting (Just now, Xm, Xh, Xd)</a:t>
            </a:r>
          </a:p>
        </p:txBody>
      </p:sp>
      <p:sp>
        <p:nvSpPr>
          <p:cNvPr id="27" name="TextBox 26"/>
          <p:cNvSpPr txBox="1"/>
          <p:nvPr/>
        </p:nvSpPr>
        <p:spPr>
          <a:xfrm>
            <a:off x="6537960" y="4215384"/>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Desktop browser notifications (Notification API)</a:t>
            </a:r>
          </a:p>
        </p:txBody>
      </p:sp>
      <p:sp>
        <p:nvSpPr>
          <p:cNvPr id="28" name="Rounded Rectangle 27"/>
          <p:cNvSpPr/>
          <p:nvPr/>
        </p:nvSpPr>
        <p:spPr>
          <a:xfrm>
            <a:off x="731520" y="4754880"/>
            <a:ext cx="5029200" cy="164592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31520" y="4754880"/>
            <a:ext cx="5029200" cy="5080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4892040"/>
            <a:ext cx="4572000" cy="365760"/>
          </a:xfrm>
          <a:prstGeom prst="rect">
            <a:avLst/>
          </a:prstGeom>
          <a:noFill/>
        </p:spPr>
        <p:txBody>
          <a:bodyPr wrap="square">
            <a:spAutoFit/>
          </a:bodyPr>
          <a:lstStyle/>
          <a:p>
            <a:pPr algn="l">
              <a:lnSpc>
                <a:spcPts val="1920"/>
              </a:lnSpc>
              <a:spcBef>
                <a:spcPts val="0"/>
              </a:spcBef>
              <a:spcAft>
                <a:spcPts val="0"/>
              </a:spcAft>
              <a:defRPr sz="1600" b="1">
                <a:solidFill>
                  <a:srgbClr val="06B6D4"/>
                </a:solidFill>
                <a:latin typeface="Calibri"/>
              </a:defRPr>
            </a:pPr>
            <a:r>
              <a:t>Real-Time Updates</a:t>
            </a:r>
          </a:p>
        </p:txBody>
      </p:sp>
      <p:sp>
        <p:nvSpPr>
          <p:cNvPr id="31" name="TextBox 30"/>
          <p:cNvSpPr txBox="1"/>
          <p:nvPr/>
        </p:nvSpPr>
        <p:spPr>
          <a:xfrm>
            <a:off x="1051560" y="5257800"/>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30-second polling for new issues and data changes</a:t>
            </a:r>
          </a:p>
        </p:txBody>
      </p:sp>
      <p:sp>
        <p:nvSpPr>
          <p:cNvPr id="32" name="TextBox 31"/>
          <p:cNvSpPr txBox="1"/>
          <p:nvPr/>
        </p:nvSpPr>
        <p:spPr>
          <a:xfrm>
            <a:off x="1051560" y="5513832"/>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Auto-refresh: issues table, announcements, map, analytics</a:t>
            </a:r>
          </a:p>
        </p:txBody>
      </p:sp>
      <p:sp>
        <p:nvSpPr>
          <p:cNvPr id="33" name="TextBox 32"/>
          <p:cNvSpPr txBox="1"/>
          <p:nvPr/>
        </p:nvSpPr>
        <p:spPr>
          <a:xfrm>
            <a:off x="1051560" y="5769864"/>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Notification sound (WAV audio) on new issue</a:t>
            </a:r>
          </a:p>
        </p:txBody>
      </p:sp>
      <p:sp>
        <p:nvSpPr>
          <p:cNvPr id="34" name="TextBox 33"/>
          <p:cNvSpPr txBox="1"/>
          <p:nvPr/>
        </p:nvSpPr>
        <p:spPr>
          <a:xfrm>
            <a:off x="1051560" y="6025896"/>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Event system (on/off/emit) for cross-module communication</a:t>
            </a:r>
          </a:p>
        </p:txBody>
      </p:sp>
      <p:sp>
        <p:nvSpPr>
          <p:cNvPr id="35" name="TextBox 34"/>
          <p:cNvSpPr txBox="1"/>
          <p:nvPr/>
        </p:nvSpPr>
        <p:spPr>
          <a:xfrm>
            <a:off x="1051560" y="6281928"/>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Desktop Notification API integration with permission request</a:t>
            </a:r>
          </a:p>
        </p:txBody>
      </p:sp>
      <p:sp>
        <p:nvSpPr>
          <p:cNvPr id="36" name="Rounded Rectangle 35"/>
          <p:cNvSpPr/>
          <p:nvPr/>
        </p:nvSpPr>
        <p:spPr>
          <a:xfrm>
            <a:off x="6217920" y="4754880"/>
            <a:ext cx="4389120" cy="164592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217920" y="4754880"/>
            <a:ext cx="4389120" cy="508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46520" y="4892040"/>
            <a:ext cx="3931920" cy="365760"/>
          </a:xfrm>
          <a:prstGeom prst="rect">
            <a:avLst/>
          </a:prstGeom>
          <a:noFill/>
        </p:spPr>
        <p:txBody>
          <a:bodyPr wrap="square">
            <a:spAutoFit/>
          </a:bodyPr>
          <a:lstStyle/>
          <a:p>
            <a:pPr algn="l">
              <a:lnSpc>
                <a:spcPts val="1920"/>
              </a:lnSpc>
              <a:spcBef>
                <a:spcPts val="0"/>
              </a:spcBef>
              <a:spcAft>
                <a:spcPts val="0"/>
              </a:spcAft>
              <a:defRPr sz="1600" b="1">
                <a:solidFill>
                  <a:srgbClr val="10B981"/>
                </a:solidFill>
                <a:latin typeface="Calibri"/>
              </a:defRPr>
            </a:pPr>
            <a:r>
              <a:t>Connection Status</a:t>
            </a:r>
          </a:p>
        </p:txBody>
      </p:sp>
      <p:sp>
        <p:nvSpPr>
          <p:cNvPr id="39" name="TextBox 38"/>
          <p:cNvSpPr txBox="1"/>
          <p:nvPr/>
        </p:nvSpPr>
        <p:spPr>
          <a:xfrm>
            <a:off x="6537960" y="5257800"/>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Fixed bottom-right indicator dot</a:t>
            </a:r>
          </a:p>
        </p:txBody>
      </p:sp>
      <p:sp>
        <p:nvSpPr>
          <p:cNvPr id="40" name="TextBox 39"/>
          <p:cNvSpPr txBox="1"/>
          <p:nvPr/>
        </p:nvSpPr>
        <p:spPr>
          <a:xfrm>
            <a:off x="6537960" y="5513832"/>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Green = Live, Amber = Connecting, Red = Offline</a:t>
            </a:r>
          </a:p>
        </p:txBody>
      </p:sp>
      <p:sp>
        <p:nvSpPr>
          <p:cNvPr id="41" name="TextBox 40"/>
          <p:cNvSpPr txBox="1"/>
          <p:nvPr/>
        </p:nvSpPr>
        <p:spPr>
          <a:xfrm>
            <a:off x="6537960" y="5769864"/>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Automatic reconnection on failure</a:t>
            </a:r>
          </a:p>
        </p:txBody>
      </p:sp>
      <p:sp>
        <p:nvSpPr>
          <p:cNvPr id="42" name="TextBox 41"/>
          <p:cNvSpPr txBox="1"/>
          <p:nvPr/>
        </p:nvSpPr>
        <p:spPr>
          <a:xfrm>
            <a:off x="6537960" y="6025896"/>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Graceful degradation when API unreachable</a:t>
            </a:r>
          </a:p>
        </p:txBody>
      </p:sp>
      <p:sp>
        <p:nvSpPr>
          <p:cNvPr id="43" name="TextBox 42"/>
          <p:cNvSpPr txBox="1"/>
          <p:nvPr/>
        </p:nvSpPr>
        <p:spPr>
          <a:xfrm>
            <a:off x="731520" y="6400800"/>
            <a:ext cx="4572000" cy="365760"/>
          </a:xfrm>
          <a:prstGeom prst="rect">
            <a:avLst/>
          </a:prstGeom>
          <a:noFill/>
        </p:spPr>
        <p:txBody>
          <a:bodyPr wrap="square">
            <a:spAutoFit/>
          </a:bodyPr>
          <a:lstStyle/>
          <a:p>
            <a:pPr algn="l">
              <a:lnSpc>
                <a:spcPts val="1200"/>
              </a:lnSpc>
              <a:spcBef>
                <a:spcPts val="0"/>
              </a:spcBef>
              <a:spcAft>
                <a:spcPts val="0"/>
              </a:spcAft>
              <a:defRPr sz="1000" b="0">
                <a:solidFill>
                  <a:srgbClr val="9999BB"/>
                </a:solidFill>
                <a:latin typeface="Calibri"/>
              </a:defRPr>
            </a:pPr>
            <a:r>
              <a:t>VOO Ward Admin Dashboard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0F23"/>
        </a:solidFill>
        <a:effectLst/>
      </p:bgPr>
    </p:bg>
    <p:spTree>
      <p:nvGrpSpPr>
        <p:cNvPr id="1" name=""/>
        <p:cNvGrpSpPr/>
        <p:nvPr/>
      </p:nvGrpSpPr>
      <p:grpSpPr/>
      <p:sp>
        <p:nvSpPr>
          <p:cNvPr id="2" name="Rectangle 1"/>
          <p:cNvSpPr/>
          <p:nvPr/>
        </p:nvSpPr>
        <p:spPr>
          <a:xfrm>
            <a:off x="731520" y="548640"/>
            <a:ext cx="2286000" cy="508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85800"/>
            <a:ext cx="10058400" cy="640080"/>
          </a:xfrm>
          <a:prstGeom prst="rect">
            <a:avLst/>
          </a:prstGeom>
          <a:noFill/>
        </p:spPr>
        <p:txBody>
          <a:bodyPr wrap="square">
            <a:spAutoFit/>
          </a:bodyPr>
          <a:lstStyle/>
          <a:p>
            <a:pPr algn="l">
              <a:lnSpc>
                <a:spcPts val="4320"/>
              </a:lnSpc>
              <a:spcBef>
                <a:spcPts val="0"/>
              </a:spcBef>
              <a:spcAft>
                <a:spcPts val="0"/>
              </a:spcAft>
              <a:defRPr sz="3600" b="1">
                <a:solidFill>
                  <a:srgbClr val="FFFFFF"/>
                </a:solidFill>
                <a:latin typeface="Calibri"/>
              </a:defRPr>
            </a:pPr>
            <a:r>
              <a:t>UI/UX Design</a:t>
            </a:r>
          </a:p>
        </p:txBody>
      </p:sp>
      <p:sp>
        <p:nvSpPr>
          <p:cNvPr id="4" name="TextBox 3"/>
          <p:cNvSpPr txBox="1"/>
          <p:nvPr/>
        </p:nvSpPr>
        <p:spPr>
          <a:xfrm>
            <a:off x="731520" y="1280160"/>
            <a:ext cx="10058400" cy="365760"/>
          </a:xfrm>
          <a:prstGeom prst="rect">
            <a:avLst/>
          </a:prstGeom>
          <a:noFill/>
        </p:spPr>
        <p:txBody>
          <a:bodyPr wrap="square">
            <a:spAutoFit/>
          </a:bodyPr>
          <a:lstStyle/>
          <a:p>
            <a:pPr algn="l">
              <a:lnSpc>
                <a:spcPts val="1920"/>
              </a:lnSpc>
              <a:spcBef>
                <a:spcPts val="0"/>
              </a:spcBef>
              <a:spcAft>
                <a:spcPts val="0"/>
              </a:spcAft>
              <a:defRPr sz="1600" b="0">
                <a:solidFill>
                  <a:srgbClr val="9999BB"/>
                </a:solidFill>
                <a:latin typeface="Calibri"/>
              </a:defRPr>
            </a:pPr>
            <a:r>
              <a:t>Modern, Accessible &amp; Responsive Interface</a:t>
            </a:r>
          </a:p>
        </p:txBody>
      </p:sp>
      <p:sp>
        <p:nvSpPr>
          <p:cNvPr id="5" name="Rounded Rectangle 4"/>
          <p:cNvSpPr/>
          <p:nvPr/>
        </p:nvSpPr>
        <p:spPr>
          <a:xfrm>
            <a:off x="11430000" y="0"/>
            <a:ext cx="761695" cy="6858000"/>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920240"/>
            <a:ext cx="3291840" cy="219456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920240"/>
            <a:ext cx="3291840" cy="5080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57400"/>
            <a:ext cx="2834640" cy="365760"/>
          </a:xfrm>
          <a:prstGeom prst="rect">
            <a:avLst/>
          </a:prstGeom>
          <a:noFill/>
        </p:spPr>
        <p:txBody>
          <a:bodyPr wrap="square">
            <a:spAutoFit/>
          </a:bodyPr>
          <a:lstStyle/>
          <a:p>
            <a:pPr algn="l">
              <a:lnSpc>
                <a:spcPts val="1920"/>
              </a:lnSpc>
              <a:spcBef>
                <a:spcPts val="0"/>
              </a:spcBef>
              <a:spcAft>
                <a:spcPts val="0"/>
              </a:spcAft>
              <a:defRPr sz="1600" b="1">
                <a:solidFill>
                  <a:srgbClr val="6366F1"/>
                </a:solidFill>
                <a:latin typeface="Calibri"/>
              </a:defRPr>
            </a:pPr>
            <a:r>
              <a:t>Visual Design</a:t>
            </a:r>
          </a:p>
        </p:txBody>
      </p:sp>
      <p:sp>
        <p:nvSpPr>
          <p:cNvPr id="9" name="TextBox 8"/>
          <p:cNvSpPr txBox="1"/>
          <p:nvPr/>
        </p:nvSpPr>
        <p:spPr>
          <a:xfrm>
            <a:off x="1051560" y="2423160"/>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Dark theme: deep purple/indigo gradient</a:t>
            </a:r>
          </a:p>
        </p:txBody>
      </p:sp>
      <p:sp>
        <p:nvSpPr>
          <p:cNvPr id="10" name="TextBox 9"/>
          <p:cNvSpPr txBox="1"/>
          <p:nvPr/>
        </p:nvSpPr>
        <p:spPr>
          <a:xfrm>
            <a:off x="1051560" y="2679192"/>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Glassmorphism: blur + transparency</a:t>
            </a:r>
          </a:p>
        </p:txBody>
      </p:sp>
      <p:sp>
        <p:nvSpPr>
          <p:cNvPr id="11" name="TextBox 10"/>
          <p:cNvSpPr txBox="1"/>
          <p:nvPr/>
        </p:nvSpPr>
        <p:spPr>
          <a:xfrm>
            <a:off x="1051560" y="2935224"/>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Animated floating background gradients</a:t>
            </a:r>
          </a:p>
        </p:txBody>
      </p:sp>
      <p:sp>
        <p:nvSpPr>
          <p:cNvPr id="12" name="TextBox 11"/>
          <p:cNvSpPr txBox="1"/>
          <p:nvPr/>
        </p:nvSpPr>
        <p:spPr>
          <a:xfrm>
            <a:off x="1051560" y="3191256"/>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Logo with shine animation effect</a:t>
            </a:r>
          </a:p>
        </p:txBody>
      </p:sp>
      <p:sp>
        <p:nvSpPr>
          <p:cNvPr id="13" name="TextBox 12"/>
          <p:cNvSpPr txBox="1"/>
          <p:nvPr/>
        </p:nvSpPr>
        <p:spPr>
          <a:xfrm>
            <a:off x="1051560" y="3447288"/>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Custom thin translucent scrollbars</a:t>
            </a:r>
          </a:p>
        </p:txBody>
      </p:sp>
      <p:sp>
        <p:nvSpPr>
          <p:cNvPr id="14" name="TextBox 13"/>
          <p:cNvSpPr txBox="1"/>
          <p:nvPr/>
        </p:nvSpPr>
        <p:spPr>
          <a:xfrm>
            <a:off x="1051560" y="3703320"/>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Inter + Space Grotesk typography</a:t>
            </a:r>
          </a:p>
        </p:txBody>
      </p:sp>
      <p:sp>
        <p:nvSpPr>
          <p:cNvPr id="15" name="Rounded Rectangle 14"/>
          <p:cNvSpPr/>
          <p:nvPr/>
        </p:nvSpPr>
        <p:spPr>
          <a:xfrm>
            <a:off x="4206240" y="1920240"/>
            <a:ext cx="3291840" cy="219456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206240" y="1920240"/>
            <a:ext cx="3291840" cy="5080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34840" y="2057400"/>
            <a:ext cx="2834640" cy="365760"/>
          </a:xfrm>
          <a:prstGeom prst="rect">
            <a:avLst/>
          </a:prstGeom>
          <a:noFill/>
        </p:spPr>
        <p:txBody>
          <a:bodyPr wrap="square">
            <a:spAutoFit/>
          </a:bodyPr>
          <a:lstStyle/>
          <a:p>
            <a:pPr algn="l">
              <a:lnSpc>
                <a:spcPts val="1920"/>
              </a:lnSpc>
              <a:spcBef>
                <a:spcPts val="0"/>
              </a:spcBef>
              <a:spcAft>
                <a:spcPts val="0"/>
              </a:spcAft>
              <a:defRPr sz="1600" b="1">
                <a:solidFill>
                  <a:srgbClr val="06B6D4"/>
                </a:solidFill>
                <a:latin typeface="Calibri"/>
              </a:defRPr>
            </a:pPr>
            <a:r>
              <a:t>Interactions</a:t>
            </a:r>
          </a:p>
        </p:txBody>
      </p:sp>
      <p:sp>
        <p:nvSpPr>
          <p:cNvPr id="18" name="TextBox 17"/>
          <p:cNvSpPr txBox="1"/>
          <p:nvPr/>
        </p:nvSpPr>
        <p:spPr>
          <a:xfrm>
            <a:off x="4526280" y="2423160"/>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Cards lift on hover (translateY -8px)</a:t>
            </a:r>
          </a:p>
        </p:txBody>
      </p:sp>
      <p:sp>
        <p:nvSpPr>
          <p:cNvPr id="19" name="TextBox 18"/>
          <p:cNvSpPr txBox="1"/>
          <p:nvPr/>
        </p:nvSpPr>
        <p:spPr>
          <a:xfrm>
            <a:off x="4526280" y="2679192"/>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Nav items slide right on hover</a:t>
            </a:r>
          </a:p>
        </p:txBody>
      </p:sp>
      <p:sp>
        <p:nvSpPr>
          <p:cNvPr id="20" name="TextBox 19"/>
          <p:cNvSpPr txBox="1"/>
          <p:nvPr/>
        </p:nvSpPr>
        <p:spPr>
          <a:xfrm>
            <a:off x="4526280" y="2935224"/>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Modal slide-in with scale animation</a:t>
            </a:r>
          </a:p>
        </p:txBody>
      </p:sp>
      <p:sp>
        <p:nvSpPr>
          <p:cNvPr id="21" name="TextBox 20"/>
          <p:cNvSpPr txBox="1"/>
          <p:nvPr/>
        </p:nvSpPr>
        <p:spPr>
          <a:xfrm>
            <a:off x="4526280" y="3191256"/>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Animated stat counters (2s count-up)</a:t>
            </a:r>
          </a:p>
        </p:txBody>
      </p:sp>
      <p:sp>
        <p:nvSpPr>
          <p:cNvPr id="22" name="TextBox 21"/>
          <p:cNvSpPr txBox="1"/>
          <p:nvPr/>
        </p:nvSpPr>
        <p:spPr>
          <a:xfrm>
            <a:off x="4526280" y="3447288"/>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Dropdown fade-in animations</a:t>
            </a:r>
          </a:p>
        </p:txBody>
      </p:sp>
      <p:sp>
        <p:nvSpPr>
          <p:cNvPr id="23" name="TextBox 22"/>
          <p:cNvSpPr txBox="1"/>
          <p:nvPr/>
        </p:nvSpPr>
        <p:spPr>
          <a:xfrm>
            <a:off x="4526280" y="3703320"/>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Smooth-scroll to highlighted issues</a:t>
            </a:r>
          </a:p>
        </p:txBody>
      </p:sp>
      <p:sp>
        <p:nvSpPr>
          <p:cNvPr id="24" name="Rounded Rectangle 23"/>
          <p:cNvSpPr/>
          <p:nvPr/>
        </p:nvSpPr>
        <p:spPr>
          <a:xfrm>
            <a:off x="7680960" y="1920240"/>
            <a:ext cx="3291840" cy="219456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680960" y="1920240"/>
            <a:ext cx="3291840" cy="508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09560" y="2057400"/>
            <a:ext cx="2834640" cy="365760"/>
          </a:xfrm>
          <a:prstGeom prst="rect">
            <a:avLst/>
          </a:prstGeom>
          <a:noFill/>
        </p:spPr>
        <p:txBody>
          <a:bodyPr wrap="square">
            <a:spAutoFit/>
          </a:bodyPr>
          <a:lstStyle/>
          <a:p>
            <a:pPr algn="l">
              <a:lnSpc>
                <a:spcPts val="1920"/>
              </a:lnSpc>
              <a:spcBef>
                <a:spcPts val="0"/>
              </a:spcBef>
              <a:spcAft>
                <a:spcPts val="0"/>
              </a:spcAft>
              <a:defRPr sz="1600" b="1">
                <a:solidFill>
                  <a:srgbClr val="F59E0B"/>
                </a:solidFill>
                <a:latin typeface="Calibri"/>
              </a:defRPr>
            </a:pPr>
            <a:r>
              <a:t>Responsive Design</a:t>
            </a:r>
          </a:p>
        </p:txBody>
      </p:sp>
      <p:sp>
        <p:nvSpPr>
          <p:cNvPr id="27" name="TextBox 26"/>
          <p:cNvSpPr txBox="1"/>
          <p:nvPr/>
        </p:nvSpPr>
        <p:spPr>
          <a:xfrm>
            <a:off x="8001000" y="2423160"/>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Desktop — full sidebar + content</a:t>
            </a:r>
          </a:p>
        </p:txBody>
      </p:sp>
      <p:sp>
        <p:nvSpPr>
          <p:cNvPr id="28" name="TextBox 27"/>
          <p:cNvSpPr txBox="1"/>
          <p:nvPr/>
        </p:nvSpPr>
        <p:spPr>
          <a:xfrm>
            <a:off x="8001000" y="2679192"/>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Tablet (1024px) — single column grid</a:t>
            </a:r>
          </a:p>
        </p:txBody>
      </p:sp>
      <p:sp>
        <p:nvSpPr>
          <p:cNvPr id="29" name="TextBox 28"/>
          <p:cNvSpPr txBox="1"/>
          <p:nvPr/>
        </p:nvSpPr>
        <p:spPr>
          <a:xfrm>
            <a:off x="8001000" y="2935224"/>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Mobile (768px) — sidebar hidden</a:t>
            </a:r>
          </a:p>
        </p:txBody>
      </p:sp>
      <p:sp>
        <p:nvSpPr>
          <p:cNvPr id="30" name="TextBox 29"/>
          <p:cNvSpPr txBox="1"/>
          <p:nvPr/>
        </p:nvSpPr>
        <p:spPr>
          <a:xfrm>
            <a:off x="8001000" y="3191256"/>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Mobile: search box hidden</a:t>
            </a:r>
          </a:p>
        </p:txBody>
      </p:sp>
      <p:sp>
        <p:nvSpPr>
          <p:cNvPr id="31" name="TextBox 30"/>
          <p:cNvSpPr txBox="1"/>
          <p:nvPr/>
        </p:nvSpPr>
        <p:spPr>
          <a:xfrm>
            <a:off x="8001000" y="3447288"/>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Touch-friendly tap targets</a:t>
            </a:r>
          </a:p>
        </p:txBody>
      </p:sp>
      <p:sp>
        <p:nvSpPr>
          <p:cNvPr id="32" name="TextBox 31"/>
          <p:cNvSpPr txBox="1"/>
          <p:nvPr/>
        </p:nvSpPr>
        <p:spPr>
          <a:xfrm>
            <a:off x="8001000" y="3703320"/>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Fluid grid with auto-fit columns</a:t>
            </a:r>
          </a:p>
        </p:txBody>
      </p:sp>
      <p:sp>
        <p:nvSpPr>
          <p:cNvPr id="33" name="Rounded Rectangle 32"/>
          <p:cNvSpPr/>
          <p:nvPr/>
        </p:nvSpPr>
        <p:spPr>
          <a:xfrm>
            <a:off x="731520" y="4389120"/>
            <a:ext cx="5029200" cy="201168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731520" y="4389120"/>
            <a:ext cx="5029200" cy="508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0120" y="4526280"/>
            <a:ext cx="4572000" cy="365760"/>
          </a:xfrm>
          <a:prstGeom prst="rect">
            <a:avLst/>
          </a:prstGeom>
          <a:noFill/>
        </p:spPr>
        <p:txBody>
          <a:bodyPr wrap="square">
            <a:spAutoFit/>
          </a:bodyPr>
          <a:lstStyle/>
          <a:p>
            <a:pPr algn="l">
              <a:lnSpc>
                <a:spcPts val="1920"/>
              </a:lnSpc>
              <a:spcBef>
                <a:spcPts val="0"/>
              </a:spcBef>
              <a:spcAft>
                <a:spcPts val="0"/>
              </a:spcAft>
              <a:defRPr sz="1600" b="1">
                <a:solidFill>
                  <a:srgbClr val="10B981"/>
                </a:solidFill>
                <a:latin typeface="Calibri"/>
              </a:defRPr>
            </a:pPr>
            <a:r>
              <a:t>Table Features</a:t>
            </a:r>
          </a:p>
        </p:txBody>
      </p:sp>
      <p:sp>
        <p:nvSpPr>
          <p:cNvPr id="36" name="TextBox 35"/>
          <p:cNvSpPr txBox="1"/>
          <p:nvPr/>
        </p:nvSpPr>
        <p:spPr>
          <a:xfrm>
            <a:off x="1051560" y="4892040"/>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Sortable columns — click header to toggle</a:t>
            </a:r>
          </a:p>
        </p:txBody>
      </p:sp>
      <p:sp>
        <p:nvSpPr>
          <p:cNvPr id="37" name="TextBox 36"/>
          <p:cNvSpPr txBox="1"/>
          <p:nvPr/>
        </p:nvSpPr>
        <p:spPr>
          <a:xfrm>
            <a:off x="1051560" y="5148072"/>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Numeric-aware sorting for IDs and amounts</a:t>
            </a:r>
          </a:p>
        </p:txBody>
      </p:sp>
      <p:sp>
        <p:nvSpPr>
          <p:cNvPr id="38" name="TextBox 37"/>
          <p:cNvSpPr txBox="1"/>
          <p:nvPr/>
        </p:nvSpPr>
        <p:spPr>
          <a:xfrm>
            <a:off x="1051560" y="5404104"/>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Sort direction indicators (▲/▼)</a:t>
            </a:r>
          </a:p>
        </p:txBody>
      </p:sp>
      <p:sp>
        <p:nvSpPr>
          <p:cNvPr id="39" name="TextBox 38"/>
          <p:cNvSpPr txBox="1"/>
          <p:nvPr/>
        </p:nvSpPr>
        <p:spPr>
          <a:xfrm>
            <a:off x="1051560" y="5660136"/>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Pagination: 10 / 20 / 50 / 100 per page</a:t>
            </a:r>
          </a:p>
        </p:txBody>
      </p:sp>
      <p:sp>
        <p:nvSpPr>
          <p:cNvPr id="40" name="TextBox 39"/>
          <p:cNvSpPr txBox="1"/>
          <p:nvPr/>
        </p:nvSpPr>
        <p:spPr>
          <a:xfrm>
            <a:off x="1051560" y="5916168"/>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Page numbers with ellipsis navigation</a:t>
            </a:r>
          </a:p>
        </p:txBody>
      </p:sp>
      <p:sp>
        <p:nvSpPr>
          <p:cNvPr id="41" name="TextBox 40"/>
          <p:cNvSpPr txBox="1"/>
          <p:nvPr/>
        </p:nvSpPr>
        <p:spPr>
          <a:xfrm>
            <a:off x="1051560" y="6172200"/>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Status filter pills above tables</a:t>
            </a:r>
          </a:p>
        </p:txBody>
      </p:sp>
      <p:sp>
        <p:nvSpPr>
          <p:cNvPr id="42" name="Rounded Rectangle 41"/>
          <p:cNvSpPr/>
          <p:nvPr/>
        </p:nvSpPr>
        <p:spPr>
          <a:xfrm>
            <a:off x="6217920" y="4389120"/>
            <a:ext cx="4389120" cy="201168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6217920" y="4389120"/>
            <a:ext cx="4389120" cy="50800"/>
          </a:xfrm>
          <a:prstGeom prst="roundRect">
            <a:avLst/>
          </a:prstGeom>
          <a:solidFill>
            <a:srgbClr val="4C1D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46520" y="4526280"/>
            <a:ext cx="3931920" cy="365760"/>
          </a:xfrm>
          <a:prstGeom prst="rect">
            <a:avLst/>
          </a:prstGeom>
          <a:noFill/>
        </p:spPr>
        <p:txBody>
          <a:bodyPr wrap="square">
            <a:spAutoFit/>
          </a:bodyPr>
          <a:lstStyle/>
          <a:p>
            <a:pPr algn="l">
              <a:lnSpc>
                <a:spcPts val="1920"/>
              </a:lnSpc>
              <a:spcBef>
                <a:spcPts val="0"/>
              </a:spcBef>
              <a:spcAft>
                <a:spcPts val="0"/>
              </a:spcAft>
              <a:defRPr sz="1600" b="1">
                <a:solidFill>
                  <a:srgbClr val="4C1D95"/>
                </a:solidFill>
                <a:latin typeface="Calibri"/>
              </a:defRPr>
            </a:pPr>
            <a:r>
              <a:t>Profile Features</a:t>
            </a:r>
          </a:p>
        </p:txBody>
      </p:sp>
      <p:sp>
        <p:nvSpPr>
          <p:cNvPr id="45" name="TextBox 44"/>
          <p:cNvSpPr txBox="1"/>
          <p:nvPr/>
        </p:nvSpPr>
        <p:spPr>
          <a:xfrm>
            <a:off x="6537960" y="4892040"/>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Profile picture upload (JPG/PNG/WEBP, max 5MB)</a:t>
            </a:r>
          </a:p>
        </p:txBody>
      </p:sp>
      <p:sp>
        <p:nvSpPr>
          <p:cNvPr id="46" name="TextBox 45"/>
          <p:cNvSpPr txBox="1"/>
          <p:nvPr/>
        </p:nvSpPr>
        <p:spPr>
          <a:xfrm>
            <a:off x="6537960" y="5148072"/>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Server-side image processing (256×256 + 64×64)</a:t>
            </a:r>
          </a:p>
        </p:txBody>
      </p:sp>
      <p:sp>
        <p:nvSpPr>
          <p:cNvPr id="47" name="TextBox 46"/>
          <p:cNvSpPr txBox="1"/>
          <p:nvPr/>
        </p:nvSpPr>
        <p:spPr>
          <a:xfrm>
            <a:off x="6537960" y="5404104"/>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Sharp for JPEG + WebP variant generation</a:t>
            </a:r>
          </a:p>
        </p:txBody>
      </p:sp>
      <p:sp>
        <p:nvSpPr>
          <p:cNvPr id="48" name="TextBox 47"/>
          <p:cNvSpPr txBox="1"/>
          <p:nvPr/>
        </p:nvSpPr>
        <p:spPr>
          <a:xfrm>
            <a:off x="6537960" y="5660136"/>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Initials avatar fallback</a:t>
            </a:r>
          </a:p>
        </p:txBody>
      </p:sp>
      <p:sp>
        <p:nvSpPr>
          <p:cNvPr id="49" name="TextBox 48"/>
          <p:cNvSpPr txBox="1"/>
          <p:nvPr/>
        </p:nvSpPr>
        <p:spPr>
          <a:xfrm>
            <a:off x="6537960" y="5916168"/>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localStorage persistence for avatar</a:t>
            </a:r>
          </a:p>
        </p:txBody>
      </p:sp>
      <p:sp>
        <p:nvSpPr>
          <p:cNvPr id="50" name="TextBox 49"/>
          <p:cNvSpPr txBox="1"/>
          <p:nvPr/>
        </p:nvSpPr>
        <p:spPr>
          <a:xfrm>
            <a:off x="6537960" y="6172200"/>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Profile dropdown with user details</a:t>
            </a:r>
          </a:p>
        </p:txBody>
      </p:sp>
      <p:sp>
        <p:nvSpPr>
          <p:cNvPr id="51" name="TextBox 50"/>
          <p:cNvSpPr txBox="1"/>
          <p:nvPr/>
        </p:nvSpPr>
        <p:spPr>
          <a:xfrm>
            <a:off x="731520" y="6400800"/>
            <a:ext cx="4572000" cy="365760"/>
          </a:xfrm>
          <a:prstGeom prst="rect">
            <a:avLst/>
          </a:prstGeom>
          <a:noFill/>
        </p:spPr>
        <p:txBody>
          <a:bodyPr wrap="square">
            <a:spAutoFit/>
          </a:bodyPr>
          <a:lstStyle/>
          <a:p>
            <a:pPr algn="l">
              <a:lnSpc>
                <a:spcPts val="1200"/>
              </a:lnSpc>
              <a:spcBef>
                <a:spcPts val="0"/>
              </a:spcBef>
              <a:spcAft>
                <a:spcPts val="0"/>
              </a:spcAft>
              <a:defRPr sz="1000" b="0">
                <a:solidFill>
                  <a:srgbClr val="9999BB"/>
                </a:solidFill>
                <a:latin typeface="Calibri"/>
              </a:defRPr>
            </a:pPr>
            <a:r>
              <a:t>VOO Ward Admin Dashboard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0F23"/>
        </a:solidFill>
        <a:effectLst/>
      </p:bgPr>
    </p:bg>
    <p:spTree>
      <p:nvGrpSpPr>
        <p:cNvPr id="1" name=""/>
        <p:cNvGrpSpPr/>
        <p:nvPr/>
      </p:nvGrpSpPr>
      <p:grpSpPr/>
      <p:sp>
        <p:nvSpPr>
          <p:cNvPr id="2" name="Rectangle 1"/>
          <p:cNvSpPr/>
          <p:nvPr/>
        </p:nvSpPr>
        <p:spPr>
          <a:xfrm>
            <a:off x="731520" y="548640"/>
            <a:ext cx="2286000" cy="508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85800"/>
            <a:ext cx="10058400" cy="640080"/>
          </a:xfrm>
          <a:prstGeom prst="rect">
            <a:avLst/>
          </a:prstGeom>
          <a:noFill/>
        </p:spPr>
        <p:txBody>
          <a:bodyPr wrap="square">
            <a:spAutoFit/>
          </a:bodyPr>
          <a:lstStyle/>
          <a:p>
            <a:pPr algn="l">
              <a:lnSpc>
                <a:spcPts val="4320"/>
              </a:lnSpc>
              <a:spcBef>
                <a:spcPts val="0"/>
              </a:spcBef>
              <a:spcAft>
                <a:spcPts val="0"/>
              </a:spcAft>
              <a:defRPr sz="3600" b="1">
                <a:solidFill>
                  <a:srgbClr val="FFFFFF"/>
                </a:solidFill>
                <a:latin typeface="Calibri"/>
              </a:defRPr>
            </a:pPr>
            <a:r>
              <a:t>Technology Stack</a:t>
            </a:r>
          </a:p>
        </p:txBody>
      </p:sp>
      <p:sp>
        <p:nvSpPr>
          <p:cNvPr id="4" name="TextBox 3"/>
          <p:cNvSpPr txBox="1"/>
          <p:nvPr/>
        </p:nvSpPr>
        <p:spPr>
          <a:xfrm>
            <a:off x="731520" y="1280160"/>
            <a:ext cx="10058400" cy="365760"/>
          </a:xfrm>
          <a:prstGeom prst="rect">
            <a:avLst/>
          </a:prstGeom>
          <a:noFill/>
        </p:spPr>
        <p:txBody>
          <a:bodyPr wrap="square">
            <a:spAutoFit/>
          </a:bodyPr>
          <a:lstStyle/>
          <a:p>
            <a:pPr algn="l">
              <a:lnSpc>
                <a:spcPts val="1920"/>
              </a:lnSpc>
              <a:spcBef>
                <a:spcPts val="0"/>
              </a:spcBef>
              <a:spcAft>
                <a:spcPts val="0"/>
              </a:spcAft>
              <a:defRPr sz="1600" b="0">
                <a:solidFill>
                  <a:srgbClr val="9999BB"/>
                </a:solidFill>
                <a:latin typeface="Calibri"/>
              </a:defRPr>
            </a:pPr>
            <a:r>
              <a:t>Architecture, Libraries &amp; Deployment Infrastructure</a:t>
            </a:r>
          </a:p>
        </p:txBody>
      </p:sp>
      <p:sp>
        <p:nvSpPr>
          <p:cNvPr id="5" name="Rounded Rectangle 4"/>
          <p:cNvSpPr/>
          <p:nvPr/>
        </p:nvSpPr>
        <p:spPr>
          <a:xfrm>
            <a:off x="11430000" y="0"/>
            <a:ext cx="761695" cy="6858000"/>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920240"/>
            <a:ext cx="3291840" cy="228600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920240"/>
            <a:ext cx="3291840" cy="5080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57400"/>
            <a:ext cx="2834640" cy="365760"/>
          </a:xfrm>
          <a:prstGeom prst="rect">
            <a:avLst/>
          </a:prstGeom>
          <a:noFill/>
        </p:spPr>
        <p:txBody>
          <a:bodyPr wrap="square">
            <a:spAutoFit/>
          </a:bodyPr>
          <a:lstStyle/>
          <a:p>
            <a:pPr algn="l">
              <a:lnSpc>
                <a:spcPts val="1920"/>
              </a:lnSpc>
              <a:spcBef>
                <a:spcPts val="0"/>
              </a:spcBef>
              <a:spcAft>
                <a:spcPts val="0"/>
              </a:spcAft>
              <a:defRPr sz="1600" b="1">
                <a:solidFill>
                  <a:srgbClr val="6366F1"/>
                </a:solidFill>
                <a:latin typeface="Calibri"/>
              </a:defRPr>
            </a:pPr>
            <a:r>
              <a:t>Backend</a:t>
            </a:r>
          </a:p>
        </p:txBody>
      </p:sp>
      <p:sp>
        <p:nvSpPr>
          <p:cNvPr id="9" name="TextBox 8"/>
          <p:cNvSpPr txBox="1"/>
          <p:nvPr/>
        </p:nvSpPr>
        <p:spPr>
          <a:xfrm>
            <a:off x="1051560" y="2423160"/>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Node.js + Express.js</a:t>
            </a:r>
          </a:p>
        </p:txBody>
      </p:sp>
      <p:sp>
        <p:nvSpPr>
          <p:cNvPr id="10" name="TextBox 9"/>
          <p:cNvSpPr txBox="1"/>
          <p:nvPr/>
        </p:nvSpPr>
        <p:spPr>
          <a:xfrm>
            <a:off x="1051560" y="2679192"/>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PostgreSQL (Supabase) — primary DB</a:t>
            </a:r>
          </a:p>
        </p:txBody>
      </p:sp>
      <p:sp>
        <p:nvSpPr>
          <p:cNvPr id="11" name="TextBox 10"/>
          <p:cNvSpPr txBox="1"/>
          <p:nvPr/>
        </p:nvSpPr>
        <p:spPr>
          <a:xfrm>
            <a:off x="1051560" y="2935224"/>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MongoDB Atlas — secondary store</a:t>
            </a:r>
          </a:p>
        </p:txBody>
      </p:sp>
      <p:sp>
        <p:nvSpPr>
          <p:cNvPr id="12" name="TextBox 11"/>
          <p:cNvSpPr txBox="1"/>
          <p:nvPr/>
        </p:nvSpPr>
        <p:spPr>
          <a:xfrm>
            <a:off x="1051560" y="3191256"/>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Redis — caching layer</a:t>
            </a:r>
          </a:p>
        </p:txBody>
      </p:sp>
      <p:sp>
        <p:nvSpPr>
          <p:cNvPr id="13" name="TextBox 12"/>
          <p:cNvSpPr txBox="1"/>
          <p:nvPr/>
        </p:nvSpPr>
        <p:spPr>
          <a:xfrm>
            <a:off x="1051560" y="3447288"/>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bcryptjs — password security</a:t>
            </a:r>
          </a:p>
        </p:txBody>
      </p:sp>
      <p:sp>
        <p:nvSpPr>
          <p:cNvPr id="14" name="TextBox 13"/>
          <p:cNvSpPr txBox="1"/>
          <p:nvPr/>
        </p:nvSpPr>
        <p:spPr>
          <a:xfrm>
            <a:off x="1051560" y="3703320"/>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multer + sharp — image processing</a:t>
            </a:r>
          </a:p>
        </p:txBody>
      </p:sp>
      <p:sp>
        <p:nvSpPr>
          <p:cNvPr id="15" name="TextBox 14"/>
          <p:cNvSpPr txBox="1"/>
          <p:nvPr/>
        </p:nvSpPr>
        <p:spPr>
          <a:xfrm>
            <a:off x="1051560" y="3959352"/>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AWS S3 v3 — cloud storage (optional)</a:t>
            </a:r>
          </a:p>
        </p:txBody>
      </p:sp>
      <p:sp>
        <p:nvSpPr>
          <p:cNvPr id="16" name="Rounded Rectangle 15"/>
          <p:cNvSpPr/>
          <p:nvPr/>
        </p:nvSpPr>
        <p:spPr>
          <a:xfrm>
            <a:off x="4206240" y="1920240"/>
            <a:ext cx="3291840" cy="228600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206240" y="1920240"/>
            <a:ext cx="3291840" cy="5080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34840" y="2057400"/>
            <a:ext cx="2834640" cy="365760"/>
          </a:xfrm>
          <a:prstGeom prst="rect">
            <a:avLst/>
          </a:prstGeom>
          <a:noFill/>
        </p:spPr>
        <p:txBody>
          <a:bodyPr wrap="square">
            <a:spAutoFit/>
          </a:bodyPr>
          <a:lstStyle/>
          <a:p>
            <a:pPr algn="l">
              <a:lnSpc>
                <a:spcPts val="1920"/>
              </a:lnSpc>
              <a:spcBef>
                <a:spcPts val="0"/>
              </a:spcBef>
              <a:spcAft>
                <a:spcPts val="0"/>
              </a:spcAft>
              <a:defRPr sz="1600" b="1">
                <a:solidFill>
                  <a:srgbClr val="06B6D4"/>
                </a:solidFill>
                <a:latin typeface="Calibri"/>
              </a:defRPr>
            </a:pPr>
            <a:r>
              <a:t>Frontend</a:t>
            </a:r>
          </a:p>
        </p:txBody>
      </p:sp>
      <p:sp>
        <p:nvSpPr>
          <p:cNvPr id="19" name="TextBox 18"/>
          <p:cNvSpPr txBox="1"/>
          <p:nvPr/>
        </p:nvSpPr>
        <p:spPr>
          <a:xfrm>
            <a:off x="4526280" y="2423160"/>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Vanilla HTML/CSS/JS (no framework)</a:t>
            </a:r>
          </a:p>
        </p:txBody>
      </p:sp>
      <p:sp>
        <p:nvSpPr>
          <p:cNvPr id="20" name="TextBox 19"/>
          <p:cNvSpPr txBox="1"/>
          <p:nvPr/>
        </p:nvSpPr>
        <p:spPr>
          <a:xfrm>
            <a:off x="4526280" y="2679192"/>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Chart.js — analytics charts</a:t>
            </a:r>
          </a:p>
        </p:txBody>
      </p:sp>
      <p:sp>
        <p:nvSpPr>
          <p:cNvPr id="21" name="TextBox 20"/>
          <p:cNvSpPr txBox="1"/>
          <p:nvPr/>
        </p:nvSpPr>
        <p:spPr>
          <a:xfrm>
            <a:off x="4526280" y="2935224"/>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Leaflet.js — interactive maps</a:t>
            </a:r>
          </a:p>
        </p:txBody>
      </p:sp>
      <p:sp>
        <p:nvSpPr>
          <p:cNvPr id="22" name="TextBox 21"/>
          <p:cNvSpPr txBox="1"/>
          <p:nvPr/>
        </p:nvSpPr>
        <p:spPr>
          <a:xfrm>
            <a:off x="4526280" y="3191256"/>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Font Awesome 6.4 — icons</a:t>
            </a:r>
          </a:p>
        </p:txBody>
      </p:sp>
      <p:sp>
        <p:nvSpPr>
          <p:cNvPr id="23" name="TextBox 22"/>
          <p:cNvSpPr txBox="1"/>
          <p:nvPr/>
        </p:nvSpPr>
        <p:spPr>
          <a:xfrm>
            <a:off x="4526280" y="3447288"/>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Google Fonts — Inter, Space Grotesk</a:t>
            </a:r>
          </a:p>
        </p:txBody>
      </p:sp>
      <p:sp>
        <p:nvSpPr>
          <p:cNvPr id="24" name="TextBox 23"/>
          <p:cNvSpPr txBox="1"/>
          <p:nvPr/>
        </p:nvSpPr>
        <p:spPr>
          <a:xfrm>
            <a:off x="4526280" y="3703320"/>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CSS custom properties (variables)</a:t>
            </a:r>
          </a:p>
        </p:txBody>
      </p:sp>
      <p:sp>
        <p:nvSpPr>
          <p:cNvPr id="25" name="TextBox 24"/>
          <p:cNvSpPr txBox="1"/>
          <p:nvPr/>
        </p:nvSpPr>
        <p:spPr>
          <a:xfrm>
            <a:off x="4526280" y="3959352"/>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localStorage for client state</a:t>
            </a:r>
          </a:p>
        </p:txBody>
      </p:sp>
      <p:sp>
        <p:nvSpPr>
          <p:cNvPr id="26" name="Rounded Rectangle 25"/>
          <p:cNvSpPr/>
          <p:nvPr/>
        </p:nvSpPr>
        <p:spPr>
          <a:xfrm>
            <a:off x="7680960" y="1920240"/>
            <a:ext cx="3291840" cy="228600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680960" y="1920240"/>
            <a:ext cx="3291840" cy="508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9560" y="2057400"/>
            <a:ext cx="2834640" cy="365760"/>
          </a:xfrm>
          <a:prstGeom prst="rect">
            <a:avLst/>
          </a:prstGeom>
          <a:noFill/>
        </p:spPr>
        <p:txBody>
          <a:bodyPr wrap="square">
            <a:spAutoFit/>
          </a:bodyPr>
          <a:lstStyle/>
          <a:p>
            <a:pPr algn="l">
              <a:lnSpc>
                <a:spcPts val="1920"/>
              </a:lnSpc>
              <a:spcBef>
                <a:spcPts val="0"/>
              </a:spcBef>
              <a:spcAft>
                <a:spcPts val="0"/>
              </a:spcAft>
              <a:defRPr sz="1600" b="1">
                <a:solidFill>
                  <a:srgbClr val="10B981"/>
                </a:solidFill>
                <a:latin typeface="Calibri"/>
              </a:defRPr>
            </a:pPr>
            <a:r>
              <a:t>Deployment</a:t>
            </a:r>
          </a:p>
        </p:txBody>
      </p:sp>
      <p:sp>
        <p:nvSpPr>
          <p:cNvPr id="29" name="TextBox 28"/>
          <p:cNvSpPr txBox="1"/>
          <p:nvPr/>
        </p:nvSpPr>
        <p:spPr>
          <a:xfrm>
            <a:off x="8001000" y="2423160"/>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Docker (Dockerfile)</a:t>
            </a:r>
          </a:p>
        </p:txBody>
      </p:sp>
      <p:sp>
        <p:nvSpPr>
          <p:cNvPr id="30" name="TextBox 29"/>
          <p:cNvSpPr txBox="1"/>
          <p:nvPr/>
        </p:nvSpPr>
        <p:spPr>
          <a:xfrm>
            <a:off x="8001000" y="2679192"/>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Render.com (render.yaml)</a:t>
            </a:r>
          </a:p>
        </p:txBody>
      </p:sp>
      <p:sp>
        <p:nvSpPr>
          <p:cNvPr id="31" name="TextBox 30"/>
          <p:cNvSpPr txBox="1"/>
          <p:nvPr/>
        </p:nvSpPr>
        <p:spPr>
          <a:xfrm>
            <a:off x="8001000" y="2935224"/>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Supabase — managed PostgreSQL</a:t>
            </a:r>
          </a:p>
        </p:txBody>
      </p:sp>
      <p:sp>
        <p:nvSpPr>
          <p:cNvPr id="32" name="TextBox 31"/>
          <p:cNvSpPr txBox="1"/>
          <p:nvPr/>
        </p:nvSpPr>
        <p:spPr>
          <a:xfrm>
            <a:off x="8001000" y="3191256"/>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MongoDB Atlas — managed NoSQL</a:t>
            </a:r>
          </a:p>
        </p:txBody>
      </p:sp>
      <p:sp>
        <p:nvSpPr>
          <p:cNvPr id="33" name="TextBox 32"/>
          <p:cNvSpPr txBox="1"/>
          <p:nvPr/>
        </p:nvSpPr>
        <p:spPr>
          <a:xfrm>
            <a:off x="8001000" y="3447288"/>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AWS S3 — file storage</a:t>
            </a:r>
          </a:p>
        </p:txBody>
      </p:sp>
      <p:sp>
        <p:nvSpPr>
          <p:cNvPr id="34" name="TextBox 33"/>
          <p:cNvSpPr txBox="1"/>
          <p:nvPr/>
        </p:nvSpPr>
        <p:spPr>
          <a:xfrm>
            <a:off x="8001000" y="3703320"/>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Environment-based configuration</a:t>
            </a:r>
          </a:p>
        </p:txBody>
      </p:sp>
      <p:sp>
        <p:nvSpPr>
          <p:cNvPr id="35" name="TextBox 34"/>
          <p:cNvSpPr txBox="1"/>
          <p:nvPr/>
        </p:nvSpPr>
        <p:spPr>
          <a:xfrm>
            <a:off x="8001000" y="3959352"/>
            <a:ext cx="274320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Graceful fallback to dev mode</a:t>
            </a:r>
          </a:p>
        </p:txBody>
      </p:sp>
      <p:sp>
        <p:nvSpPr>
          <p:cNvPr id="36" name="Rounded Rectangle 35"/>
          <p:cNvSpPr/>
          <p:nvPr/>
        </p:nvSpPr>
        <p:spPr>
          <a:xfrm>
            <a:off x="731520" y="4480560"/>
            <a:ext cx="10058400" cy="201168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731520" y="4480560"/>
            <a:ext cx="10058400" cy="5080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4617720"/>
            <a:ext cx="9601200" cy="274320"/>
          </a:xfrm>
          <a:prstGeom prst="rect">
            <a:avLst/>
          </a:prstGeom>
          <a:noFill/>
        </p:spPr>
        <p:txBody>
          <a:bodyPr wrap="square">
            <a:spAutoFit/>
          </a:bodyPr>
          <a:lstStyle/>
          <a:p>
            <a:pPr algn="l">
              <a:lnSpc>
                <a:spcPts val="1800"/>
              </a:lnSpc>
              <a:spcBef>
                <a:spcPts val="0"/>
              </a:spcBef>
              <a:spcAft>
                <a:spcPts val="0"/>
              </a:spcAft>
              <a:defRPr sz="1500" b="1">
                <a:solidFill>
                  <a:srgbClr val="6366F1"/>
                </a:solidFill>
                <a:latin typeface="Calibri"/>
              </a:defRPr>
            </a:pPr>
            <a:r>
              <a:t>System Architecture</a:t>
            </a:r>
          </a:p>
        </p:txBody>
      </p:sp>
      <p:sp>
        <p:nvSpPr>
          <p:cNvPr id="39" name="Rounded Rectangle 38"/>
          <p:cNvSpPr/>
          <p:nvPr/>
        </p:nvSpPr>
        <p:spPr>
          <a:xfrm>
            <a:off x="914400" y="5029200"/>
            <a:ext cx="1645920" cy="41148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60120" y="5074920"/>
            <a:ext cx="1554480" cy="320040"/>
          </a:xfrm>
          <a:prstGeom prst="rect">
            <a:avLst/>
          </a:prstGeom>
          <a:noFill/>
        </p:spPr>
        <p:txBody>
          <a:bodyPr wrap="square">
            <a:spAutoFit/>
          </a:bodyPr>
          <a:lstStyle/>
          <a:p>
            <a:pPr algn="ctr">
              <a:lnSpc>
                <a:spcPts val="1320"/>
              </a:lnSpc>
              <a:spcBef>
                <a:spcPts val="0"/>
              </a:spcBef>
              <a:spcAft>
                <a:spcPts val="0"/>
              </a:spcAft>
              <a:defRPr sz="1100" b="1">
                <a:solidFill>
                  <a:srgbClr val="FFFFFF"/>
                </a:solidFill>
                <a:latin typeface="Calibri"/>
              </a:defRPr>
            </a:pPr>
            <a:r>
              <a:t>Client Browser</a:t>
            </a:r>
          </a:p>
        </p:txBody>
      </p:sp>
      <p:sp>
        <p:nvSpPr>
          <p:cNvPr id="41" name="TextBox 40"/>
          <p:cNvSpPr txBox="1"/>
          <p:nvPr/>
        </p:nvSpPr>
        <p:spPr>
          <a:xfrm>
            <a:off x="2743200" y="5074920"/>
            <a:ext cx="457200" cy="365760"/>
          </a:xfrm>
          <a:prstGeom prst="rect">
            <a:avLst/>
          </a:prstGeom>
          <a:noFill/>
        </p:spPr>
        <p:txBody>
          <a:bodyPr wrap="square">
            <a:spAutoFit/>
          </a:bodyPr>
          <a:lstStyle/>
          <a:p>
            <a:pPr algn="ctr">
              <a:lnSpc>
                <a:spcPts val="2400"/>
              </a:lnSpc>
              <a:spcBef>
                <a:spcPts val="0"/>
              </a:spcBef>
              <a:spcAft>
                <a:spcPts val="0"/>
              </a:spcAft>
              <a:defRPr sz="2000" b="1">
                <a:solidFill>
                  <a:srgbClr val="FFFFFF"/>
                </a:solidFill>
                <a:latin typeface="Calibri"/>
              </a:defRPr>
            </a:pPr>
            <a:r>
              <a:t>→</a:t>
            </a:r>
          </a:p>
        </p:txBody>
      </p:sp>
      <p:sp>
        <p:nvSpPr>
          <p:cNvPr id="42" name="Rounded Rectangle 41"/>
          <p:cNvSpPr/>
          <p:nvPr/>
        </p:nvSpPr>
        <p:spPr>
          <a:xfrm>
            <a:off x="3200400" y="5029200"/>
            <a:ext cx="1645920" cy="41148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246120" y="5074920"/>
            <a:ext cx="1554480" cy="320040"/>
          </a:xfrm>
          <a:prstGeom prst="rect">
            <a:avLst/>
          </a:prstGeom>
          <a:noFill/>
        </p:spPr>
        <p:txBody>
          <a:bodyPr wrap="square">
            <a:spAutoFit/>
          </a:bodyPr>
          <a:lstStyle/>
          <a:p>
            <a:pPr algn="ctr">
              <a:lnSpc>
                <a:spcPts val="1320"/>
              </a:lnSpc>
              <a:spcBef>
                <a:spcPts val="0"/>
              </a:spcBef>
              <a:spcAft>
                <a:spcPts val="0"/>
              </a:spcAft>
              <a:defRPr sz="1100" b="1">
                <a:solidFill>
                  <a:srgbClr val="FFFFFF"/>
                </a:solidFill>
                <a:latin typeface="Calibri"/>
              </a:defRPr>
            </a:pPr>
            <a:r>
              <a:t>Express.js API</a:t>
            </a:r>
          </a:p>
        </p:txBody>
      </p:sp>
      <p:sp>
        <p:nvSpPr>
          <p:cNvPr id="44" name="TextBox 43"/>
          <p:cNvSpPr txBox="1"/>
          <p:nvPr/>
        </p:nvSpPr>
        <p:spPr>
          <a:xfrm>
            <a:off x="5303520" y="5074920"/>
            <a:ext cx="457200" cy="365760"/>
          </a:xfrm>
          <a:prstGeom prst="rect">
            <a:avLst/>
          </a:prstGeom>
          <a:noFill/>
        </p:spPr>
        <p:txBody>
          <a:bodyPr wrap="square">
            <a:spAutoFit/>
          </a:bodyPr>
          <a:lstStyle/>
          <a:p>
            <a:pPr algn="ctr">
              <a:lnSpc>
                <a:spcPts val="2400"/>
              </a:lnSpc>
              <a:spcBef>
                <a:spcPts val="0"/>
              </a:spcBef>
              <a:spcAft>
                <a:spcPts val="0"/>
              </a:spcAft>
              <a:defRPr sz="2000" b="1">
                <a:solidFill>
                  <a:srgbClr val="FFFFFF"/>
                </a:solidFill>
                <a:latin typeface="Calibri"/>
              </a:defRPr>
            </a:pPr>
            <a:r>
              <a:t>→</a:t>
            </a:r>
          </a:p>
        </p:txBody>
      </p:sp>
      <p:sp>
        <p:nvSpPr>
          <p:cNvPr id="45" name="Rounded Rectangle 44"/>
          <p:cNvSpPr/>
          <p:nvPr/>
        </p:nvSpPr>
        <p:spPr>
          <a:xfrm>
            <a:off x="5760720" y="5029200"/>
            <a:ext cx="1645920" cy="41148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806440" y="5074920"/>
            <a:ext cx="1554480" cy="320040"/>
          </a:xfrm>
          <a:prstGeom prst="rect">
            <a:avLst/>
          </a:prstGeom>
          <a:noFill/>
        </p:spPr>
        <p:txBody>
          <a:bodyPr wrap="square">
            <a:spAutoFit/>
          </a:bodyPr>
          <a:lstStyle/>
          <a:p>
            <a:pPr algn="ctr">
              <a:lnSpc>
                <a:spcPts val="1320"/>
              </a:lnSpc>
              <a:spcBef>
                <a:spcPts val="0"/>
              </a:spcBef>
              <a:spcAft>
                <a:spcPts val="0"/>
              </a:spcAft>
              <a:defRPr sz="1100" b="1">
                <a:solidFill>
                  <a:srgbClr val="FFFFFF"/>
                </a:solidFill>
                <a:latin typeface="Calibri"/>
              </a:defRPr>
            </a:pPr>
            <a:r>
              <a:t>PostgreSQL</a:t>
            </a:r>
          </a:p>
        </p:txBody>
      </p:sp>
      <p:sp>
        <p:nvSpPr>
          <p:cNvPr id="47" name="TextBox 46"/>
          <p:cNvSpPr txBox="1"/>
          <p:nvPr/>
        </p:nvSpPr>
        <p:spPr>
          <a:xfrm>
            <a:off x="7498079" y="5074920"/>
            <a:ext cx="457200" cy="365760"/>
          </a:xfrm>
          <a:prstGeom prst="rect">
            <a:avLst/>
          </a:prstGeom>
          <a:noFill/>
        </p:spPr>
        <p:txBody>
          <a:bodyPr wrap="square">
            <a:spAutoFit/>
          </a:bodyPr>
          <a:lstStyle/>
          <a:p>
            <a:pPr algn="ctr">
              <a:lnSpc>
                <a:spcPts val="2400"/>
              </a:lnSpc>
              <a:spcBef>
                <a:spcPts val="0"/>
              </a:spcBef>
              <a:spcAft>
                <a:spcPts val="0"/>
              </a:spcAft>
              <a:defRPr sz="2000" b="1">
                <a:solidFill>
                  <a:srgbClr val="FFFFFF"/>
                </a:solidFill>
                <a:latin typeface="Calibri"/>
              </a:defRPr>
            </a:pPr>
            <a:r>
              <a:t>+</a:t>
            </a:r>
          </a:p>
        </p:txBody>
      </p:sp>
      <p:sp>
        <p:nvSpPr>
          <p:cNvPr id="48" name="Rounded Rectangle 47"/>
          <p:cNvSpPr/>
          <p:nvPr/>
        </p:nvSpPr>
        <p:spPr>
          <a:xfrm>
            <a:off x="7863840" y="5029200"/>
            <a:ext cx="1645920" cy="41148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909560" y="5074920"/>
            <a:ext cx="1554480" cy="320040"/>
          </a:xfrm>
          <a:prstGeom prst="rect">
            <a:avLst/>
          </a:prstGeom>
          <a:noFill/>
        </p:spPr>
        <p:txBody>
          <a:bodyPr wrap="square">
            <a:spAutoFit/>
          </a:bodyPr>
          <a:lstStyle/>
          <a:p>
            <a:pPr algn="ctr">
              <a:lnSpc>
                <a:spcPts val="1320"/>
              </a:lnSpc>
              <a:spcBef>
                <a:spcPts val="0"/>
              </a:spcBef>
              <a:spcAft>
                <a:spcPts val="0"/>
              </a:spcAft>
              <a:defRPr sz="1100" b="1">
                <a:solidFill>
                  <a:srgbClr val="FFFFFF"/>
                </a:solidFill>
                <a:latin typeface="Calibri"/>
              </a:defRPr>
            </a:pPr>
            <a:r>
              <a:t>MongoDB</a:t>
            </a:r>
          </a:p>
        </p:txBody>
      </p:sp>
      <p:sp>
        <p:nvSpPr>
          <p:cNvPr id="50" name="TextBox 49"/>
          <p:cNvSpPr txBox="1"/>
          <p:nvPr/>
        </p:nvSpPr>
        <p:spPr>
          <a:xfrm>
            <a:off x="9326880" y="5074920"/>
            <a:ext cx="457200" cy="365760"/>
          </a:xfrm>
          <a:prstGeom prst="rect">
            <a:avLst/>
          </a:prstGeom>
          <a:noFill/>
        </p:spPr>
        <p:txBody>
          <a:bodyPr wrap="square">
            <a:spAutoFit/>
          </a:bodyPr>
          <a:lstStyle/>
          <a:p>
            <a:pPr algn="ctr">
              <a:lnSpc>
                <a:spcPts val="2400"/>
              </a:lnSpc>
              <a:spcBef>
                <a:spcPts val="0"/>
              </a:spcBef>
              <a:spcAft>
                <a:spcPts val="0"/>
              </a:spcAft>
              <a:defRPr sz="2000" b="1">
                <a:solidFill>
                  <a:srgbClr val="FFFFFF"/>
                </a:solidFill>
                <a:latin typeface="Calibri"/>
              </a:defRPr>
            </a:pPr>
            <a:r>
              <a:t>+</a:t>
            </a:r>
          </a:p>
        </p:txBody>
      </p:sp>
      <p:sp>
        <p:nvSpPr>
          <p:cNvPr id="51" name="Rounded Rectangle 50"/>
          <p:cNvSpPr/>
          <p:nvPr/>
        </p:nvSpPr>
        <p:spPr>
          <a:xfrm>
            <a:off x="9601200" y="5029200"/>
            <a:ext cx="1645920" cy="411480"/>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646920" y="5074920"/>
            <a:ext cx="1554480" cy="320040"/>
          </a:xfrm>
          <a:prstGeom prst="rect">
            <a:avLst/>
          </a:prstGeom>
          <a:noFill/>
        </p:spPr>
        <p:txBody>
          <a:bodyPr wrap="square">
            <a:spAutoFit/>
          </a:bodyPr>
          <a:lstStyle/>
          <a:p>
            <a:pPr algn="ctr">
              <a:lnSpc>
                <a:spcPts val="1320"/>
              </a:lnSpc>
              <a:spcBef>
                <a:spcPts val="0"/>
              </a:spcBef>
              <a:spcAft>
                <a:spcPts val="0"/>
              </a:spcAft>
              <a:defRPr sz="1100" b="1">
                <a:solidFill>
                  <a:srgbClr val="FFFFFF"/>
                </a:solidFill>
                <a:latin typeface="Calibri"/>
              </a:defRPr>
            </a:pPr>
            <a:r>
              <a:t>Redis</a:t>
            </a:r>
          </a:p>
        </p:txBody>
      </p:sp>
      <p:sp>
        <p:nvSpPr>
          <p:cNvPr id="53" name="TextBox 52"/>
          <p:cNvSpPr txBox="1"/>
          <p:nvPr/>
        </p:nvSpPr>
        <p:spPr>
          <a:xfrm>
            <a:off x="914400" y="5669280"/>
            <a:ext cx="9601200" cy="457200"/>
          </a:xfrm>
          <a:prstGeom prst="rect">
            <a:avLst/>
          </a:prstGeom>
          <a:noFill/>
        </p:spPr>
        <p:txBody>
          <a:bodyPr wrap="square">
            <a:spAutoFit/>
          </a:bodyPr>
          <a:lstStyle/>
          <a:p>
            <a:pPr algn="l">
              <a:lnSpc>
                <a:spcPts val="1320"/>
              </a:lnSpc>
              <a:spcBef>
                <a:spcPts val="0"/>
              </a:spcBef>
              <a:spcAft>
                <a:spcPts val="0"/>
              </a:spcAft>
              <a:defRPr sz="1100" b="0">
                <a:solidFill>
                  <a:srgbClr val="9999BB"/>
                </a:solidFill>
                <a:latin typeface="Calibri"/>
              </a:defRPr>
            </a:pPr>
            <a:r>
              <a:t>Additional: express-rate-limit • Session Map with auto-cleanup • SQL migrations • Custom logger • Input validators • Error handling middleware</a:t>
            </a:r>
          </a:p>
        </p:txBody>
      </p:sp>
      <p:sp>
        <p:nvSpPr>
          <p:cNvPr id="54" name="TextBox 53"/>
          <p:cNvSpPr txBox="1"/>
          <p:nvPr/>
        </p:nvSpPr>
        <p:spPr>
          <a:xfrm>
            <a:off x="731520" y="6400800"/>
            <a:ext cx="4572000" cy="365760"/>
          </a:xfrm>
          <a:prstGeom prst="rect">
            <a:avLst/>
          </a:prstGeom>
          <a:noFill/>
        </p:spPr>
        <p:txBody>
          <a:bodyPr wrap="square">
            <a:spAutoFit/>
          </a:bodyPr>
          <a:lstStyle/>
          <a:p>
            <a:pPr algn="l">
              <a:lnSpc>
                <a:spcPts val="1200"/>
              </a:lnSpc>
              <a:spcBef>
                <a:spcPts val="0"/>
              </a:spcBef>
              <a:spcAft>
                <a:spcPts val="0"/>
              </a:spcAft>
              <a:defRPr sz="1000" b="0">
                <a:solidFill>
                  <a:srgbClr val="9999BB"/>
                </a:solidFill>
                <a:latin typeface="Calibri"/>
              </a:defRPr>
            </a:pPr>
            <a:r>
              <a:t>VOO Ward Admin Dashboard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0F23"/>
        </a:solidFill>
        <a:effectLst/>
      </p:bgPr>
    </p:bg>
    <p:spTree>
      <p:nvGrpSpPr>
        <p:cNvPr id="1" name=""/>
        <p:cNvGrpSpPr/>
        <p:nvPr/>
      </p:nvGrpSpPr>
      <p:grpSpPr/>
      <p:sp>
        <p:nvSpPr>
          <p:cNvPr id="2" name="Rectangle 1"/>
          <p:cNvSpPr/>
          <p:nvPr/>
        </p:nvSpPr>
        <p:spPr>
          <a:xfrm>
            <a:off x="731520" y="548640"/>
            <a:ext cx="2286000" cy="508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85800"/>
            <a:ext cx="10058400" cy="640080"/>
          </a:xfrm>
          <a:prstGeom prst="rect">
            <a:avLst/>
          </a:prstGeom>
          <a:noFill/>
        </p:spPr>
        <p:txBody>
          <a:bodyPr wrap="square">
            <a:spAutoFit/>
          </a:bodyPr>
          <a:lstStyle/>
          <a:p>
            <a:pPr algn="l">
              <a:lnSpc>
                <a:spcPts val="4320"/>
              </a:lnSpc>
              <a:spcBef>
                <a:spcPts val="0"/>
              </a:spcBef>
              <a:spcAft>
                <a:spcPts val="0"/>
              </a:spcAft>
              <a:defRPr sz="3600" b="1">
                <a:solidFill>
                  <a:srgbClr val="FFFFFF"/>
                </a:solidFill>
                <a:latin typeface="Calibri"/>
              </a:defRPr>
            </a:pPr>
            <a:r>
              <a:t>Data Export &amp; Reporting</a:t>
            </a:r>
          </a:p>
        </p:txBody>
      </p:sp>
      <p:sp>
        <p:nvSpPr>
          <p:cNvPr id="4" name="TextBox 3"/>
          <p:cNvSpPr txBox="1"/>
          <p:nvPr/>
        </p:nvSpPr>
        <p:spPr>
          <a:xfrm>
            <a:off x="731520" y="1280160"/>
            <a:ext cx="10058400" cy="365760"/>
          </a:xfrm>
          <a:prstGeom prst="rect">
            <a:avLst/>
          </a:prstGeom>
          <a:noFill/>
        </p:spPr>
        <p:txBody>
          <a:bodyPr wrap="square">
            <a:spAutoFit/>
          </a:bodyPr>
          <a:lstStyle/>
          <a:p>
            <a:pPr algn="l">
              <a:lnSpc>
                <a:spcPts val="1920"/>
              </a:lnSpc>
              <a:spcBef>
                <a:spcPts val="0"/>
              </a:spcBef>
              <a:spcAft>
                <a:spcPts val="0"/>
              </a:spcAft>
              <a:defRPr sz="1600" b="0">
                <a:solidFill>
                  <a:srgbClr val="9999BB"/>
                </a:solidFill>
                <a:latin typeface="Calibri"/>
              </a:defRPr>
            </a:pPr>
            <a:r>
              <a:t>CSV Exports, Audit Logs &amp; Metrics</a:t>
            </a:r>
          </a:p>
        </p:txBody>
      </p:sp>
      <p:sp>
        <p:nvSpPr>
          <p:cNvPr id="5" name="Rounded Rectangle 4"/>
          <p:cNvSpPr/>
          <p:nvPr/>
        </p:nvSpPr>
        <p:spPr>
          <a:xfrm>
            <a:off x="11430000" y="0"/>
            <a:ext cx="761695" cy="6858000"/>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920240"/>
            <a:ext cx="10058400" cy="86868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920240"/>
            <a:ext cx="63500" cy="86868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93392"/>
            <a:ext cx="2286000" cy="274320"/>
          </a:xfrm>
          <a:prstGeom prst="rect">
            <a:avLst/>
          </a:prstGeom>
          <a:noFill/>
        </p:spPr>
        <p:txBody>
          <a:bodyPr wrap="square">
            <a:spAutoFit/>
          </a:bodyPr>
          <a:lstStyle/>
          <a:p>
            <a:pPr algn="l">
              <a:lnSpc>
                <a:spcPts val="1680"/>
              </a:lnSpc>
              <a:spcBef>
                <a:spcPts val="0"/>
              </a:spcBef>
              <a:spcAft>
                <a:spcPts val="0"/>
              </a:spcAft>
              <a:defRPr sz="1400" b="1">
                <a:solidFill>
                  <a:srgbClr val="6366F1"/>
                </a:solidFill>
                <a:latin typeface="Calibri"/>
              </a:defRPr>
            </a:pPr>
            <a:r>
              <a:t>Issues Export</a:t>
            </a:r>
          </a:p>
        </p:txBody>
      </p:sp>
      <p:sp>
        <p:nvSpPr>
          <p:cNvPr id="9" name="TextBox 8"/>
          <p:cNvSpPr txBox="1"/>
          <p:nvPr/>
        </p:nvSpPr>
        <p:spPr>
          <a:xfrm>
            <a:off x="3474720" y="1993392"/>
            <a:ext cx="1371600" cy="274320"/>
          </a:xfrm>
          <a:prstGeom prst="rect">
            <a:avLst/>
          </a:prstGeom>
          <a:noFill/>
        </p:spPr>
        <p:txBody>
          <a:bodyPr wrap="square">
            <a:spAutoFit/>
          </a:bodyPr>
          <a:lstStyle/>
          <a:p>
            <a:pPr algn="l">
              <a:lnSpc>
                <a:spcPts val="1320"/>
              </a:lnSpc>
              <a:spcBef>
                <a:spcPts val="0"/>
              </a:spcBef>
              <a:spcAft>
                <a:spcPts val="0"/>
              </a:spcAft>
              <a:defRPr sz="1100" b="0">
                <a:solidFill>
                  <a:srgbClr val="CCCCCC"/>
                </a:solidFill>
                <a:latin typeface="Calibri"/>
              </a:defRPr>
            </a:pPr>
            <a:r>
              <a:t>Access: PA + MCA</a:t>
            </a:r>
          </a:p>
        </p:txBody>
      </p:sp>
      <p:sp>
        <p:nvSpPr>
          <p:cNvPr id="10" name="TextBox 9"/>
          <p:cNvSpPr txBox="1"/>
          <p:nvPr/>
        </p:nvSpPr>
        <p:spPr>
          <a:xfrm>
            <a:off x="5029200" y="1993392"/>
            <a:ext cx="5486400" cy="274320"/>
          </a:xfrm>
          <a:prstGeom prst="rect">
            <a:avLst/>
          </a:prstGeom>
          <a:noFill/>
        </p:spPr>
        <p:txBody>
          <a:bodyPr wrap="square">
            <a:spAutoFit/>
          </a:bodyPr>
          <a:lstStyle/>
          <a:p>
            <a:pPr algn="l">
              <a:lnSpc>
                <a:spcPts val="1200"/>
              </a:lnSpc>
              <a:spcBef>
                <a:spcPts val="0"/>
              </a:spcBef>
              <a:spcAft>
                <a:spcPts val="0"/>
              </a:spcAft>
              <a:defRPr sz="1000" b="0">
                <a:solidFill>
                  <a:srgbClr val="9999BB"/>
                </a:solidFill>
                <a:latin typeface="Consolas"/>
              </a:defRPr>
            </a:pPr>
            <a:r>
              <a:t>/api/admin/export/issues</a:t>
            </a:r>
          </a:p>
        </p:txBody>
      </p:sp>
      <p:sp>
        <p:nvSpPr>
          <p:cNvPr id="11" name="TextBox 10"/>
          <p:cNvSpPr txBox="1"/>
          <p:nvPr/>
        </p:nvSpPr>
        <p:spPr>
          <a:xfrm>
            <a:off x="1005840" y="2331720"/>
            <a:ext cx="9601200" cy="274320"/>
          </a:xfrm>
          <a:prstGeom prst="rect">
            <a:avLst/>
          </a:prstGeom>
          <a:noFill/>
        </p:spPr>
        <p:txBody>
          <a:bodyPr wrap="square">
            <a:spAutoFit/>
          </a:bodyPr>
          <a:lstStyle/>
          <a:p>
            <a:pPr algn="l">
              <a:lnSpc>
                <a:spcPts val="1200"/>
              </a:lnSpc>
              <a:spcBef>
                <a:spcPts val="0"/>
              </a:spcBef>
              <a:spcAft>
                <a:spcPts val="0"/>
              </a:spcAft>
              <a:defRPr sz="1000" b="0">
                <a:solidFill>
                  <a:srgbClr val="9999BB"/>
                </a:solidFill>
                <a:latin typeface="Calibri"/>
              </a:defRPr>
            </a:pPr>
            <a:r>
              <a:t>Fields: Ticket ID, category, status, message, phone, source, dates</a:t>
            </a:r>
          </a:p>
        </p:txBody>
      </p:sp>
      <p:sp>
        <p:nvSpPr>
          <p:cNvPr id="12" name="Rounded Rectangle 11"/>
          <p:cNvSpPr/>
          <p:nvPr/>
        </p:nvSpPr>
        <p:spPr>
          <a:xfrm>
            <a:off x="731520" y="2880360"/>
            <a:ext cx="10058400" cy="86868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1520" y="2880360"/>
            <a:ext cx="63500" cy="86868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2953512"/>
            <a:ext cx="2286000" cy="274320"/>
          </a:xfrm>
          <a:prstGeom prst="rect">
            <a:avLst/>
          </a:prstGeom>
          <a:noFill/>
        </p:spPr>
        <p:txBody>
          <a:bodyPr wrap="square">
            <a:spAutoFit/>
          </a:bodyPr>
          <a:lstStyle/>
          <a:p>
            <a:pPr algn="l">
              <a:lnSpc>
                <a:spcPts val="1680"/>
              </a:lnSpc>
              <a:spcBef>
                <a:spcPts val="0"/>
              </a:spcBef>
              <a:spcAft>
                <a:spcPts val="0"/>
              </a:spcAft>
              <a:defRPr sz="1400" b="1">
                <a:solidFill>
                  <a:srgbClr val="10B981"/>
                </a:solidFill>
                <a:latin typeface="Calibri"/>
              </a:defRPr>
            </a:pPr>
            <a:r>
              <a:t>Bursary Export</a:t>
            </a:r>
          </a:p>
        </p:txBody>
      </p:sp>
      <p:sp>
        <p:nvSpPr>
          <p:cNvPr id="15" name="TextBox 14"/>
          <p:cNvSpPr txBox="1"/>
          <p:nvPr/>
        </p:nvSpPr>
        <p:spPr>
          <a:xfrm>
            <a:off x="3474720" y="2953512"/>
            <a:ext cx="1371600" cy="274320"/>
          </a:xfrm>
          <a:prstGeom prst="rect">
            <a:avLst/>
          </a:prstGeom>
          <a:noFill/>
        </p:spPr>
        <p:txBody>
          <a:bodyPr wrap="square">
            <a:spAutoFit/>
          </a:bodyPr>
          <a:lstStyle/>
          <a:p>
            <a:pPr algn="l">
              <a:lnSpc>
                <a:spcPts val="1320"/>
              </a:lnSpc>
              <a:spcBef>
                <a:spcPts val="0"/>
              </a:spcBef>
              <a:spcAft>
                <a:spcPts val="0"/>
              </a:spcAft>
              <a:defRPr sz="1100" b="0">
                <a:solidFill>
                  <a:srgbClr val="CCCCCC"/>
                </a:solidFill>
                <a:latin typeface="Calibri"/>
              </a:defRPr>
            </a:pPr>
            <a:r>
              <a:t>Access: MCA Only</a:t>
            </a:r>
          </a:p>
        </p:txBody>
      </p:sp>
      <p:sp>
        <p:nvSpPr>
          <p:cNvPr id="16" name="TextBox 15"/>
          <p:cNvSpPr txBox="1"/>
          <p:nvPr/>
        </p:nvSpPr>
        <p:spPr>
          <a:xfrm>
            <a:off x="5029200" y="2953512"/>
            <a:ext cx="5486400" cy="274320"/>
          </a:xfrm>
          <a:prstGeom prst="rect">
            <a:avLst/>
          </a:prstGeom>
          <a:noFill/>
        </p:spPr>
        <p:txBody>
          <a:bodyPr wrap="square">
            <a:spAutoFit/>
          </a:bodyPr>
          <a:lstStyle/>
          <a:p>
            <a:pPr algn="l">
              <a:lnSpc>
                <a:spcPts val="1200"/>
              </a:lnSpc>
              <a:spcBef>
                <a:spcPts val="0"/>
              </a:spcBef>
              <a:spcAft>
                <a:spcPts val="0"/>
              </a:spcAft>
              <a:defRPr sz="1000" b="0">
                <a:solidFill>
                  <a:srgbClr val="9999BB"/>
                </a:solidFill>
                <a:latin typeface="Consolas"/>
              </a:defRPr>
            </a:pPr>
            <a:r>
              <a:t>/api/admin/export/bursaries</a:t>
            </a:r>
          </a:p>
        </p:txBody>
      </p:sp>
      <p:sp>
        <p:nvSpPr>
          <p:cNvPr id="17" name="TextBox 16"/>
          <p:cNvSpPr txBox="1"/>
          <p:nvPr/>
        </p:nvSpPr>
        <p:spPr>
          <a:xfrm>
            <a:off x="1005840" y="3291840"/>
            <a:ext cx="9601200" cy="274320"/>
          </a:xfrm>
          <a:prstGeom prst="rect">
            <a:avLst/>
          </a:prstGeom>
          <a:noFill/>
        </p:spPr>
        <p:txBody>
          <a:bodyPr wrap="square">
            <a:spAutoFit/>
          </a:bodyPr>
          <a:lstStyle/>
          <a:p>
            <a:pPr algn="l">
              <a:lnSpc>
                <a:spcPts val="1200"/>
              </a:lnSpc>
              <a:spcBef>
                <a:spcPts val="0"/>
              </a:spcBef>
              <a:spcAft>
                <a:spcPts val="0"/>
              </a:spcAft>
              <a:defRPr sz="1000" b="0">
                <a:solidFill>
                  <a:srgbClr val="9999BB"/>
                </a:solidFill>
                <a:latin typeface="Calibri"/>
              </a:defRPr>
            </a:pPr>
            <a:r>
              <a:t>Fields: Ref code, student, institution, amount, status, decision</a:t>
            </a:r>
          </a:p>
        </p:txBody>
      </p:sp>
      <p:sp>
        <p:nvSpPr>
          <p:cNvPr id="18" name="Rounded Rectangle 17"/>
          <p:cNvSpPr/>
          <p:nvPr/>
        </p:nvSpPr>
        <p:spPr>
          <a:xfrm>
            <a:off x="731520" y="3840480"/>
            <a:ext cx="10058400" cy="86868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1520" y="3840480"/>
            <a:ext cx="63500" cy="86868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3913632"/>
            <a:ext cx="2286000" cy="274320"/>
          </a:xfrm>
          <a:prstGeom prst="rect">
            <a:avLst/>
          </a:prstGeom>
          <a:noFill/>
        </p:spPr>
        <p:txBody>
          <a:bodyPr wrap="square">
            <a:spAutoFit/>
          </a:bodyPr>
          <a:lstStyle/>
          <a:p>
            <a:pPr algn="l">
              <a:lnSpc>
                <a:spcPts val="1680"/>
              </a:lnSpc>
              <a:spcBef>
                <a:spcPts val="0"/>
              </a:spcBef>
              <a:spcAft>
                <a:spcPts val="0"/>
              </a:spcAft>
              <a:defRPr sz="1400" b="1">
                <a:solidFill>
                  <a:srgbClr val="06B6D4"/>
                </a:solidFill>
                <a:latin typeface="Calibri"/>
              </a:defRPr>
            </a:pPr>
            <a:r>
              <a:t>Constituents Export</a:t>
            </a:r>
          </a:p>
        </p:txBody>
      </p:sp>
      <p:sp>
        <p:nvSpPr>
          <p:cNvPr id="21" name="TextBox 20"/>
          <p:cNvSpPr txBox="1"/>
          <p:nvPr/>
        </p:nvSpPr>
        <p:spPr>
          <a:xfrm>
            <a:off x="3474720" y="3913632"/>
            <a:ext cx="1371600" cy="274320"/>
          </a:xfrm>
          <a:prstGeom prst="rect">
            <a:avLst/>
          </a:prstGeom>
          <a:noFill/>
        </p:spPr>
        <p:txBody>
          <a:bodyPr wrap="square">
            <a:spAutoFit/>
          </a:bodyPr>
          <a:lstStyle/>
          <a:p>
            <a:pPr algn="l">
              <a:lnSpc>
                <a:spcPts val="1320"/>
              </a:lnSpc>
              <a:spcBef>
                <a:spcPts val="0"/>
              </a:spcBef>
              <a:spcAft>
                <a:spcPts val="0"/>
              </a:spcAft>
              <a:defRPr sz="1100" b="0">
                <a:solidFill>
                  <a:srgbClr val="CCCCCC"/>
                </a:solidFill>
                <a:latin typeface="Calibri"/>
              </a:defRPr>
            </a:pPr>
            <a:r>
              <a:t>Access: MCA Only</a:t>
            </a:r>
          </a:p>
        </p:txBody>
      </p:sp>
      <p:sp>
        <p:nvSpPr>
          <p:cNvPr id="22" name="TextBox 21"/>
          <p:cNvSpPr txBox="1"/>
          <p:nvPr/>
        </p:nvSpPr>
        <p:spPr>
          <a:xfrm>
            <a:off x="5029200" y="3913632"/>
            <a:ext cx="5486400" cy="274320"/>
          </a:xfrm>
          <a:prstGeom prst="rect">
            <a:avLst/>
          </a:prstGeom>
          <a:noFill/>
        </p:spPr>
        <p:txBody>
          <a:bodyPr wrap="square">
            <a:spAutoFit/>
          </a:bodyPr>
          <a:lstStyle/>
          <a:p>
            <a:pPr algn="l">
              <a:lnSpc>
                <a:spcPts val="1200"/>
              </a:lnSpc>
              <a:spcBef>
                <a:spcPts val="0"/>
              </a:spcBef>
              <a:spcAft>
                <a:spcPts val="0"/>
              </a:spcAft>
              <a:defRPr sz="1000" b="0">
                <a:solidFill>
                  <a:srgbClr val="9999BB"/>
                </a:solidFill>
                <a:latin typeface="Consolas"/>
              </a:defRPr>
            </a:pPr>
            <a:r>
              <a:t>/api/admin/export/constituents</a:t>
            </a:r>
          </a:p>
        </p:txBody>
      </p:sp>
      <p:sp>
        <p:nvSpPr>
          <p:cNvPr id="23" name="TextBox 22"/>
          <p:cNvSpPr txBox="1"/>
          <p:nvPr/>
        </p:nvSpPr>
        <p:spPr>
          <a:xfrm>
            <a:off x="1005840" y="4251960"/>
            <a:ext cx="9601200" cy="274320"/>
          </a:xfrm>
          <a:prstGeom prst="rect">
            <a:avLst/>
          </a:prstGeom>
          <a:noFill/>
        </p:spPr>
        <p:txBody>
          <a:bodyPr wrap="square">
            <a:spAutoFit/>
          </a:bodyPr>
          <a:lstStyle/>
          <a:p>
            <a:pPr algn="l">
              <a:lnSpc>
                <a:spcPts val="1200"/>
              </a:lnSpc>
              <a:spcBef>
                <a:spcPts val="0"/>
              </a:spcBef>
              <a:spcAft>
                <a:spcPts val="0"/>
              </a:spcAft>
              <a:defRPr sz="1000" b="0">
                <a:solidFill>
                  <a:srgbClr val="9999BB"/>
                </a:solidFill>
                <a:latin typeface="Calibri"/>
              </a:defRPr>
            </a:pPr>
            <a:r>
              <a:t>Fields: Phone, national ID, name, location, village, verification</a:t>
            </a:r>
          </a:p>
        </p:txBody>
      </p:sp>
      <p:sp>
        <p:nvSpPr>
          <p:cNvPr id="24" name="Rounded Rectangle 23"/>
          <p:cNvSpPr/>
          <p:nvPr/>
        </p:nvSpPr>
        <p:spPr>
          <a:xfrm>
            <a:off x="731520" y="4800600"/>
            <a:ext cx="10058400" cy="86868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31520" y="4800600"/>
            <a:ext cx="63500" cy="86868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5840" y="4873752"/>
            <a:ext cx="2286000" cy="274320"/>
          </a:xfrm>
          <a:prstGeom prst="rect">
            <a:avLst/>
          </a:prstGeom>
          <a:noFill/>
        </p:spPr>
        <p:txBody>
          <a:bodyPr wrap="square">
            <a:spAutoFit/>
          </a:bodyPr>
          <a:lstStyle/>
          <a:p>
            <a:pPr algn="l">
              <a:lnSpc>
                <a:spcPts val="1680"/>
              </a:lnSpc>
              <a:spcBef>
                <a:spcPts val="0"/>
              </a:spcBef>
              <a:spcAft>
                <a:spcPts val="0"/>
              </a:spcAft>
              <a:defRPr sz="1400" b="1">
                <a:solidFill>
                  <a:srgbClr val="F59E0B"/>
                </a:solidFill>
                <a:latin typeface="Calibri"/>
              </a:defRPr>
            </a:pPr>
            <a:r>
              <a:t>USSD Interactions</a:t>
            </a:r>
          </a:p>
        </p:txBody>
      </p:sp>
      <p:sp>
        <p:nvSpPr>
          <p:cNvPr id="27" name="TextBox 26"/>
          <p:cNvSpPr txBox="1"/>
          <p:nvPr/>
        </p:nvSpPr>
        <p:spPr>
          <a:xfrm>
            <a:off x="3474720" y="4873752"/>
            <a:ext cx="1371600" cy="274320"/>
          </a:xfrm>
          <a:prstGeom prst="rect">
            <a:avLst/>
          </a:prstGeom>
          <a:noFill/>
        </p:spPr>
        <p:txBody>
          <a:bodyPr wrap="square">
            <a:spAutoFit/>
          </a:bodyPr>
          <a:lstStyle/>
          <a:p>
            <a:pPr algn="l">
              <a:lnSpc>
                <a:spcPts val="1320"/>
              </a:lnSpc>
              <a:spcBef>
                <a:spcPts val="0"/>
              </a:spcBef>
              <a:spcAft>
                <a:spcPts val="0"/>
              </a:spcAft>
              <a:defRPr sz="1100" b="0">
                <a:solidFill>
                  <a:srgbClr val="CCCCCC"/>
                </a:solidFill>
                <a:latin typeface="Calibri"/>
              </a:defRPr>
            </a:pPr>
            <a:r>
              <a:t>Access: PA + MCA</a:t>
            </a:r>
          </a:p>
        </p:txBody>
      </p:sp>
      <p:sp>
        <p:nvSpPr>
          <p:cNvPr id="28" name="TextBox 27"/>
          <p:cNvSpPr txBox="1"/>
          <p:nvPr/>
        </p:nvSpPr>
        <p:spPr>
          <a:xfrm>
            <a:off x="5029200" y="4873752"/>
            <a:ext cx="5486400" cy="274320"/>
          </a:xfrm>
          <a:prstGeom prst="rect">
            <a:avLst/>
          </a:prstGeom>
          <a:noFill/>
        </p:spPr>
        <p:txBody>
          <a:bodyPr wrap="square">
            <a:spAutoFit/>
          </a:bodyPr>
          <a:lstStyle/>
          <a:p>
            <a:pPr algn="l">
              <a:lnSpc>
                <a:spcPts val="1200"/>
              </a:lnSpc>
              <a:spcBef>
                <a:spcPts val="0"/>
              </a:spcBef>
              <a:spcAft>
                <a:spcPts val="0"/>
              </a:spcAft>
              <a:defRPr sz="1000" b="0">
                <a:solidFill>
                  <a:srgbClr val="9999BB"/>
                </a:solidFill>
                <a:latin typeface="Consolas"/>
              </a:defRPr>
            </a:pPr>
            <a:r>
              <a:t>/api/admin/export/ussd</a:t>
            </a:r>
          </a:p>
        </p:txBody>
      </p:sp>
      <p:sp>
        <p:nvSpPr>
          <p:cNvPr id="29" name="TextBox 28"/>
          <p:cNvSpPr txBox="1"/>
          <p:nvPr/>
        </p:nvSpPr>
        <p:spPr>
          <a:xfrm>
            <a:off x="1005840" y="5212080"/>
            <a:ext cx="9601200" cy="274320"/>
          </a:xfrm>
          <a:prstGeom prst="rect">
            <a:avLst/>
          </a:prstGeom>
          <a:noFill/>
        </p:spPr>
        <p:txBody>
          <a:bodyPr wrap="square">
            <a:spAutoFit/>
          </a:bodyPr>
          <a:lstStyle/>
          <a:p>
            <a:pPr algn="l">
              <a:lnSpc>
                <a:spcPts val="1200"/>
              </a:lnSpc>
              <a:spcBef>
                <a:spcPts val="0"/>
              </a:spcBef>
              <a:spcAft>
                <a:spcPts val="0"/>
              </a:spcAft>
              <a:defRPr sz="1000" b="0">
                <a:solidFill>
                  <a:srgbClr val="9999BB"/>
                </a:solidFill>
                <a:latin typeface="Calibri"/>
              </a:defRPr>
            </a:pPr>
            <a:r>
              <a:t>Fields: Phone, input text, response, ref code, IP, timestamp</a:t>
            </a:r>
          </a:p>
        </p:txBody>
      </p:sp>
      <p:sp>
        <p:nvSpPr>
          <p:cNvPr id="30" name="Rounded Rectangle 29"/>
          <p:cNvSpPr/>
          <p:nvPr/>
        </p:nvSpPr>
        <p:spPr>
          <a:xfrm>
            <a:off x="731520" y="5760720"/>
            <a:ext cx="10058400" cy="86868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5760720"/>
            <a:ext cx="63500" cy="868680"/>
          </a:xfrm>
          <a:prstGeom prst="roundRect">
            <a:avLst/>
          </a:prstGeom>
          <a:solidFill>
            <a:srgbClr val="4C1D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5840" y="5833872"/>
            <a:ext cx="2286000" cy="274320"/>
          </a:xfrm>
          <a:prstGeom prst="rect">
            <a:avLst/>
          </a:prstGeom>
          <a:noFill/>
        </p:spPr>
        <p:txBody>
          <a:bodyPr wrap="square">
            <a:spAutoFit/>
          </a:bodyPr>
          <a:lstStyle/>
          <a:p>
            <a:pPr algn="l">
              <a:lnSpc>
                <a:spcPts val="1680"/>
              </a:lnSpc>
              <a:spcBef>
                <a:spcPts val="0"/>
              </a:spcBef>
              <a:spcAft>
                <a:spcPts val="0"/>
              </a:spcAft>
              <a:defRPr sz="1400" b="1">
                <a:solidFill>
                  <a:srgbClr val="4C1D95"/>
                </a:solidFill>
                <a:latin typeface="Calibri"/>
              </a:defRPr>
            </a:pPr>
            <a:r>
              <a:t>Audit Logs</a:t>
            </a:r>
          </a:p>
        </p:txBody>
      </p:sp>
      <p:sp>
        <p:nvSpPr>
          <p:cNvPr id="33" name="TextBox 32"/>
          <p:cNvSpPr txBox="1"/>
          <p:nvPr/>
        </p:nvSpPr>
        <p:spPr>
          <a:xfrm>
            <a:off x="3474720" y="5833872"/>
            <a:ext cx="1371600" cy="274320"/>
          </a:xfrm>
          <a:prstGeom prst="rect">
            <a:avLst/>
          </a:prstGeom>
          <a:noFill/>
        </p:spPr>
        <p:txBody>
          <a:bodyPr wrap="square">
            <a:spAutoFit/>
          </a:bodyPr>
          <a:lstStyle/>
          <a:p>
            <a:pPr algn="l">
              <a:lnSpc>
                <a:spcPts val="1320"/>
              </a:lnSpc>
              <a:spcBef>
                <a:spcPts val="0"/>
              </a:spcBef>
              <a:spcAft>
                <a:spcPts val="0"/>
              </a:spcAft>
              <a:defRPr sz="1100" b="0">
                <a:solidFill>
                  <a:srgbClr val="CCCCCC"/>
                </a:solidFill>
                <a:latin typeface="Calibri"/>
              </a:defRPr>
            </a:pPr>
            <a:r>
              <a:t>Access: PA + MCA</a:t>
            </a:r>
          </a:p>
        </p:txBody>
      </p:sp>
      <p:sp>
        <p:nvSpPr>
          <p:cNvPr id="34" name="TextBox 33"/>
          <p:cNvSpPr txBox="1"/>
          <p:nvPr/>
        </p:nvSpPr>
        <p:spPr>
          <a:xfrm>
            <a:off x="5029200" y="5833872"/>
            <a:ext cx="5486400" cy="274320"/>
          </a:xfrm>
          <a:prstGeom prst="rect">
            <a:avLst/>
          </a:prstGeom>
          <a:noFill/>
        </p:spPr>
        <p:txBody>
          <a:bodyPr wrap="square">
            <a:spAutoFit/>
          </a:bodyPr>
          <a:lstStyle/>
          <a:p>
            <a:pPr algn="l">
              <a:lnSpc>
                <a:spcPts val="1200"/>
              </a:lnSpc>
              <a:spcBef>
                <a:spcPts val="0"/>
              </a:spcBef>
              <a:spcAft>
                <a:spcPts val="0"/>
              </a:spcAft>
              <a:defRPr sz="1000" b="0">
                <a:solidFill>
                  <a:srgbClr val="9999BB"/>
                </a:solidFill>
                <a:latin typeface="Consolas"/>
              </a:defRPr>
            </a:pPr>
            <a:r>
              <a:t>Via audit-trail module</a:t>
            </a:r>
          </a:p>
        </p:txBody>
      </p:sp>
      <p:sp>
        <p:nvSpPr>
          <p:cNvPr id="35" name="TextBox 34"/>
          <p:cNvSpPr txBox="1"/>
          <p:nvPr/>
        </p:nvSpPr>
        <p:spPr>
          <a:xfrm>
            <a:off x="1005840" y="6172200"/>
            <a:ext cx="9601200" cy="274320"/>
          </a:xfrm>
          <a:prstGeom prst="rect">
            <a:avLst/>
          </a:prstGeom>
          <a:noFill/>
        </p:spPr>
        <p:txBody>
          <a:bodyPr wrap="square">
            <a:spAutoFit/>
          </a:bodyPr>
          <a:lstStyle/>
          <a:p>
            <a:pPr algn="l">
              <a:lnSpc>
                <a:spcPts val="1200"/>
              </a:lnSpc>
              <a:spcBef>
                <a:spcPts val="0"/>
              </a:spcBef>
              <a:spcAft>
                <a:spcPts val="0"/>
              </a:spcAft>
              <a:defRPr sz="1000" b="0">
                <a:solidFill>
                  <a:srgbClr val="9999BB"/>
                </a:solidFill>
                <a:latin typeface="Calibri"/>
              </a:defRPr>
            </a:pPr>
            <a:r>
              <a:t>Fields: Action type, user, role, IP, timestamp, description</a:t>
            </a:r>
          </a:p>
        </p:txBody>
      </p:sp>
      <p:sp>
        <p:nvSpPr>
          <p:cNvPr id="36" name="TextBox 35"/>
          <p:cNvSpPr txBox="1"/>
          <p:nvPr/>
        </p:nvSpPr>
        <p:spPr>
          <a:xfrm>
            <a:off x="731520" y="6400800"/>
            <a:ext cx="10058400" cy="274320"/>
          </a:xfrm>
          <a:prstGeom prst="rect">
            <a:avLst/>
          </a:prstGeom>
          <a:noFill/>
        </p:spPr>
        <p:txBody>
          <a:bodyPr wrap="square">
            <a:spAutoFit/>
          </a:bodyPr>
          <a:lstStyle/>
          <a:p>
            <a:pPr algn="l">
              <a:lnSpc>
                <a:spcPts val="1320"/>
              </a:lnSpc>
              <a:spcBef>
                <a:spcPts val="0"/>
              </a:spcBef>
              <a:spcAft>
                <a:spcPts val="0"/>
              </a:spcAft>
              <a:defRPr sz="1100" b="0">
                <a:solidFill>
                  <a:srgbClr val="9999BB"/>
                </a:solidFill>
                <a:latin typeface="Calibri"/>
              </a:defRPr>
            </a:pPr>
            <a:r>
              <a:t>All exports use UTF-8 BOM encoding for Excel compatibility  •  Date range filtering available on all exports</a:t>
            </a:r>
          </a:p>
        </p:txBody>
      </p:sp>
      <p:sp>
        <p:nvSpPr>
          <p:cNvPr id="37" name="TextBox 36"/>
          <p:cNvSpPr txBox="1"/>
          <p:nvPr/>
        </p:nvSpPr>
        <p:spPr>
          <a:xfrm>
            <a:off x="731520" y="6400800"/>
            <a:ext cx="4572000" cy="365760"/>
          </a:xfrm>
          <a:prstGeom prst="rect">
            <a:avLst/>
          </a:prstGeom>
          <a:noFill/>
        </p:spPr>
        <p:txBody>
          <a:bodyPr wrap="square">
            <a:spAutoFit/>
          </a:bodyPr>
          <a:lstStyle/>
          <a:p>
            <a:pPr algn="l">
              <a:lnSpc>
                <a:spcPts val="1200"/>
              </a:lnSpc>
              <a:spcBef>
                <a:spcPts val="0"/>
              </a:spcBef>
              <a:spcAft>
                <a:spcPts val="0"/>
              </a:spcAft>
              <a:defRPr sz="1000" b="0">
                <a:solidFill>
                  <a:srgbClr val="9999BB"/>
                </a:solidFill>
                <a:latin typeface="Calibri"/>
              </a:defRPr>
            </a:pPr>
            <a:r>
              <a:t>VOO Ward Admin Dashboard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0F23"/>
        </a:solidFill>
        <a:effectLst/>
      </p:bgPr>
    </p:bg>
    <p:spTree>
      <p:nvGrpSpPr>
        <p:cNvPr id="1" name=""/>
        <p:cNvGrpSpPr/>
        <p:nvPr/>
      </p:nvGrpSpPr>
      <p:grpSpPr/>
      <p:sp>
        <p:nvSpPr>
          <p:cNvPr id="2" name="Rectangle 1"/>
          <p:cNvSpPr/>
          <p:nvPr/>
        </p:nvSpPr>
        <p:spPr>
          <a:xfrm>
            <a:off x="731520" y="548640"/>
            <a:ext cx="2286000" cy="508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85800"/>
            <a:ext cx="10058400" cy="640080"/>
          </a:xfrm>
          <a:prstGeom prst="rect">
            <a:avLst/>
          </a:prstGeom>
          <a:noFill/>
        </p:spPr>
        <p:txBody>
          <a:bodyPr wrap="square">
            <a:spAutoFit/>
          </a:bodyPr>
          <a:lstStyle/>
          <a:p>
            <a:pPr algn="l">
              <a:lnSpc>
                <a:spcPts val="4320"/>
              </a:lnSpc>
              <a:spcBef>
                <a:spcPts val="0"/>
              </a:spcBef>
              <a:spcAft>
                <a:spcPts val="0"/>
              </a:spcAft>
              <a:defRPr sz="3600" b="1">
                <a:solidFill>
                  <a:srgbClr val="FFFFFF"/>
                </a:solidFill>
                <a:latin typeface="Calibri"/>
              </a:defRPr>
            </a:pPr>
            <a:r>
              <a:t>Summary &amp; Roadmap</a:t>
            </a:r>
          </a:p>
        </p:txBody>
      </p:sp>
      <p:sp>
        <p:nvSpPr>
          <p:cNvPr id="4" name="TextBox 3"/>
          <p:cNvSpPr txBox="1"/>
          <p:nvPr/>
        </p:nvSpPr>
        <p:spPr>
          <a:xfrm>
            <a:off x="731520" y="1280160"/>
            <a:ext cx="10058400" cy="365760"/>
          </a:xfrm>
          <a:prstGeom prst="rect">
            <a:avLst/>
          </a:prstGeom>
          <a:noFill/>
        </p:spPr>
        <p:txBody>
          <a:bodyPr wrap="square">
            <a:spAutoFit/>
          </a:bodyPr>
          <a:lstStyle/>
          <a:p>
            <a:pPr algn="l">
              <a:lnSpc>
                <a:spcPts val="1920"/>
              </a:lnSpc>
              <a:spcBef>
                <a:spcPts val="0"/>
              </a:spcBef>
              <a:spcAft>
                <a:spcPts val="0"/>
              </a:spcAft>
              <a:defRPr sz="1600" b="0">
                <a:solidFill>
                  <a:srgbClr val="9999BB"/>
                </a:solidFill>
                <a:latin typeface="Calibri"/>
              </a:defRPr>
            </a:pPr>
            <a:r>
              <a:t>Key Takeaways &amp; Future Development Plans</a:t>
            </a:r>
          </a:p>
        </p:txBody>
      </p:sp>
      <p:sp>
        <p:nvSpPr>
          <p:cNvPr id="5" name="Rounded Rectangle 4"/>
          <p:cNvSpPr/>
          <p:nvPr/>
        </p:nvSpPr>
        <p:spPr>
          <a:xfrm>
            <a:off x="11430000" y="0"/>
            <a:ext cx="761695" cy="6858000"/>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920240"/>
            <a:ext cx="5029200" cy="292608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920240"/>
            <a:ext cx="5029200" cy="508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57400"/>
            <a:ext cx="4572000" cy="365760"/>
          </a:xfrm>
          <a:prstGeom prst="rect">
            <a:avLst/>
          </a:prstGeom>
          <a:noFill/>
        </p:spPr>
        <p:txBody>
          <a:bodyPr wrap="square">
            <a:spAutoFit/>
          </a:bodyPr>
          <a:lstStyle/>
          <a:p>
            <a:pPr algn="l">
              <a:lnSpc>
                <a:spcPts val="1920"/>
              </a:lnSpc>
              <a:spcBef>
                <a:spcPts val="0"/>
              </a:spcBef>
              <a:spcAft>
                <a:spcPts val="0"/>
              </a:spcAft>
              <a:defRPr sz="1600" b="1">
                <a:solidFill>
                  <a:srgbClr val="10B981"/>
                </a:solidFill>
                <a:latin typeface="Calibri"/>
              </a:defRPr>
            </a:pPr>
            <a:r>
              <a:t>Key Takeaways</a:t>
            </a:r>
          </a:p>
        </p:txBody>
      </p:sp>
      <p:sp>
        <p:nvSpPr>
          <p:cNvPr id="9" name="TextBox 8"/>
          <p:cNvSpPr txBox="1"/>
          <p:nvPr/>
        </p:nvSpPr>
        <p:spPr>
          <a:xfrm>
            <a:off x="1051560" y="2423160"/>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Complete ward management dashboard — 6+ modules</a:t>
            </a:r>
          </a:p>
        </p:txBody>
      </p:sp>
      <p:sp>
        <p:nvSpPr>
          <p:cNvPr id="10" name="TextBox 9"/>
          <p:cNvSpPr txBox="1"/>
          <p:nvPr/>
        </p:nvSpPr>
        <p:spPr>
          <a:xfrm>
            <a:off x="1051560" y="2679192"/>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Multi-channel access: Web, USSD, Mobile App, WhatsApp</a:t>
            </a:r>
          </a:p>
        </p:txBody>
      </p:sp>
      <p:sp>
        <p:nvSpPr>
          <p:cNvPr id="11" name="TextBox 10"/>
          <p:cNvSpPr txBox="1"/>
          <p:nvPr/>
        </p:nvSpPr>
        <p:spPr>
          <a:xfrm>
            <a:off x="1051560" y="2935224"/>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Role-based access control (MCA, PA, Clerk)</a:t>
            </a:r>
          </a:p>
        </p:txBody>
      </p:sp>
      <p:sp>
        <p:nvSpPr>
          <p:cNvPr id="12" name="TextBox 11"/>
          <p:cNvSpPr txBox="1"/>
          <p:nvPr/>
        </p:nvSpPr>
        <p:spPr>
          <a:xfrm>
            <a:off x="1051560" y="3191256"/>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Real-time analytics with Chart.js &amp; Leaflet.js maps</a:t>
            </a:r>
          </a:p>
        </p:txBody>
      </p:sp>
      <p:sp>
        <p:nvSpPr>
          <p:cNvPr id="13" name="TextBox 12"/>
          <p:cNvSpPr txBox="1"/>
          <p:nvPr/>
        </p:nvSpPr>
        <p:spPr>
          <a:xfrm>
            <a:off x="1051560" y="3447288"/>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Comprehensive audit trail &amp; export capabilities</a:t>
            </a:r>
          </a:p>
        </p:txBody>
      </p:sp>
      <p:sp>
        <p:nvSpPr>
          <p:cNvPr id="14" name="TextBox 13"/>
          <p:cNvSpPr txBox="1"/>
          <p:nvPr/>
        </p:nvSpPr>
        <p:spPr>
          <a:xfrm>
            <a:off x="1051560" y="3703320"/>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Modern glassmorphism UI with responsive design</a:t>
            </a:r>
          </a:p>
        </p:txBody>
      </p:sp>
      <p:sp>
        <p:nvSpPr>
          <p:cNvPr id="15" name="TextBox 14"/>
          <p:cNvSpPr txBox="1"/>
          <p:nvPr/>
        </p:nvSpPr>
        <p:spPr>
          <a:xfrm>
            <a:off x="1051560" y="3959352"/>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AI assistant (Mai) for in-dashboard help</a:t>
            </a:r>
          </a:p>
        </p:txBody>
      </p:sp>
      <p:sp>
        <p:nvSpPr>
          <p:cNvPr id="16" name="TextBox 15"/>
          <p:cNvSpPr txBox="1"/>
          <p:nvPr/>
        </p:nvSpPr>
        <p:spPr>
          <a:xfrm>
            <a:off x="1051560" y="4215384"/>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Enterprise-grade security: bcrypt, rate limiting, CSP</a:t>
            </a:r>
          </a:p>
        </p:txBody>
      </p:sp>
      <p:sp>
        <p:nvSpPr>
          <p:cNvPr id="17" name="TextBox 16"/>
          <p:cNvSpPr txBox="1"/>
          <p:nvPr/>
        </p:nvSpPr>
        <p:spPr>
          <a:xfrm>
            <a:off x="1051560" y="4471416"/>
            <a:ext cx="448056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Graceful degradation — works even when DB is offline</a:t>
            </a:r>
          </a:p>
        </p:txBody>
      </p:sp>
      <p:sp>
        <p:nvSpPr>
          <p:cNvPr id="18" name="Rounded Rectangle 17"/>
          <p:cNvSpPr/>
          <p:nvPr/>
        </p:nvSpPr>
        <p:spPr>
          <a:xfrm>
            <a:off x="6217920" y="1920240"/>
            <a:ext cx="4389120" cy="292608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17920" y="1920240"/>
            <a:ext cx="4389120" cy="5080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2057400"/>
            <a:ext cx="3931920" cy="365760"/>
          </a:xfrm>
          <a:prstGeom prst="rect">
            <a:avLst/>
          </a:prstGeom>
          <a:noFill/>
        </p:spPr>
        <p:txBody>
          <a:bodyPr wrap="square">
            <a:spAutoFit/>
          </a:bodyPr>
          <a:lstStyle/>
          <a:p>
            <a:pPr algn="l">
              <a:lnSpc>
                <a:spcPts val="1920"/>
              </a:lnSpc>
              <a:spcBef>
                <a:spcPts val="0"/>
              </a:spcBef>
              <a:spcAft>
                <a:spcPts val="0"/>
              </a:spcAft>
              <a:defRPr sz="1600" b="1">
                <a:solidFill>
                  <a:srgbClr val="6366F1"/>
                </a:solidFill>
                <a:latin typeface="Calibri"/>
              </a:defRPr>
            </a:pPr>
            <a:r>
              <a:t>Future Roadmap</a:t>
            </a:r>
          </a:p>
        </p:txBody>
      </p:sp>
      <p:sp>
        <p:nvSpPr>
          <p:cNvPr id="21" name="TextBox 20"/>
          <p:cNvSpPr txBox="1"/>
          <p:nvPr/>
        </p:nvSpPr>
        <p:spPr>
          <a:xfrm>
            <a:off x="6537960" y="2423160"/>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Push notifications (Firebase Cloud Messaging)</a:t>
            </a:r>
          </a:p>
        </p:txBody>
      </p:sp>
      <p:sp>
        <p:nvSpPr>
          <p:cNvPr id="22" name="TextBox 21"/>
          <p:cNvSpPr txBox="1"/>
          <p:nvPr/>
        </p:nvSpPr>
        <p:spPr>
          <a:xfrm>
            <a:off x="6537960" y="2679192"/>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SMS bulk notifications (Africa's Talking API)</a:t>
            </a:r>
          </a:p>
        </p:txBody>
      </p:sp>
      <p:sp>
        <p:nvSpPr>
          <p:cNvPr id="23" name="TextBox 22"/>
          <p:cNvSpPr txBox="1"/>
          <p:nvPr/>
        </p:nvSpPr>
        <p:spPr>
          <a:xfrm>
            <a:off x="6537960" y="2935224"/>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Geographic issue heatmap visualization</a:t>
            </a:r>
          </a:p>
        </p:txBody>
      </p:sp>
      <p:sp>
        <p:nvSpPr>
          <p:cNvPr id="24" name="TextBox 23"/>
          <p:cNvSpPr txBox="1"/>
          <p:nvPr/>
        </p:nvSpPr>
        <p:spPr>
          <a:xfrm>
            <a:off x="6537960" y="3191256"/>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AI-powered issue categorization</a:t>
            </a:r>
          </a:p>
        </p:txBody>
      </p:sp>
      <p:sp>
        <p:nvSpPr>
          <p:cNvPr id="25" name="TextBox 24"/>
          <p:cNvSpPr txBox="1"/>
          <p:nvPr/>
        </p:nvSpPr>
        <p:spPr>
          <a:xfrm>
            <a:off x="6537960" y="3447288"/>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Multilingual support (Swahili/English)</a:t>
            </a:r>
          </a:p>
        </p:txBody>
      </p:sp>
      <p:sp>
        <p:nvSpPr>
          <p:cNvPr id="26" name="TextBox 25"/>
          <p:cNvSpPr txBox="1"/>
          <p:nvPr/>
        </p:nvSpPr>
        <p:spPr>
          <a:xfrm>
            <a:off x="6537960" y="3703320"/>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WebSocket real-time updates (replace polling)</a:t>
            </a:r>
          </a:p>
        </p:txBody>
      </p:sp>
      <p:sp>
        <p:nvSpPr>
          <p:cNvPr id="27" name="TextBox 26"/>
          <p:cNvSpPr txBox="1"/>
          <p:nvPr/>
        </p:nvSpPr>
        <p:spPr>
          <a:xfrm>
            <a:off x="6537960" y="3959352"/>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Unit, integration &amp; E2E testing</a:t>
            </a:r>
          </a:p>
        </p:txBody>
      </p:sp>
      <p:sp>
        <p:nvSpPr>
          <p:cNvPr id="28" name="TextBox 27"/>
          <p:cNvSpPr txBox="1"/>
          <p:nvPr/>
        </p:nvSpPr>
        <p:spPr>
          <a:xfrm>
            <a:off x="6537960" y="4215384"/>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App store submission (iOS/Android)</a:t>
            </a:r>
          </a:p>
        </p:txBody>
      </p:sp>
      <p:sp>
        <p:nvSpPr>
          <p:cNvPr id="29" name="TextBox 28"/>
          <p:cNvSpPr txBox="1"/>
          <p:nvPr/>
        </p:nvSpPr>
        <p:spPr>
          <a:xfrm>
            <a:off x="6537960" y="4471416"/>
            <a:ext cx="3840480" cy="256032"/>
          </a:xfrm>
          <a:prstGeom prst="rect">
            <a:avLst/>
          </a:prstGeom>
          <a:noFill/>
        </p:spPr>
        <p:txBody>
          <a:bodyPr wrap="square">
            <a:spAutoFit/>
          </a:bodyPr>
          <a:lstStyle/>
          <a:p>
            <a:pPr algn="l">
              <a:lnSpc>
                <a:spcPts val="1439"/>
              </a:lnSpc>
              <a:spcBef>
                <a:spcPts val="0"/>
              </a:spcBef>
              <a:spcAft>
                <a:spcPts val="0"/>
              </a:spcAft>
              <a:defRPr sz="1200" b="0">
                <a:solidFill>
                  <a:srgbClr val="CCCCCC"/>
                </a:solidFill>
                <a:latin typeface="Calibri"/>
              </a:defRPr>
            </a:pPr>
            <a:r>
              <a:t>•  USSD shortcode registration</a:t>
            </a:r>
          </a:p>
        </p:txBody>
      </p:sp>
      <p:sp>
        <p:nvSpPr>
          <p:cNvPr id="30" name="Rounded Rectangle 29"/>
          <p:cNvSpPr/>
          <p:nvPr/>
        </p:nvSpPr>
        <p:spPr>
          <a:xfrm>
            <a:off x="731520" y="5120640"/>
            <a:ext cx="10058400" cy="109728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5120640"/>
            <a:ext cx="10058400" cy="5080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5257800"/>
            <a:ext cx="9601200" cy="365760"/>
          </a:xfrm>
          <a:prstGeom prst="rect">
            <a:avLst/>
          </a:prstGeom>
          <a:noFill/>
        </p:spPr>
        <p:txBody>
          <a:bodyPr wrap="square">
            <a:spAutoFit/>
          </a:bodyPr>
          <a:lstStyle/>
          <a:p>
            <a:pPr algn="ctr">
              <a:lnSpc>
                <a:spcPts val="2400"/>
              </a:lnSpc>
              <a:spcBef>
                <a:spcPts val="0"/>
              </a:spcBef>
              <a:spcAft>
                <a:spcPts val="0"/>
              </a:spcAft>
              <a:defRPr sz="2000" b="1">
                <a:solidFill>
                  <a:srgbClr val="FFFFFF"/>
                </a:solidFill>
                <a:latin typeface="Calibri"/>
              </a:defRPr>
            </a:pPr>
            <a:r>
              <a:t>VOO Ward Admin Dashboard — Empowering Local Governance Through Technology</a:t>
            </a:r>
          </a:p>
        </p:txBody>
      </p:sp>
      <p:sp>
        <p:nvSpPr>
          <p:cNvPr id="33" name="TextBox 32"/>
          <p:cNvSpPr txBox="1"/>
          <p:nvPr/>
        </p:nvSpPr>
        <p:spPr>
          <a:xfrm>
            <a:off x="914400" y="5669280"/>
            <a:ext cx="9601200" cy="320040"/>
          </a:xfrm>
          <a:prstGeom prst="rect">
            <a:avLst/>
          </a:prstGeom>
          <a:noFill/>
        </p:spPr>
        <p:txBody>
          <a:bodyPr wrap="square">
            <a:spAutoFit/>
          </a:bodyPr>
          <a:lstStyle/>
          <a:p>
            <a:pPr algn="ctr">
              <a:lnSpc>
                <a:spcPts val="1439"/>
              </a:lnSpc>
              <a:spcBef>
                <a:spcPts val="0"/>
              </a:spcBef>
              <a:spcAft>
                <a:spcPts val="0"/>
              </a:spcAft>
              <a:defRPr sz="1200" b="0">
                <a:solidFill>
                  <a:srgbClr val="9999BB"/>
                </a:solidFill>
                <a:latin typeface="Calibri"/>
              </a:defRPr>
            </a:pPr>
            <a:r>
              <a:t>Kyamatu Ward  •  Comprehensive Citizen Engagement Platform  •  Built with Node.js, PostgreSQL, Chart.js &amp; Leaflet.js</a:t>
            </a:r>
          </a:p>
        </p:txBody>
      </p:sp>
      <p:sp>
        <p:nvSpPr>
          <p:cNvPr id="34" name="TextBox 33"/>
          <p:cNvSpPr txBox="1"/>
          <p:nvPr/>
        </p:nvSpPr>
        <p:spPr>
          <a:xfrm>
            <a:off x="731520" y="6400800"/>
            <a:ext cx="4572000" cy="365760"/>
          </a:xfrm>
          <a:prstGeom prst="rect">
            <a:avLst/>
          </a:prstGeom>
          <a:noFill/>
        </p:spPr>
        <p:txBody>
          <a:bodyPr wrap="square">
            <a:spAutoFit/>
          </a:bodyPr>
          <a:lstStyle/>
          <a:p>
            <a:pPr algn="l">
              <a:lnSpc>
                <a:spcPts val="1200"/>
              </a:lnSpc>
              <a:spcBef>
                <a:spcPts val="0"/>
              </a:spcBef>
              <a:spcAft>
                <a:spcPts val="0"/>
              </a:spcAft>
              <a:defRPr sz="1000" b="0">
                <a:solidFill>
                  <a:srgbClr val="9999BB"/>
                </a:solidFill>
                <a:latin typeface="Calibri"/>
              </a:defRPr>
            </a:pPr>
            <a:r>
              <a:t>VOO Ward Admin Dashboard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0F23"/>
        </a:solidFill>
        <a:effectLst/>
      </p:bgPr>
    </p:bg>
    <p:spTree>
      <p:nvGrpSpPr>
        <p:cNvPr id="1" name=""/>
        <p:cNvGrpSpPr/>
        <p:nvPr/>
      </p:nvGrpSpPr>
      <p:grpSpPr/>
      <p:sp>
        <p:nvSpPr>
          <p:cNvPr id="2" name="Rounded Rectangle 1"/>
          <p:cNvSpPr/>
          <p:nvPr/>
        </p:nvSpPr>
        <p:spPr>
          <a:xfrm>
            <a:off x="0" y="0"/>
            <a:ext cx="12191695" cy="6858000"/>
          </a:xfrm>
          <a:prstGeom prst="roundRect">
            <a:avLst/>
          </a:prstGeom>
          <a:solidFill>
            <a:srgbClr val="0F0F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0" y="1371600"/>
            <a:ext cx="5790895" cy="4114800"/>
          </a:xfrm>
          <a:prstGeom prst="roundRect">
            <a:avLst/>
          </a:prstGeom>
          <a:solidFill>
            <a:srgbClr val="1A1A3E"/>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0" y="1828800"/>
            <a:ext cx="5790895" cy="731520"/>
          </a:xfrm>
          <a:prstGeom prst="rect">
            <a:avLst/>
          </a:prstGeom>
          <a:noFill/>
        </p:spPr>
        <p:txBody>
          <a:bodyPr wrap="square">
            <a:spAutoFit/>
          </a:bodyPr>
          <a:lstStyle/>
          <a:p>
            <a:pPr algn="ctr">
              <a:lnSpc>
                <a:spcPts val="6240"/>
              </a:lnSpc>
              <a:spcBef>
                <a:spcPts val="0"/>
              </a:spcBef>
              <a:spcAft>
                <a:spcPts val="0"/>
              </a:spcAft>
              <a:defRPr sz="5200" b="1">
                <a:solidFill>
                  <a:srgbClr val="FFFFFF"/>
                </a:solidFill>
                <a:latin typeface="Calibri"/>
              </a:defRPr>
            </a:pPr>
            <a:r>
              <a:t>Thank You</a:t>
            </a:r>
          </a:p>
        </p:txBody>
      </p:sp>
      <p:sp>
        <p:nvSpPr>
          <p:cNvPr id="5" name="Rectangle 4"/>
          <p:cNvSpPr/>
          <p:nvPr/>
        </p:nvSpPr>
        <p:spPr>
          <a:xfrm>
            <a:off x="5029200" y="2743200"/>
            <a:ext cx="2133295" cy="508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0" y="3017520"/>
            <a:ext cx="5790895" cy="457200"/>
          </a:xfrm>
          <a:prstGeom prst="rect">
            <a:avLst/>
          </a:prstGeom>
          <a:noFill/>
        </p:spPr>
        <p:txBody>
          <a:bodyPr wrap="square">
            <a:spAutoFit/>
          </a:bodyPr>
          <a:lstStyle/>
          <a:p>
            <a:pPr algn="ctr">
              <a:lnSpc>
                <a:spcPts val="2640"/>
              </a:lnSpc>
              <a:spcBef>
                <a:spcPts val="0"/>
              </a:spcBef>
              <a:spcAft>
                <a:spcPts val="0"/>
              </a:spcAft>
              <a:defRPr sz="2200" b="1">
                <a:solidFill>
                  <a:srgbClr val="6366F1"/>
                </a:solidFill>
                <a:latin typeface="Calibri"/>
              </a:defRPr>
            </a:pPr>
            <a:r>
              <a:t>VOO Ward Admin Dashboard</a:t>
            </a:r>
          </a:p>
        </p:txBody>
      </p:sp>
      <p:sp>
        <p:nvSpPr>
          <p:cNvPr id="7" name="TextBox 6"/>
          <p:cNvSpPr txBox="1"/>
          <p:nvPr/>
        </p:nvSpPr>
        <p:spPr>
          <a:xfrm>
            <a:off x="3200400" y="3566160"/>
            <a:ext cx="5790895" cy="457200"/>
          </a:xfrm>
          <a:prstGeom prst="rect">
            <a:avLst/>
          </a:prstGeom>
          <a:noFill/>
        </p:spPr>
        <p:txBody>
          <a:bodyPr wrap="square">
            <a:spAutoFit/>
          </a:bodyPr>
          <a:lstStyle/>
          <a:p>
            <a:pPr algn="ctr">
              <a:lnSpc>
                <a:spcPts val="1680"/>
              </a:lnSpc>
              <a:spcBef>
                <a:spcPts val="0"/>
              </a:spcBef>
              <a:spcAft>
                <a:spcPts val="0"/>
              </a:spcAft>
              <a:defRPr sz="1400" b="0">
                <a:solidFill>
                  <a:srgbClr val="9999BB"/>
                </a:solidFill>
                <a:latin typeface="Calibri"/>
              </a:defRPr>
            </a:pPr>
            <a:r>
              <a:t>Empowering Kyamatu Ward Through Digital Governance</a:t>
            </a:r>
          </a:p>
        </p:txBody>
      </p:sp>
      <p:sp>
        <p:nvSpPr>
          <p:cNvPr id="8" name="TextBox 7"/>
          <p:cNvSpPr txBox="1"/>
          <p:nvPr/>
        </p:nvSpPr>
        <p:spPr>
          <a:xfrm>
            <a:off x="3200400" y="4389120"/>
            <a:ext cx="5790895" cy="457200"/>
          </a:xfrm>
          <a:prstGeom prst="rect">
            <a:avLst/>
          </a:prstGeom>
          <a:noFill/>
        </p:spPr>
        <p:txBody>
          <a:bodyPr wrap="square">
            <a:spAutoFit/>
          </a:bodyPr>
          <a:lstStyle/>
          <a:p>
            <a:pPr algn="ctr">
              <a:lnSpc>
                <a:spcPts val="2160"/>
              </a:lnSpc>
              <a:spcBef>
                <a:spcPts val="0"/>
              </a:spcBef>
              <a:spcAft>
                <a:spcPts val="0"/>
              </a:spcAft>
              <a:defRPr sz="1800" b="1">
                <a:solidFill>
                  <a:srgbClr val="06B6D4"/>
                </a:solidFill>
                <a:latin typeface="Calibri"/>
              </a:defRPr>
            </a:pPr>
            <a:r>
              <a:t>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